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5" r:id="rId4"/>
  </p:sldMasterIdLst>
  <p:sldIdLst>
    <p:sldId id="256" r:id="rId5"/>
    <p:sldId id="275" r:id="rId6"/>
    <p:sldId id="257" r:id="rId7"/>
    <p:sldId id="258" r:id="rId8"/>
    <p:sldId id="259" r:id="rId9"/>
    <p:sldId id="260" r:id="rId10"/>
    <p:sldId id="261" r:id="rId11"/>
    <p:sldId id="262" r:id="rId12"/>
    <p:sldId id="264" r:id="rId13"/>
    <p:sldId id="265" r:id="rId14"/>
    <p:sldId id="266" r:id="rId15"/>
    <p:sldId id="267" r:id="rId16"/>
    <p:sldId id="268" r:id="rId17"/>
    <p:sldId id="269" r:id="rId18"/>
    <p:sldId id="270" r:id="rId19"/>
    <p:sldId id="271" r:id="rId20"/>
    <p:sldId id="272" r:id="rId21"/>
    <p:sldId id="273" r:id="rId22"/>
    <p:sldId id="274"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266FCCC-147B-492C-8616-2CD788D8FCEA}" v="29" dt="2024-12-02T00:48:40.42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2" d="100"/>
          <a:sy n="82" d="100"/>
        </p:scale>
        <p:origin x="691"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ableStyles" Target="tableStyles.xml"/></Relationships>
</file>

<file path=ppt/diagrams/_rels/data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4.png"/><Relationship Id="rId4" Type="http://schemas.openxmlformats.org/officeDocument/2006/relationships/image" Target="../media/image5.svg"/></Relationships>
</file>

<file path=ppt/diagrams/_rels/data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9.svg"/><Relationship Id="rId1" Type="http://schemas.openxmlformats.org/officeDocument/2006/relationships/image" Target="../media/image5.png"/><Relationship Id="rId6" Type="http://schemas.openxmlformats.org/officeDocument/2006/relationships/image" Target="../media/image13.svg"/><Relationship Id="rId5" Type="http://schemas.openxmlformats.org/officeDocument/2006/relationships/image" Target="../media/image7.png"/><Relationship Id="rId4" Type="http://schemas.openxmlformats.org/officeDocument/2006/relationships/image" Target="../media/image11.svg"/></Relationships>
</file>

<file path=ppt/diagrams/_rels/drawing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4.png"/><Relationship Id="rId4" Type="http://schemas.openxmlformats.org/officeDocument/2006/relationships/image" Target="../media/image5.svg"/></Relationships>
</file>

<file path=ppt/diagrams/_rels/drawing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9.svg"/><Relationship Id="rId1" Type="http://schemas.openxmlformats.org/officeDocument/2006/relationships/image" Target="../media/image5.png"/><Relationship Id="rId6" Type="http://schemas.openxmlformats.org/officeDocument/2006/relationships/image" Target="../media/image13.svg"/><Relationship Id="rId5" Type="http://schemas.openxmlformats.org/officeDocument/2006/relationships/image" Target="../media/image7.png"/><Relationship Id="rId4" Type="http://schemas.openxmlformats.org/officeDocument/2006/relationships/image" Target="../media/image11.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3C13ABE-93BE-42D0-B487-39CFC5F3879C}"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DFDCB16F-A567-441B-9DD1-11CFAD3C68FD}">
      <dgm:prSet/>
      <dgm:spPr/>
      <dgm:t>
        <a:bodyPr/>
        <a:lstStyle/>
        <a:p>
          <a:pPr>
            <a:lnSpc>
              <a:spcPct val="100000"/>
            </a:lnSpc>
          </a:pPr>
          <a:r>
            <a:rPr lang="en-US" dirty="0">
              <a:latin typeface="Times New Roman" panose="02020603050405020304" pitchFamily="18" charset="0"/>
              <a:cs typeface="Times New Roman" panose="02020603050405020304" pitchFamily="18" charset="0"/>
            </a:rPr>
            <a:t>Catering Services is an event management company within the university, specializing in the food supply chain and organizing various events. To efficiently manage its operations, a comprehensive database is required to track and store information related to events, employees, managers, schedules, and inventory. The current focus of this project is on managing events and scheduling employees for these events. </a:t>
          </a:r>
        </a:p>
      </dgm:t>
    </dgm:pt>
    <dgm:pt modelId="{191D528A-2099-45F4-8DDE-7456F9C792D6}" type="parTrans" cxnId="{58589598-CC4E-4AAF-9F30-E7B0EF7685BB}">
      <dgm:prSet/>
      <dgm:spPr/>
      <dgm:t>
        <a:bodyPr/>
        <a:lstStyle/>
        <a:p>
          <a:endParaRPr lang="en-US"/>
        </a:p>
      </dgm:t>
    </dgm:pt>
    <dgm:pt modelId="{06BA5500-50D1-406A-8B98-9ECBE1B22F83}" type="sibTrans" cxnId="{58589598-CC4E-4AAF-9F30-E7B0EF7685BB}">
      <dgm:prSet/>
      <dgm:spPr/>
      <dgm:t>
        <a:bodyPr/>
        <a:lstStyle/>
        <a:p>
          <a:endParaRPr lang="en-US"/>
        </a:p>
      </dgm:t>
    </dgm:pt>
    <dgm:pt modelId="{3D32522C-E8D5-4A2C-AFE7-3EA9D31F3FAC}">
      <dgm:prSet/>
      <dgm:spPr/>
      <dgm:t>
        <a:bodyPr/>
        <a:lstStyle/>
        <a:p>
          <a:pPr>
            <a:lnSpc>
              <a:spcPct val="100000"/>
            </a:lnSpc>
          </a:pPr>
          <a:r>
            <a:rPr lang="en-US" dirty="0">
              <a:latin typeface="Times New Roman" panose="02020603050405020304" pitchFamily="18" charset="0"/>
              <a:cs typeface="Times New Roman" panose="02020603050405020304" pitchFamily="18" charset="0"/>
            </a:rPr>
            <a:t>It manages diverse university events, including daily food supplies to cafés, meetings, gatherings, and sports events, making it impractical to manage all this data through Excel spreadsheets.</a:t>
          </a:r>
        </a:p>
      </dgm:t>
    </dgm:pt>
    <dgm:pt modelId="{5B8DE25B-2A70-4350-8347-4133F03BBE61}" type="parTrans" cxnId="{ADB83035-8770-4A64-8F5C-424BD0A5528A}">
      <dgm:prSet/>
      <dgm:spPr/>
      <dgm:t>
        <a:bodyPr/>
        <a:lstStyle/>
        <a:p>
          <a:endParaRPr lang="en-US"/>
        </a:p>
      </dgm:t>
    </dgm:pt>
    <dgm:pt modelId="{A45EA4DA-D5B3-4512-8AB7-CC0ADD1AEEED}" type="sibTrans" cxnId="{ADB83035-8770-4A64-8F5C-424BD0A5528A}">
      <dgm:prSet/>
      <dgm:spPr/>
      <dgm:t>
        <a:bodyPr/>
        <a:lstStyle/>
        <a:p>
          <a:endParaRPr lang="en-US"/>
        </a:p>
      </dgm:t>
    </dgm:pt>
    <dgm:pt modelId="{02C13156-8883-4A26-807F-6D78A0F19A10}">
      <dgm:prSet/>
      <dgm:spPr/>
      <dgm:t>
        <a:bodyPr/>
        <a:lstStyle/>
        <a:p>
          <a:pPr>
            <a:lnSpc>
              <a:spcPct val="100000"/>
            </a:lnSpc>
          </a:pPr>
          <a:r>
            <a:rPr lang="en-US" dirty="0">
              <a:latin typeface="Times New Roman" panose="02020603050405020304" pitchFamily="18" charset="0"/>
              <a:cs typeface="Times New Roman" panose="02020603050405020304" pitchFamily="18" charset="0"/>
            </a:rPr>
            <a:t>The purpose of the database is to provide a user-friendly system that offers clear visibility into employee assignments, event locations, and schedules. The database captures key details such as employee roles (managers, supervisors, full-time, part-time) and allows supervisors to organize events, determine staffing needs, and manage food supplies. Additionally, managers use the system to manage payroll and distribute coupons based on employees' working hours.</a:t>
          </a:r>
        </a:p>
      </dgm:t>
    </dgm:pt>
    <dgm:pt modelId="{EC0A58AA-687A-46E9-A1F8-AB4727F6ED61}" type="parTrans" cxnId="{326B1F7C-52D3-4236-B6ED-B433D3516371}">
      <dgm:prSet/>
      <dgm:spPr/>
      <dgm:t>
        <a:bodyPr/>
        <a:lstStyle/>
        <a:p>
          <a:endParaRPr lang="en-US"/>
        </a:p>
      </dgm:t>
    </dgm:pt>
    <dgm:pt modelId="{6EAFAE11-9A84-4D27-BB00-A15CB3EA865E}" type="sibTrans" cxnId="{326B1F7C-52D3-4236-B6ED-B433D3516371}">
      <dgm:prSet/>
      <dgm:spPr/>
      <dgm:t>
        <a:bodyPr/>
        <a:lstStyle/>
        <a:p>
          <a:endParaRPr lang="en-US"/>
        </a:p>
      </dgm:t>
    </dgm:pt>
    <dgm:pt modelId="{702944D7-95C4-45C6-804C-B038A9B820C8}" type="pres">
      <dgm:prSet presAssocID="{13C13ABE-93BE-42D0-B487-39CFC5F3879C}" presName="root" presStyleCnt="0">
        <dgm:presLayoutVars>
          <dgm:dir/>
          <dgm:resizeHandles val="exact"/>
        </dgm:presLayoutVars>
      </dgm:prSet>
      <dgm:spPr/>
      <dgm:t>
        <a:bodyPr/>
        <a:lstStyle/>
        <a:p>
          <a:endParaRPr lang="en-US"/>
        </a:p>
      </dgm:t>
    </dgm:pt>
    <dgm:pt modelId="{38852CC5-1704-4C2D-9B3E-F237D542F835}" type="pres">
      <dgm:prSet presAssocID="{DFDCB16F-A567-441B-9DD1-11CFAD3C68FD}" presName="compNode" presStyleCnt="0"/>
      <dgm:spPr/>
    </dgm:pt>
    <dgm:pt modelId="{351661CB-2A57-4FEA-BB74-0E45CE0FAA9A}" type="pres">
      <dgm:prSet presAssocID="{DFDCB16F-A567-441B-9DD1-11CFAD3C68FD}" presName="bgRect" presStyleLbl="bgShp" presStyleIdx="0" presStyleCnt="3"/>
      <dgm:spPr/>
    </dgm:pt>
    <dgm:pt modelId="{8D9B6CC9-1962-4B2B-9AA2-196AFD2A257D}" type="pres">
      <dgm:prSet presAssocID="{DFDCB16F-A567-441B-9DD1-11CFAD3C68FD}"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xmlns="" r:embed="rId2"/>
              </a:ext>
            </a:extLst>
          </a:blip>
          <a:stretch>
            <a:fillRect/>
          </a:stretch>
        </a:blipFill>
        <a:ln>
          <a:noFill/>
        </a:ln>
      </dgm:spPr>
      <dgm:t>
        <a:bodyPr/>
        <a:lstStyle/>
        <a:p>
          <a:endParaRPr lang="en-US"/>
        </a:p>
      </dgm:t>
      <dgm:extLst>
        <a:ext uri="{E40237B7-FDA0-4F09-8148-C483321AD2D9}">
          <dgm14:cNvPr xmlns:dgm14="http://schemas.microsoft.com/office/drawing/2010/diagram" id="0" name="" descr="Waiter"/>
        </a:ext>
      </dgm:extLst>
    </dgm:pt>
    <dgm:pt modelId="{097C238A-F631-401F-B3E8-F4640FF51485}" type="pres">
      <dgm:prSet presAssocID="{DFDCB16F-A567-441B-9DD1-11CFAD3C68FD}" presName="spaceRect" presStyleCnt="0"/>
      <dgm:spPr/>
    </dgm:pt>
    <dgm:pt modelId="{5AD7E14D-5667-4892-9ED0-E96373B9B3D0}" type="pres">
      <dgm:prSet presAssocID="{DFDCB16F-A567-441B-9DD1-11CFAD3C68FD}" presName="parTx" presStyleLbl="revTx" presStyleIdx="0" presStyleCnt="3" custScaleX="102601">
        <dgm:presLayoutVars>
          <dgm:chMax val="0"/>
          <dgm:chPref val="0"/>
        </dgm:presLayoutVars>
      </dgm:prSet>
      <dgm:spPr/>
      <dgm:t>
        <a:bodyPr/>
        <a:lstStyle/>
        <a:p>
          <a:endParaRPr lang="en-US"/>
        </a:p>
      </dgm:t>
    </dgm:pt>
    <dgm:pt modelId="{21550539-2354-486D-A0A8-5D7A32F8CE60}" type="pres">
      <dgm:prSet presAssocID="{06BA5500-50D1-406A-8B98-9ECBE1B22F83}" presName="sibTrans" presStyleCnt="0"/>
      <dgm:spPr/>
    </dgm:pt>
    <dgm:pt modelId="{AE8E4A98-D1CD-4257-8DEC-E45FE5745F35}" type="pres">
      <dgm:prSet presAssocID="{3D32522C-E8D5-4A2C-AFE7-3EA9D31F3FAC}" presName="compNode" presStyleCnt="0"/>
      <dgm:spPr/>
    </dgm:pt>
    <dgm:pt modelId="{1F91641B-A13C-42B1-89F9-AAC03F0E8B5D}" type="pres">
      <dgm:prSet presAssocID="{3D32522C-E8D5-4A2C-AFE7-3EA9D31F3FAC}" presName="bgRect" presStyleLbl="bgShp" presStyleIdx="1" presStyleCnt="3"/>
      <dgm:spPr/>
    </dgm:pt>
    <dgm:pt modelId="{157F9AFC-99E0-4177-9AE4-19E656A85692}" type="pres">
      <dgm:prSet presAssocID="{3D32522C-E8D5-4A2C-AFE7-3EA9D31F3FAC}"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xmlns="" r:embed="rId4"/>
              </a:ext>
            </a:extLst>
          </a:blip>
          <a:stretch>
            <a:fillRect/>
          </a:stretch>
        </a:blipFill>
        <a:ln>
          <a:noFill/>
        </a:ln>
      </dgm:spPr>
      <dgm:t>
        <a:bodyPr/>
        <a:lstStyle/>
        <a:p>
          <a:endParaRPr lang="en-US"/>
        </a:p>
      </dgm:t>
      <dgm:extLst>
        <a:ext uri="{E40237B7-FDA0-4F09-8148-C483321AD2D9}">
          <dgm14:cNvPr xmlns:dgm14="http://schemas.microsoft.com/office/drawing/2010/diagram" id="0" name="" descr="Kiosk"/>
        </a:ext>
      </dgm:extLst>
    </dgm:pt>
    <dgm:pt modelId="{6A196509-63FD-4059-B327-01370090137F}" type="pres">
      <dgm:prSet presAssocID="{3D32522C-E8D5-4A2C-AFE7-3EA9D31F3FAC}" presName="spaceRect" presStyleCnt="0"/>
      <dgm:spPr/>
    </dgm:pt>
    <dgm:pt modelId="{52587147-8765-4925-BCDD-6D2222D799A9}" type="pres">
      <dgm:prSet presAssocID="{3D32522C-E8D5-4A2C-AFE7-3EA9D31F3FAC}" presName="parTx" presStyleLbl="revTx" presStyleIdx="1" presStyleCnt="3">
        <dgm:presLayoutVars>
          <dgm:chMax val="0"/>
          <dgm:chPref val="0"/>
        </dgm:presLayoutVars>
      </dgm:prSet>
      <dgm:spPr/>
      <dgm:t>
        <a:bodyPr/>
        <a:lstStyle/>
        <a:p>
          <a:endParaRPr lang="en-US"/>
        </a:p>
      </dgm:t>
    </dgm:pt>
    <dgm:pt modelId="{25E67D8C-EF7F-4669-89A2-4A22ECA44009}" type="pres">
      <dgm:prSet presAssocID="{A45EA4DA-D5B3-4512-8AB7-CC0ADD1AEEED}" presName="sibTrans" presStyleCnt="0"/>
      <dgm:spPr/>
    </dgm:pt>
    <dgm:pt modelId="{CCA948BB-3D03-4C10-A4AA-8AE94D579BFD}" type="pres">
      <dgm:prSet presAssocID="{02C13156-8883-4A26-807F-6D78A0F19A10}" presName="compNode" presStyleCnt="0"/>
      <dgm:spPr/>
    </dgm:pt>
    <dgm:pt modelId="{B5F74864-9276-4C15-A954-6EC223DB8EED}" type="pres">
      <dgm:prSet presAssocID="{02C13156-8883-4A26-807F-6D78A0F19A10}" presName="bgRect" presStyleLbl="bgShp" presStyleIdx="2" presStyleCnt="3"/>
      <dgm:spPr/>
    </dgm:pt>
    <dgm:pt modelId="{EC635E31-0421-498B-8B95-70BA9CB188AC}" type="pres">
      <dgm:prSet presAssocID="{02C13156-8883-4A26-807F-6D78A0F19A10}"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xmlns="" r:embed="rId6"/>
              </a:ext>
            </a:extLst>
          </a:blip>
          <a:stretch>
            <a:fillRect/>
          </a:stretch>
        </a:blipFill>
        <a:ln>
          <a:noFill/>
        </a:ln>
      </dgm:spPr>
      <dgm:t>
        <a:bodyPr/>
        <a:lstStyle/>
        <a:p>
          <a:endParaRPr lang="en-US"/>
        </a:p>
      </dgm:t>
      <dgm:extLst>
        <a:ext uri="{E40237B7-FDA0-4F09-8148-C483321AD2D9}">
          <dgm14:cNvPr xmlns:dgm14="http://schemas.microsoft.com/office/drawing/2010/diagram" id="0" name="" descr="Server"/>
        </a:ext>
      </dgm:extLst>
    </dgm:pt>
    <dgm:pt modelId="{7D3911D7-7DB8-456D-B7FC-C69EA1875B70}" type="pres">
      <dgm:prSet presAssocID="{02C13156-8883-4A26-807F-6D78A0F19A10}" presName="spaceRect" presStyleCnt="0"/>
      <dgm:spPr/>
    </dgm:pt>
    <dgm:pt modelId="{804C216A-0D98-4225-9523-4668F756007F}" type="pres">
      <dgm:prSet presAssocID="{02C13156-8883-4A26-807F-6D78A0F19A10}" presName="parTx" presStyleLbl="revTx" presStyleIdx="2" presStyleCnt="3" custScaleX="109831">
        <dgm:presLayoutVars>
          <dgm:chMax val="0"/>
          <dgm:chPref val="0"/>
        </dgm:presLayoutVars>
      </dgm:prSet>
      <dgm:spPr/>
      <dgm:t>
        <a:bodyPr/>
        <a:lstStyle/>
        <a:p>
          <a:endParaRPr lang="en-US"/>
        </a:p>
      </dgm:t>
    </dgm:pt>
  </dgm:ptLst>
  <dgm:cxnLst>
    <dgm:cxn modelId="{326B1F7C-52D3-4236-B6ED-B433D3516371}" srcId="{13C13ABE-93BE-42D0-B487-39CFC5F3879C}" destId="{02C13156-8883-4A26-807F-6D78A0F19A10}" srcOrd="2" destOrd="0" parTransId="{EC0A58AA-687A-46E9-A1F8-AB4727F6ED61}" sibTransId="{6EAFAE11-9A84-4D27-BB00-A15CB3EA865E}"/>
    <dgm:cxn modelId="{E6EB2E08-3691-48E0-97A5-F9AAB242756A}" type="presOf" srcId="{02C13156-8883-4A26-807F-6D78A0F19A10}" destId="{804C216A-0D98-4225-9523-4668F756007F}" srcOrd="0" destOrd="0" presId="urn:microsoft.com/office/officeart/2018/2/layout/IconVerticalSolidList"/>
    <dgm:cxn modelId="{9D6F9DBB-0B78-4475-8F3F-99E89BEF1D56}" type="presOf" srcId="{13C13ABE-93BE-42D0-B487-39CFC5F3879C}" destId="{702944D7-95C4-45C6-804C-B038A9B820C8}" srcOrd="0" destOrd="0" presId="urn:microsoft.com/office/officeart/2018/2/layout/IconVerticalSolidList"/>
    <dgm:cxn modelId="{58589598-CC4E-4AAF-9F30-E7B0EF7685BB}" srcId="{13C13ABE-93BE-42D0-B487-39CFC5F3879C}" destId="{DFDCB16F-A567-441B-9DD1-11CFAD3C68FD}" srcOrd="0" destOrd="0" parTransId="{191D528A-2099-45F4-8DDE-7456F9C792D6}" sibTransId="{06BA5500-50D1-406A-8B98-9ECBE1B22F83}"/>
    <dgm:cxn modelId="{E5283FBB-F574-414F-BA2A-0C1168C1CC91}" type="presOf" srcId="{DFDCB16F-A567-441B-9DD1-11CFAD3C68FD}" destId="{5AD7E14D-5667-4892-9ED0-E96373B9B3D0}" srcOrd="0" destOrd="0" presId="urn:microsoft.com/office/officeart/2018/2/layout/IconVerticalSolidList"/>
    <dgm:cxn modelId="{ADB83035-8770-4A64-8F5C-424BD0A5528A}" srcId="{13C13ABE-93BE-42D0-B487-39CFC5F3879C}" destId="{3D32522C-E8D5-4A2C-AFE7-3EA9D31F3FAC}" srcOrd="1" destOrd="0" parTransId="{5B8DE25B-2A70-4350-8347-4133F03BBE61}" sibTransId="{A45EA4DA-D5B3-4512-8AB7-CC0ADD1AEEED}"/>
    <dgm:cxn modelId="{3510945F-7C94-42DE-9982-330493D30F68}" type="presOf" srcId="{3D32522C-E8D5-4A2C-AFE7-3EA9D31F3FAC}" destId="{52587147-8765-4925-BCDD-6D2222D799A9}" srcOrd="0" destOrd="0" presId="urn:microsoft.com/office/officeart/2018/2/layout/IconVerticalSolidList"/>
    <dgm:cxn modelId="{5DFCCBCD-753D-49E9-8828-A868B2981589}" type="presParOf" srcId="{702944D7-95C4-45C6-804C-B038A9B820C8}" destId="{38852CC5-1704-4C2D-9B3E-F237D542F835}" srcOrd="0" destOrd="0" presId="urn:microsoft.com/office/officeart/2018/2/layout/IconVerticalSolidList"/>
    <dgm:cxn modelId="{08BB397B-BBA5-461E-B923-53F5D1F8E690}" type="presParOf" srcId="{38852CC5-1704-4C2D-9B3E-F237D542F835}" destId="{351661CB-2A57-4FEA-BB74-0E45CE0FAA9A}" srcOrd="0" destOrd="0" presId="urn:microsoft.com/office/officeart/2018/2/layout/IconVerticalSolidList"/>
    <dgm:cxn modelId="{893600F7-4109-461D-8E69-9B364363A903}" type="presParOf" srcId="{38852CC5-1704-4C2D-9B3E-F237D542F835}" destId="{8D9B6CC9-1962-4B2B-9AA2-196AFD2A257D}" srcOrd="1" destOrd="0" presId="urn:microsoft.com/office/officeart/2018/2/layout/IconVerticalSolidList"/>
    <dgm:cxn modelId="{BB334B43-ED2F-4952-B0F9-419A7D8185B8}" type="presParOf" srcId="{38852CC5-1704-4C2D-9B3E-F237D542F835}" destId="{097C238A-F631-401F-B3E8-F4640FF51485}" srcOrd="2" destOrd="0" presId="urn:microsoft.com/office/officeart/2018/2/layout/IconVerticalSolidList"/>
    <dgm:cxn modelId="{ADB089DE-321C-4BB4-AD17-4EF48BC54031}" type="presParOf" srcId="{38852CC5-1704-4C2D-9B3E-F237D542F835}" destId="{5AD7E14D-5667-4892-9ED0-E96373B9B3D0}" srcOrd="3" destOrd="0" presId="urn:microsoft.com/office/officeart/2018/2/layout/IconVerticalSolidList"/>
    <dgm:cxn modelId="{75341F49-EB4E-4C67-AF20-53B97B37597C}" type="presParOf" srcId="{702944D7-95C4-45C6-804C-B038A9B820C8}" destId="{21550539-2354-486D-A0A8-5D7A32F8CE60}" srcOrd="1" destOrd="0" presId="urn:microsoft.com/office/officeart/2018/2/layout/IconVerticalSolidList"/>
    <dgm:cxn modelId="{375D6709-BE20-4C16-A424-DF5BA8583A5C}" type="presParOf" srcId="{702944D7-95C4-45C6-804C-B038A9B820C8}" destId="{AE8E4A98-D1CD-4257-8DEC-E45FE5745F35}" srcOrd="2" destOrd="0" presId="urn:microsoft.com/office/officeart/2018/2/layout/IconVerticalSolidList"/>
    <dgm:cxn modelId="{AB20E831-912B-4EC1-AF78-61C9957A1BCB}" type="presParOf" srcId="{AE8E4A98-D1CD-4257-8DEC-E45FE5745F35}" destId="{1F91641B-A13C-42B1-89F9-AAC03F0E8B5D}" srcOrd="0" destOrd="0" presId="urn:microsoft.com/office/officeart/2018/2/layout/IconVerticalSolidList"/>
    <dgm:cxn modelId="{A2531DB9-4336-49E0-9BD7-0F5D59E5EFD2}" type="presParOf" srcId="{AE8E4A98-D1CD-4257-8DEC-E45FE5745F35}" destId="{157F9AFC-99E0-4177-9AE4-19E656A85692}" srcOrd="1" destOrd="0" presId="urn:microsoft.com/office/officeart/2018/2/layout/IconVerticalSolidList"/>
    <dgm:cxn modelId="{B0E187D6-F066-4629-B70F-68880EAAE414}" type="presParOf" srcId="{AE8E4A98-D1CD-4257-8DEC-E45FE5745F35}" destId="{6A196509-63FD-4059-B327-01370090137F}" srcOrd="2" destOrd="0" presId="urn:microsoft.com/office/officeart/2018/2/layout/IconVerticalSolidList"/>
    <dgm:cxn modelId="{97058AB3-E943-4493-8AC7-E434AA84EA55}" type="presParOf" srcId="{AE8E4A98-D1CD-4257-8DEC-E45FE5745F35}" destId="{52587147-8765-4925-BCDD-6D2222D799A9}" srcOrd="3" destOrd="0" presId="urn:microsoft.com/office/officeart/2018/2/layout/IconVerticalSolidList"/>
    <dgm:cxn modelId="{E448A864-FEA2-4183-8B58-3313BC0B0440}" type="presParOf" srcId="{702944D7-95C4-45C6-804C-B038A9B820C8}" destId="{25E67D8C-EF7F-4669-89A2-4A22ECA44009}" srcOrd="3" destOrd="0" presId="urn:microsoft.com/office/officeart/2018/2/layout/IconVerticalSolidList"/>
    <dgm:cxn modelId="{66417B35-6DCE-4108-B227-A4273A049B89}" type="presParOf" srcId="{702944D7-95C4-45C6-804C-B038A9B820C8}" destId="{CCA948BB-3D03-4C10-A4AA-8AE94D579BFD}" srcOrd="4" destOrd="0" presId="urn:microsoft.com/office/officeart/2018/2/layout/IconVerticalSolidList"/>
    <dgm:cxn modelId="{0CB3C55C-8826-4041-AF68-A0AE706C963D}" type="presParOf" srcId="{CCA948BB-3D03-4C10-A4AA-8AE94D579BFD}" destId="{B5F74864-9276-4C15-A954-6EC223DB8EED}" srcOrd="0" destOrd="0" presId="urn:microsoft.com/office/officeart/2018/2/layout/IconVerticalSolidList"/>
    <dgm:cxn modelId="{5167EDEF-C25A-4255-A5EA-C0DD9322CCF9}" type="presParOf" srcId="{CCA948BB-3D03-4C10-A4AA-8AE94D579BFD}" destId="{EC635E31-0421-498B-8B95-70BA9CB188AC}" srcOrd="1" destOrd="0" presId="urn:microsoft.com/office/officeart/2018/2/layout/IconVerticalSolidList"/>
    <dgm:cxn modelId="{57BC5ABA-332F-43D7-9357-D4E8DDDEB20F}" type="presParOf" srcId="{CCA948BB-3D03-4C10-A4AA-8AE94D579BFD}" destId="{7D3911D7-7DB8-456D-B7FC-C69EA1875B70}" srcOrd="2" destOrd="0" presId="urn:microsoft.com/office/officeart/2018/2/layout/IconVerticalSolidList"/>
    <dgm:cxn modelId="{5DF33B8B-673E-4183-A2EC-2273ABD308F1}" type="presParOf" srcId="{CCA948BB-3D03-4C10-A4AA-8AE94D579BFD}" destId="{804C216A-0D98-4225-9523-4668F756007F}"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75CEA62-F12C-4A1C-BCAF-068AC2AAF7DF}"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CD686EBE-502D-4DB2-9DCA-83145D94C525}">
      <dgm:prSet/>
      <dgm:spPr/>
      <dgm:t>
        <a:bodyPr/>
        <a:lstStyle/>
        <a:p>
          <a:pPr>
            <a:lnSpc>
              <a:spcPct val="100000"/>
            </a:lnSpc>
          </a:pPr>
          <a:r>
            <a:rPr lang="en-US" dirty="0">
              <a:latin typeface="Times New Roman" panose="02020603050405020304" pitchFamily="18" charset="0"/>
              <a:cs typeface="Times New Roman" panose="02020603050405020304" pitchFamily="18" charset="0"/>
            </a:rPr>
            <a:t>The database will store critical information about the company’s operations, including proprietary data related to events, employee management, food inventory, and payroll</a:t>
          </a:r>
          <a:r>
            <a:rPr lang="en-US" dirty="0"/>
            <a:t>.</a:t>
          </a:r>
        </a:p>
      </dgm:t>
    </dgm:pt>
    <dgm:pt modelId="{C4B993B1-A881-4950-85AB-4D19BA034E66}" type="parTrans" cxnId="{DE0F24CB-104B-4ECB-8236-F45856894832}">
      <dgm:prSet/>
      <dgm:spPr/>
      <dgm:t>
        <a:bodyPr/>
        <a:lstStyle/>
        <a:p>
          <a:endParaRPr lang="en-US"/>
        </a:p>
      </dgm:t>
    </dgm:pt>
    <dgm:pt modelId="{E3A85954-460E-42CF-A015-C33A0919BCA4}" type="sibTrans" cxnId="{DE0F24CB-104B-4ECB-8236-F45856894832}">
      <dgm:prSet/>
      <dgm:spPr/>
      <dgm:t>
        <a:bodyPr/>
        <a:lstStyle/>
        <a:p>
          <a:endParaRPr lang="en-US"/>
        </a:p>
      </dgm:t>
    </dgm:pt>
    <dgm:pt modelId="{35E20E81-8A30-435F-A0AF-D20781B7CD50}">
      <dgm:prSet/>
      <dgm:spPr/>
      <dgm:t>
        <a:bodyPr/>
        <a:lstStyle/>
        <a:p>
          <a:pPr>
            <a:lnSpc>
              <a:spcPct val="100000"/>
            </a:lnSpc>
          </a:pPr>
          <a:r>
            <a:rPr lang="en-US" dirty="0">
              <a:latin typeface="Times New Roman" panose="02020603050405020304" pitchFamily="18" charset="0"/>
              <a:cs typeface="Times New Roman" panose="02020603050405020304" pitchFamily="18" charset="0"/>
            </a:rPr>
            <a:t>It will serve as the central hub for organizing and managing</a:t>
          </a:r>
          <a:r>
            <a:rPr lang="en-US" dirty="0"/>
            <a:t>:</a:t>
          </a:r>
        </a:p>
      </dgm:t>
    </dgm:pt>
    <dgm:pt modelId="{EFF7E5E1-85A0-4894-A996-E04796C18364}" type="parTrans" cxnId="{5AB33B74-4EAB-4C69-A8DD-3303660F136B}">
      <dgm:prSet/>
      <dgm:spPr/>
      <dgm:t>
        <a:bodyPr/>
        <a:lstStyle/>
        <a:p>
          <a:endParaRPr lang="en-US"/>
        </a:p>
      </dgm:t>
    </dgm:pt>
    <dgm:pt modelId="{6464440C-F135-46B6-8115-CDA21F9E4619}" type="sibTrans" cxnId="{5AB33B74-4EAB-4C69-A8DD-3303660F136B}">
      <dgm:prSet/>
      <dgm:spPr/>
      <dgm:t>
        <a:bodyPr/>
        <a:lstStyle/>
        <a:p>
          <a:endParaRPr lang="en-US"/>
        </a:p>
      </dgm:t>
    </dgm:pt>
    <dgm:pt modelId="{37619896-8D2E-4129-A3E0-646435711719}">
      <dgm:prSet/>
      <dgm:spPr/>
      <dgm:t>
        <a:bodyPr/>
        <a:lstStyle/>
        <a:p>
          <a:pPr>
            <a:lnSpc>
              <a:spcPct val="100000"/>
            </a:lnSpc>
          </a:pPr>
          <a:r>
            <a:rPr lang="en-US" dirty="0">
              <a:latin typeface="Times New Roman" panose="02020603050405020304" pitchFamily="18" charset="0"/>
              <a:cs typeface="Times New Roman" panose="02020603050405020304" pitchFamily="18" charset="0"/>
            </a:rPr>
            <a:t>Employee information (including classifications such as part-time, full-time, supervisors, and non-supervisors)</a:t>
          </a:r>
        </a:p>
      </dgm:t>
    </dgm:pt>
    <dgm:pt modelId="{772D17BF-270F-4513-BFC4-A7755E66BAC2}" type="parTrans" cxnId="{40AA397A-61A5-459C-805B-7F94B9FB001F}">
      <dgm:prSet/>
      <dgm:spPr/>
      <dgm:t>
        <a:bodyPr/>
        <a:lstStyle/>
        <a:p>
          <a:endParaRPr lang="en-US"/>
        </a:p>
      </dgm:t>
    </dgm:pt>
    <dgm:pt modelId="{FE6DD287-7DD5-43A2-9135-5E3037B143C0}" type="sibTrans" cxnId="{40AA397A-61A5-459C-805B-7F94B9FB001F}">
      <dgm:prSet/>
      <dgm:spPr/>
      <dgm:t>
        <a:bodyPr/>
        <a:lstStyle/>
        <a:p>
          <a:endParaRPr lang="en-US"/>
        </a:p>
      </dgm:t>
    </dgm:pt>
    <dgm:pt modelId="{5F024C3C-8924-4601-9991-3681EFB8689C}">
      <dgm:prSet/>
      <dgm:spPr/>
      <dgm:t>
        <a:bodyPr/>
        <a:lstStyle/>
        <a:p>
          <a:pPr>
            <a:lnSpc>
              <a:spcPct val="100000"/>
            </a:lnSpc>
          </a:pPr>
          <a:r>
            <a:rPr lang="en-US" dirty="0">
              <a:latin typeface="Times New Roman" panose="02020603050405020304" pitchFamily="18" charset="0"/>
              <a:cs typeface="Times New Roman" panose="02020603050405020304" pitchFamily="18" charset="0"/>
            </a:rPr>
            <a:t>Event scheduling and employee assignments to events</a:t>
          </a:r>
        </a:p>
      </dgm:t>
    </dgm:pt>
    <dgm:pt modelId="{1FF21406-4ADF-4C80-AFA8-95A03FCD8AC4}" type="parTrans" cxnId="{2B9F55BD-FD80-4661-94E7-74C52855366E}">
      <dgm:prSet/>
      <dgm:spPr/>
      <dgm:t>
        <a:bodyPr/>
        <a:lstStyle/>
        <a:p>
          <a:endParaRPr lang="en-US"/>
        </a:p>
      </dgm:t>
    </dgm:pt>
    <dgm:pt modelId="{E8B2F4AE-08F8-4315-A0BC-714A8CC52611}" type="sibTrans" cxnId="{2B9F55BD-FD80-4661-94E7-74C52855366E}">
      <dgm:prSet/>
      <dgm:spPr/>
      <dgm:t>
        <a:bodyPr/>
        <a:lstStyle/>
        <a:p>
          <a:endParaRPr lang="en-US"/>
        </a:p>
      </dgm:t>
    </dgm:pt>
    <dgm:pt modelId="{7C395AF1-812E-4D12-B1ED-239E4131B823}">
      <dgm:prSet/>
      <dgm:spPr/>
      <dgm:t>
        <a:bodyPr/>
        <a:lstStyle/>
        <a:p>
          <a:pPr>
            <a:lnSpc>
              <a:spcPct val="100000"/>
            </a:lnSpc>
          </a:pPr>
          <a:r>
            <a:rPr lang="en-US" dirty="0">
              <a:latin typeface="Times New Roman" panose="02020603050405020304" pitchFamily="18" charset="0"/>
              <a:cs typeface="Times New Roman" panose="02020603050405020304" pitchFamily="18" charset="0"/>
            </a:rPr>
            <a:t>Food supply management and menu planning</a:t>
          </a:r>
        </a:p>
      </dgm:t>
    </dgm:pt>
    <dgm:pt modelId="{7BCB1C88-11E9-4085-90ED-B9A51E92D699}" type="parTrans" cxnId="{15E2A5BE-6C1E-4C3C-87E7-4D22CA82E423}">
      <dgm:prSet/>
      <dgm:spPr/>
      <dgm:t>
        <a:bodyPr/>
        <a:lstStyle/>
        <a:p>
          <a:endParaRPr lang="en-US"/>
        </a:p>
      </dgm:t>
    </dgm:pt>
    <dgm:pt modelId="{D87E02FB-1D42-4080-88AF-7F2C440AF2A1}" type="sibTrans" cxnId="{15E2A5BE-6C1E-4C3C-87E7-4D22CA82E423}">
      <dgm:prSet/>
      <dgm:spPr/>
      <dgm:t>
        <a:bodyPr/>
        <a:lstStyle/>
        <a:p>
          <a:endParaRPr lang="en-US"/>
        </a:p>
      </dgm:t>
    </dgm:pt>
    <dgm:pt modelId="{DD16E3F1-9DB2-4427-9BE5-4969B38E9EBB}">
      <dgm:prSet/>
      <dgm:spPr/>
      <dgm:t>
        <a:bodyPr/>
        <a:lstStyle/>
        <a:p>
          <a:pPr>
            <a:lnSpc>
              <a:spcPct val="100000"/>
            </a:lnSpc>
          </a:pPr>
          <a:r>
            <a:rPr lang="en-US" dirty="0">
              <a:latin typeface="Times New Roman" panose="02020603050405020304" pitchFamily="18" charset="0"/>
              <a:cs typeface="Times New Roman" panose="02020603050405020304" pitchFamily="18" charset="0"/>
            </a:rPr>
            <a:t>Payroll and coupon distribution for employees based on their hours worked.</a:t>
          </a:r>
        </a:p>
      </dgm:t>
    </dgm:pt>
    <dgm:pt modelId="{C9C5679E-1974-4362-9BDB-D605DACB66F5}" type="parTrans" cxnId="{DCC00C44-DF4D-416C-A3A2-4C8806C6FE9F}">
      <dgm:prSet/>
      <dgm:spPr/>
      <dgm:t>
        <a:bodyPr/>
        <a:lstStyle/>
        <a:p>
          <a:endParaRPr lang="en-US"/>
        </a:p>
      </dgm:t>
    </dgm:pt>
    <dgm:pt modelId="{8D2A7D9F-D798-49D7-AB41-31474DE605A7}" type="sibTrans" cxnId="{DCC00C44-DF4D-416C-A3A2-4C8806C6FE9F}">
      <dgm:prSet/>
      <dgm:spPr/>
      <dgm:t>
        <a:bodyPr/>
        <a:lstStyle/>
        <a:p>
          <a:endParaRPr lang="en-US"/>
        </a:p>
      </dgm:t>
    </dgm:pt>
    <dgm:pt modelId="{292968F2-8951-496B-9A05-D08B67B85D1D}">
      <dgm:prSet/>
      <dgm:spPr/>
      <dgm:t>
        <a:bodyPr/>
        <a:lstStyle/>
        <a:p>
          <a:pPr>
            <a:lnSpc>
              <a:spcPct val="100000"/>
            </a:lnSpc>
          </a:pPr>
          <a:r>
            <a:rPr lang="en-US" dirty="0">
              <a:latin typeface="Times New Roman" panose="02020603050405020304" pitchFamily="18" charset="0"/>
              <a:cs typeface="Times New Roman" panose="02020603050405020304" pitchFamily="18" charset="0"/>
            </a:rPr>
            <a:t>The database will ensure that all events held across various university locations are efficiently tracked and managed</a:t>
          </a:r>
          <a:r>
            <a:rPr lang="en-US" dirty="0"/>
            <a:t>.</a:t>
          </a:r>
        </a:p>
      </dgm:t>
    </dgm:pt>
    <dgm:pt modelId="{751307BD-0448-4C3A-8B6F-8DB3C64D2670}" type="parTrans" cxnId="{CCF9AA9E-E6D1-4A80-8660-32F341502816}">
      <dgm:prSet/>
      <dgm:spPr/>
      <dgm:t>
        <a:bodyPr/>
        <a:lstStyle/>
        <a:p>
          <a:endParaRPr lang="en-US"/>
        </a:p>
      </dgm:t>
    </dgm:pt>
    <dgm:pt modelId="{81F0DBD3-9CE9-45CA-8C30-AB34E196B333}" type="sibTrans" cxnId="{CCF9AA9E-E6D1-4A80-8660-32F341502816}">
      <dgm:prSet/>
      <dgm:spPr/>
      <dgm:t>
        <a:bodyPr/>
        <a:lstStyle/>
        <a:p>
          <a:endParaRPr lang="en-US"/>
        </a:p>
      </dgm:t>
    </dgm:pt>
    <dgm:pt modelId="{6D747BBD-05C5-4875-96CB-0957DC040157}" type="pres">
      <dgm:prSet presAssocID="{E75CEA62-F12C-4A1C-BCAF-068AC2AAF7DF}" presName="root" presStyleCnt="0">
        <dgm:presLayoutVars>
          <dgm:dir/>
          <dgm:resizeHandles val="exact"/>
        </dgm:presLayoutVars>
      </dgm:prSet>
      <dgm:spPr/>
      <dgm:t>
        <a:bodyPr/>
        <a:lstStyle/>
        <a:p>
          <a:endParaRPr lang="en-US"/>
        </a:p>
      </dgm:t>
    </dgm:pt>
    <dgm:pt modelId="{7E2AEF10-7AEA-4B41-9D28-1E1D98DE27A9}" type="pres">
      <dgm:prSet presAssocID="{CD686EBE-502D-4DB2-9DCA-83145D94C525}" presName="compNode" presStyleCnt="0"/>
      <dgm:spPr/>
    </dgm:pt>
    <dgm:pt modelId="{C42671E6-80E2-48EB-8067-9EB5F22F0189}" type="pres">
      <dgm:prSet presAssocID="{CD686EBE-502D-4DB2-9DCA-83145D94C525}" presName="bgRect" presStyleLbl="bgShp" presStyleIdx="0" presStyleCnt="3"/>
      <dgm:spPr/>
    </dgm:pt>
    <dgm:pt modelId="{9FF3ED29-FB4F-4FB7-943E-8E36ACAEB7B6}" type="pres">
      <dgm:prSet presAssocID="{CD686EBE-502D-4DB2-9DCA-83145D94C525}"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xmlns="" r:embed="rId2"/>
              </a:ext>
            </a:extLst>
          </a:blip>
          <a:stretch>
            <a:fillRect/>
          </a:stretch>
        </a:blipFill>
      </dgm:spPr>
      <dgm:t>
        <a:bodyPr/>
        <a:lstStyle/>
        <a:p>
          <a:endParaRPr lang="en-US"/>
        </a:p>
      </dgm:t>
      <dgm:extLst>
        <a:ext uri="{E40237B7-FDA0-4F09-8148-C483321AD2D9}">
          <dgm14:cNvPr xmlns:dgm14="http://schemas.microsoft.com/office/drawing/2010/diagram" id="0" name="" descr="Database"/>
        </a:ext>
      </dgm:extLst>
    </dgm:pt>
    <dgm:pt modelId="{0DDFF6D2-25B7-4E05-A4FD-6EC2676B49EE}" type="pres">
      <dgm:prSet presAssocID="{CD686EBE-502D-4DB2-9DCA-83145D94C525}" presName="spaceRect" presStyleCnt="0"/>
      <dgm:spPr/>
    </dgm:pt>
    <dgm:pt modelId="{5AC58218-77FB-4ABD-9AB5-E52C5931721E}" type="pres">
      <dgm:prSet presAssocID="{CD686EBE-502D-4DB2-9DCA-83145D94C525}" presName="parTx" presStyleLbl="revTx" presStyleIdx="0" presStyleCnt="4">
        <dgm:presLayoutVars>
          <dgm:chMax val="0"/>
          <dgm:chPref val="0"/>
        </dgm:presLayoutVars>
      </dgm:prSet>
      <dgm:spPr/>
      <dgm:t>
        <a:bodyPr/>
        <a:lstStyle/>
        <a:p>
          <a:endParaRPr lang="en-US"/>
        </a:p>
      </dgm:t>
    </dgm:pt>
    <dgm:pt modelId="{AE6315B0-3A0C-4645-B4E2-49344F21D1F1}" type="pres">
      <dgm:prSet presAssocID="{E3A85954-460E-42CF-A015-C33A0919BCA4}" presName="sibTrans" presStyleCnt="0"/>
      <dgm:spPr/>
    </dgm:pt>
    <dgm:pt modelId="{48E08420-A36A-4697-ABDB-2186445E437A}" type="pres">
      <dgm:prSet presAssocID="{35E20E81-8A30-435F-A0AF-D20781B7CD50}" presName="compNode" presStyleCnt="0"/>
      <dgm:spPr/>
    </dgm:pt>
    <dgm:pt modelId="{ABEC4962-61B3-4709-BE60-3F5FFEBCEEBE}" type="pres">
      <dgm:prSet presAssocID="{35E20E81-8A30-435F-A0AF-D20781B7CD50}" presName="bgRect" presStyleLbl="bgShp" presStyleIdx="1" presStyleCnt="3"/>
      <dgm:spPr/>
    </dgm:pt>
    <dgm:pt modelId="{4F7386B4-F08D-45A4-AF2C-4F8C3B444593}" type="pres">
      <dgm:prSet presAssocID="{35E20E81-8A30-435F-A0AF-D20781B7CD50}" presName="iconRect" presStyleLbl="node1" presStyleIdx="1" presStyleCnt="3"/>
      <dgm:spPr>
        <a:blipFill>
          <a:blip xmlns:r="http://schemas.openxmlformats.org/officeDocument/2006/relationships" r:embed="rId3" cstate="hqprint">
            <a:extLst>
              <a:ext uri="{28A0092B-C50C-407E-A947-70E740481C1C}">
                <a14:useLocalDpi xmlns:a14="http://schemas.microsoft.com/office/drawing/2010/main" val="0"/>
              </a:ext>
              <a:ext uri="{96DAC541-7B7A-43D3-8B79-37D633B846F1}">
                <asvg:svgBlip xmlns:asvg="http://schemas.microsoft.com/office/drawing/2016/SVG/main" xmlns="" r:embed="rId4"/>
              </a:ext>
            </a:extLst>
          </a:blip>
          <a:stretch>
            <a:fillRect/>
          </a:stretch>
        </a:blipFill>
      </dgm:spPr>
      <dgm:t>
        <a:bodyPr/>
        <a:lstStyle/>
        <a:p>
          <a:endParaRPr lang="en-US"/>
        </a:p>
      </dgm:t>
      <dgm:extLst>
        <a:ext uri="{E40237B7-FDA0-4F09-8148-C483321AD2D9}">
          <dgm14:cNvPr xmlns:dgm14="http://schemas.microsoft.com/office/drawing/2010/diagram" id="0" name="" descr="Hierarchy"/>
        </a:ext>
      </dgm:extLst>
    </dgm:pt>
    <dgm:pt modelId="{91EA3E86-44E8-4DEF-AA9C-0CB370179067}" type="pres">
      <dgm:prSet presAssocID="{35E20E81-8A30-435F-A0AF-D20781B7CD50}" presName="spaceRect" presStyleCnt="0"/>
      <dgm:spPr/>
    </dgm:pt>
    <dgm:pt modelId="{74B19522-B1EE-4698-B330-CDF5AF20BCE9}" type="pres">
      <dgm:prSet presAssocID="{35E20E81-8A30-435F-A0AF-D20781B7CD50}" presName="parTx" presStyleLbl="revTx" presStyleIdx="1" presStyleCnt="4">
        <dgm:presLayoutVars>
          <dgm:chMax val="0"/>
          <dgm:chPref val="0"/>
        </dgm:presLayoutVars>
      </dgm:prSet>
      <dgm:spPr/>
      <dgm:t>
        <a:bodyPr/>
        <a:lstStyle/>
        <a:p>
          <a:endParaRPr lang="en-US"/>
        </a:p>
      </dgm:t>
    </dgm:pt>
    <dgm:pt modelId="{219BF0EC-3478-4144-867D-30D843CFB0ED}" type="pres">
      <dgm:prSet presAssocID="{35E20E81-8A30-435F-A0AF-D20781B7CD50}" presName="desTx" presStyleLbl="revTx" presStyleIdx="2" presStyleCnt="4">
        <dgm:presLayoutVars/>
      </dgm:prSet>
      <dgm:spPr/>
      <dgm:t>
        <a:bodyPr/>
        <a:lstStyle/>
        <a:p>
          <a:endParaRPr lang="en-US"/>
        </a:p>
      </dgm:t>
    </dgm:pt>
    <dgm:pt modelId="{79532132-FE53-4C43-8B2D-FAA3CC1FE295}" type="pres">
      <dgm:prSet presAssocID="{6464440C-F135-46B6-8115-CDA21F9E4619}" presName="sibTrans" presStyleCnt="0"/>
      <dgm:spPr/>
    </dgm:pt>
    <dgm:pt modelId="{685E1F94-37F5-4688-9D82-431D87BEAECB}" type="pres">
      <dgm:prSet presAssocID="{292968F2-8951-496B-9A05-D08B67B85D1D}" presName="compNode" presStyleCnt="0"/>
      <dgm:spPr/>
    </dgm:pt>
    <dgm:pt modelId="{911115D0-82E8-4E2F-B293-910B48B46228}" type="pres">
      <dgm:prSet presAssocID="{292968F2-8951-496B-9A05-D08B67B85D1D}" presName="bgRect" presStyleLbl="bgShp" presStyleIdx="2" presStyleCnt="3"/>
      <dgm:spPr/>
    </dgm:pt>
    <dgm:pt modelId="{48F54F46-A001-4631-963D-EC41B9BA1BCE}" type="pres">
      <dgm:prSet presAssocID="{292968F2-8951-496B-9A05-D08B67B85D1D}"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xmlns="" r:embed="rId6"/>
              </a:ext>
            </a:extLst>
          </a:blip>
          <a:stretch>
            <a:fillRect/>
          </a:stretch>
        </a:blipFill>
      </dgm:spPr>
      <dgm:t>
        <a:bodyPr/>
        <a:lstStyle/>
        <a:p>
          <a:endParaRPr lang="en-US"/>
        </a:p>
      </dgm:t>
      <dgm:extLst>
        <a:ext uri="{E40237B7-FDA0-4F09-8148-C483321AD2D9}">
          <dgm14:cNvPr xmlns:dgm14="http://schemas.microsoft.com/office/drawing/2010/diagram" id="0" name="" descr="Classroom"/>
        </a:ext>
      </dgm:extLst>
    </dgm:pt>
    <dgm:pt modelId="{249AC0A9-3C06-4F8C-8429-D9488C3738AF}" type="pres">
      <dgm:prSet presAssocID="{292968F2-8951-496B-9A05-D08B67B85D1D}" presName="spaceRect" presStyleCnt="0"/>
      <dgm:spPr/>
    </dgm:pt>
    <dgm:pt modelId="{414CDBBB-137F-40E9-9C8A-45E69AC257AD}" type="pres">
      <dgm:prSet presAssocID="{292968F2-8951-496B-9A05-D08B67B85D1D}" presName="parTx" presStyleLbl="revTx" presStyleIdx="3" presStyleCnt="4">
        <dgm:presLayoutVars>
          <dgm:chMax val="0"/>
          <dgm:chPref val="0"/>
        </dgm:presLayoutVars>
      </dgm:prSet>
      <dgm:spPr/>
      <dgm:t>
        <a:bodyPr/>
        <a:lstStyle/>
        <a:p>
          <a:endParaRPr lang="en-US"/>
        </a:p>
      </dgm:t>
    </dgm:pt>
  </dgm:ptLst>
  <dgm:cxnLst>
    <dgm:cxn modelId="{DE0F24CB-104B-4ECB-8236-F45856894832}" srcId="{E75CEA62-F12C-4A1C-BCAF-068AC2AAF7DF}" destId="{CD686EBE-502D-4DB2-9DCA-83145D94C525}" srcOrd="0" destOrd="0" parTransId="{C4B993B1-A881-4950-85AB-4D19BA034E66}" sibTransId="{E3A85954-460E-42CF-A015-C33A0919BCA4}"/>
    <dgm:cxn modelId="{15E2A5BE-6C1E-4C3C-87E7-4D22CA82E423}" srcId="{35E20E81-8A30-435F-A0AF-D20781B7CD50}" destId="{7C395AF1-812E-4D12-B1ED-239E4131B823}" srcOrd="2" destOrd="0" parTransId="{7BCB1C88-11E9-4085-90ED-B9A51E92D699}" sibTransId="{D87E02FB-1D42-4080-88AF-7F2C440AF2A1}"/>
    <dgm:cxn modelId="{40AA397A-61A5-459C-805B-7F94B9FB001F}" srcId="{35E20E81-8A30-435F-A0AF-D20781B7CD50}" destId="{37619896-8D2E-4129-A3E0-646435711719}" srcOrd="0" destOrd="0" parTransId="{772D17BF-270F-4513-BFC4-A7755E66BAC2}" sibTransId="{FE6DD287-7DD5-43A2-9135-5E3037B143C0}"/>
    <dgm:cxn modelId="{CCE109CA-4E88-40FD-8987-E31552693F3F}" type="presOf" srcId="{DD16E3F1-9DB2-4427-9BE5-4969B38E9EBB}" destId="{219BF0EC-3478-4144-867D-30D843CFB0ED}" srcOrd="0" destOrd="3" presId="urn:microsoft.com/office/officeart/2018/2/layout/IconVerticalSolidList"/>
    <dgm:cxn modelId="{DCC00C44-DF4D-416C-A3A2-4C8806C6FE9F}" srcId="{35E20E81-8A30-435F-A0AF-D20781B7CD50}" destId="{DD16E3F1-9DB2-4427-9BE5-4969B38E9EBB}" srcOrd="3" destOrd="0" parTransId="{C9C5679E-1974-4362-9BDB-D605DACB66F5}" sibTransId="{8D2A7D9F-D798-49D7-AB41-31474DE605A7}"/>
    <dgm:cxn modelId="{2B9F55BD-FD80-4661-94E7-74C52855366E}" srcId="{35E20E81-8A30-435F-A0AF-D20781B7CD50}" destId="{5F024C3C-8924-4601-9991-3681EFB8689C}" srcOrd="1" destOrd="0" parTransId="{1FF21406-4ADF-4C80-AFA8-95A03FCD8AC4}" sibTransId="{E8B2F4AE-08F8-4315-A0BC-714A8CC52611}"/>
    <dgm:cxn modelId="{CCF9AA9E-E6D1-4A80-8660-32F341502816}" srcId="{E75CEA62-F12C-4A1C-BCAF-068AC2AAF7DF}" destId="{292968F2-8951-496B-9A05-D08B67B85D1D}" srcOrd="2" destOrd="0" parTransId="{751307BD-0448-4C3A-8B6F-8DB3C64D2670}" sibTransId="{81F0DBD3-9CE9-45CA-8C30-AB34E196B333}"/>
    <dgm:cxn modelId="{71573288-6FDF-490B-9BB7-FC02E5F510DD}" type="presOf" srcId="{E75CEA62-F12C-4A1C-BCAF-068AC2AAF7DF}" destId="{6D747BBD-05C5-4875-96CB-0957DC040157}" srcOrd="0" destOrd="0" presId="urn:microsoft.com/office/officeart/2018/2/layout/IconVerticalSolidList"/>
    <dgm:cxn modelId="{7A15D4C6-6E3D-4817-B4AD-B9E6205B0BE6}" type="presOf" srcId="{35E20E81-8A30-435F-A0AF-D20781B7CD50}" destId="{74B19522-B1EE-4698-B330-CDF5AF20BCE9}" srcOrd="0" destOrd="0" presId="urn:microsoft.com/office/officeart/2018/2/layout/IconVerticalSolidList"/>
    <dgm:cxn modelId="{3105DA71-9562-4213-AAD4-59801E6DDC3A}" type="presOf" srcId="{37619896-8D2E-4129-A3E0-646435711719}" destId="{219BF0EC-3478-4144-867D-30D843CFB0ED}" srcOrd="0" destOrd="0" presId="urn:microsoft.com/office/officeart/2018/2/layout/IconVerticalSolidList"/>
    <dgm:cxn modelId="{5AB33B74-4EAB-4C69-A8DD-3303660F136B}" srcId="{E75CEA62-F12C-4A1C-BCAF-068AC2AAF7DF}" destId="{35E20E81-8A30-435F-A0AF-D20781B7CD50}" srcOrd="1" destOrd="0" parTransId="{EFF7E5E1-85A0-4894-A996-E04796C18364}" sibTransId="{6464440C-F135-46B6-8115-CDA21F9E4619}"/>
    <dgm:cxn modelId="{4C7DB490-54B4-428F-890F-305B412EB4C7}" type="presOf" srcId="{5F024C3C-8924-4601-9991-3681EFB8689C}" destId="{219BF0EC-3478-4144-867D-30D843CFB0ED}" srcOrd="0" destOrd="1" presId="urn:microsoft.com/office/officeart/2018/2/layout/IconVerticalSolidList"/>
    <dgm:cxn modelId="{3D7E3260-63F6-4E93-8F88-2C7397E4722F}" type="presOf" srcId="{292968F2-8951-496B-9A05-D08B67B85D1D}" destId="{414CDBBB-137F-40E9-9C8A-45E69AC257AD}" srcOrd="0" destOrd="0" presId="urn:microsoft.com/office/officeart/2018/2/layout/IconVerticalSolidList"/>
    <dgm:cxn modelId="{F15F09DA-E4A0-42A3-BDAE-942600261229}" type="presOf" srcId="{CD686EBE-502D-4DB2-9DCA-83145D94C525}" destId="{5AC58218-77FB-4ABD-9AB5-E52C5931721E}" srcOrd="0" destOrd="0" presId="urn:microsoft.com/office/officeart/2018/2/layout/IconVerticalSolidList"/>
    <dgm:cxn modelId="{D6F359DF-194D-47D9-ACEB-5545E7724631}" type="presOf" srcId="{7C395AF1-812E-4D12-B1ED-239E4131B823}" destId="{219BF0EC-3478-4144-867D-30D843CFB0ED}" srcOrd="0" destOrd="2" presId="urn:microsoft.com/office/officeart/2018/2/layout/IconVerticalSolidList"/>
    <dgm:cxn modelId="{BE44A0FB-05F4-4A31-9D13-D311DCAC7F2F}" type="presParOf" srcId="{6D747BBD-05C5-4875-96CB-0957DC040157}" destId="{7E2AEF10-7AEA-4B41-9D28-1E1D98DE27A9}" srcOrd="0" destOrd="0" presId="urn:microsoft.com/office/officeart/2018/2/layout/IconVerticalSolidList"/>
    <dgm:cxn modelId="{6CB40C2D-6978-48B8-9FFD-7BE5C30F4629}" type="presParOf" srcId="{7E2AEF10-7AEA-4B41-9D28-1E1D98DE27A9}" destId="{C42671E6-80E2-48EB-8067-9EB5F22F0189}" srcOrd="0" destOrd="0" presId="urn:microsoft.com/office/officeart/2018/2/layout/IconVerticalSolidList"/>
    <dgm:cxn modelId="{9216EB34-278E-4777-BBA2-35F12052E7D0}" type="presParOf" srcId="{7E2AEF10-7AEA-4B41-9D28-1E1D98DE27A9}" destId="{9FF3ED29-FB4F-4FB7-943E-8E36ACAEB7B6}" srcOrd="1" destOrd="0" presId="urn:microsoft.com/office/officeart/2018/2/layout/IconVerticalSolidList"/>
    <dgm:cxn modelId="{24E1CDD6-9E41-40AB-A768-B50239F37597}" type="presParOf" srcId="{7E2AEF10-7AEA-4B41-9D28-1E1D98DE27A9}" destId="{0DDFF6D2-25B7-4E05-A4FD-6EC2676B49EE}" srcOrd="2" destOrd="0" presId="urn:microsoft.com/office/officeart/2018/2/layout/IconVerticalSolidList"/>
    <dgm:cxn modelId="{5ABE0BA0-3546-4C58-8CE4-E895B2185A1C}" type="presParOf" srcId="{7E2AEF10-7AEA-4B41-9D28-1E1D98DE27A9}" destId="{5AC58218-77FB-4ABD-9AB5-E52C5931721E}" srcOrd="3" destOrd="0" presId="urn:microsoft.com/office/officeart/2018/2/layout/IconVerticalSolidList"/>
    <dgm:cxn modelId="{BC1B6459-1DB7-4C9C-8685-01DF0F576CEB}" type="presParOf" srcId="{6D747BBD-05C5-4875-96CB-0957DC040157}" destId="{AE6315B0-3A0C-4645-B4E2-49344F21D1F1}" srcOrd="1" destOrd="0" presId="urn:microsoft.com/office/officeart/2018/2/layout/IconVerticalSolidList"/>
    <dgm:cxn modelId="{75C0CFD7-463F-4811-B011-259BDDFB7884}" type="presParOf" srcId="{6D747BBD-05C5-4875-96CB-0957DC040157}" destId="{48E08420-A36A-4697-ABDB-2186445E437A}" srcOrd="2" destOrd="0" presId="urn:microsoft.com/office/officeart/2018/2/layout/IconVerticalSolidList"/>
    <dgm:cxn modelId="{13622702-B773-4337-9DAF-EC9C5DD78569}" type="presParOf" srcId="{48E08420-A36A-4697-ABDB-2186445E437A}" destId="{ABEC4962-61B3-4709-BE60-3F5FFEBCEEBE}" srcOrd="0" destOrd="0" presId="urn:microsoft.com/office/officeart/2018/2/layout/IconVerticalSolidList"/>
    <dgm:cxn modelId="{11F1E7B3-2D94-4E65-A76C-AA8B8B3C018C}" type="presParOf" srcId="{48E08420-A36A-4697-ABDB-2186445E437A}" destId="{4F7386B4-F08D-45A4-AF2C-4F8C3B444593}" srcOrd="1" destOrd="0" presId="urn:microsoft.com/office/officeart/2018/2/layout/IconVerticalSolidList"/>
    <dgm:cxn modelId="{2CC9C1FB-7883-4752-8AD6-C808E629D81B}" type="presParOf" srcId="{48E08420-A36A-4697-ABDB-2186445E437A}" destId="{91EA3E86-44E8-4DEF-AA9C-0CB370179067}" srcOrd="2" destOrd="0" presId="urn:microsoft.com/office/officeart/2018/2/layout/IconVerticalSolidList"/>
    <dgm:cxn modelId="{BF64AE8D-7AFF-427D-8776-EBB08CF3285A}" type="presParOf" srcId="{48E08420-A36A-4697-ABDB-2186445E437A}" destId="{74B19522-B1EE-4698-B330-CDF5AF20BCE9}" srcOrd="3" destOrd="0" presId="urn:microsoft.com/office/officeart/2018/2/layout/IconVerticalSolidList"/>
    <dgm:cxn modelId="{0CD913F0-BA92-4F58-8AE8-EE8399EFE711}" type="presParOf" srcId="{48E08420-A36A-4697-ABDB-2186445E437A}" destId="{219BF0EC-3478-4144-867D-30D843CFB0ED}" srcOrd="4" destOrd="0" presId="urn:microsoft.com/office/officeart/2018/2/layout/IconVerticalSolidList"/>
    <dgm:cxn modelId="{76B2AD8C-E0BB-4CCC-B3F3-999B03D36CD4}" type="presParOf" srcId="{6D747BBD-05C5-4875-96CB-0957DC040157}" destId="{79532132-FE53-4C43-8B2D-FAA3CC1FE295}" srcOrd="3" destOrd="0" presId="urn:microsoft.com/office/officeart/2018/2/layout/IconVerticalSolidList"/>
    <dgm:cxn modelId="{1A1F8A73-36B5-4CB8-BB07-D09EC916D946}" type="presParOf" srcId="{6D747BBD-05C5-4875-96CB-0957DC040157}" destId="{685E1F94-37F5-4688-9D82-431D87BEAECB}" srcOrd="4" destOrd="0" presId="urn:microsoft.com/office/officeart/2018/2/layout/IconVerticalSolidList"/>
    <dgm:cxn modelId="{658B1087-76CF-446E-981C-385A2BEF0285}" type="presParOf" srcId="{685E1F94-37F5-4688-9D82-431D87BEAECB}" destId="{911115D0-82E8-4E2F-B293-910B48B46228}" srcOrd="0" destOrd="0" presId="urn:microsoft.com/office/officeart/2018/2/layout/IconVerticalSolidList"/>
    <dgm:cxn modelId="{CB8AFA5F-E659-45DE-982C-00440BFDA10C}" type="presParOf" srcId="{685E1F94-37F5-4688-9D82-431D87BEAECB}" destId="{48F54F46-A001-4631-963D-EC41B9BA1BCE}" srcOrd="1" destOrd="0" presId="urn:microsoft.com/office/officeart/2018/2/layout/IconVerticalSolidList"/>
    <dgm:cxn modelId="{DA17C14C-060D-4848-A044-5FD9D3CA3582}" type="presParOf" srcId="{685E1F94-37F5-4688-9D82-431D87BEAECB}" destId="{249AC0A9-3C06-4F8C-8429-D9488C3738AF}" srcOrd="2" destOrd="0" presId="urn:microsoft.com/office/officeart/2018/2/layout/IconVerticalSolidList"/>
    <dgm:cxn modelId="{0669FDCF-932B-4E16-A5B7-12D4C23D6353}" type="presParOf" srcId="{685E1F94-37F5-4688-9D82-431D87BEAECB}" destId="{414CDBBB-137F-40E9-9C8A-45E69AC257AD}"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9B36DED9-15DE-420B-BEA4-34E66F255A1C}" type="doc">
      <dgm:prSet loTypeId="urn:microsoft.com/office/officeart/2008/layout/LinedList" loCatId="list" qsTypeId="urn:microsoft.com/office/officeart/2005/8/quickstyle/simple1" qsCatId="simple" csTypeId="urn:microsoft.com/office/officeart/2005/8/colors/colorful2" csCatId="colorful" phldr="1"/>
      <dgm:spPr/>
      <dgm:t>
        <a:bodyPr/>
        <a:lstStyle/>
        <a:p>
          <a:endParaRPr lang="en-US"/>
        </a:p>
      </dgm:t>
    </dgm:pt>
    <dgm:pt modelId="{8E9A6ABC-7B20-44D5-9E10-0405B7D14D34}">
      <dgm:prSet/>
      <dgm:spPr/>
      <dgm:t>
        <a:bodyPr/>
        <a:lstStyle/>
        <a:p>
          <a:r>
            <a:rPr lang="en-US" dirty="0">
              <a:latin typeface="Times New Roman" panose="02020603050405020304" pitchFamily="18" charset="0"/>
              <a:cs typeface="Times New Roman" panose="02020603050405020304" pitchFamily="18" charset="0"/>
            </a:rPr>
            <a:t>1. Manager can only add or drop Events</a:t>
          </a:r>
        </a:p>
      </dgm:t>
    </dgm:pt>
    <dgm:pt modelId="{3EE8E2AF-1438-4FAC-860D-EC73862112F4}" type="parTrans" cxnId="{889A5E90-6D04-4E73-B753-5020B89B63B6}">
      <dgm:prSet/>
      <dgm:spPr/>
      <dgm:t>
        <a:bodyPr/>
        <a:lstStyle/>
        <a:p>
          <a:endParaRPr lang="en-US"/>
        </a:p>
      </dgm:t>
    </dgm:pt>
    <dgm:pt modelId="{1F48595A-CB57-44DF-AD6F-5E81F7B45912}" type="sibTrans" cxnId="{889A5E90-6D04-4E73-B753-5020B89B63B6}">
      <dgm:prSet/>
      <dgm:spPr/>
      <dgm:t>
        <a:bodyPr/>
        <a:lstStyle/>
        <a:p>
          <a:endParaRPr lang="en-US"/>
        </a:p>
      </dgm:t>
    </dgm:pt>
    <dgm:pt modelId="{C99AE509-0667-46A6-B9DC-2B32141C404D}">
      <dgm:prSet/>
      <dgm:spPr/>
      <dgm:t>
        <a:bodyPr/>
        <a:lstStyle/>
        <a:p>
          <a:r>
            <a:rPr lang="en-US" dirty="0">
              <a:latin typeface="Times New Roman" panose="02020603050405020304" pitchFamily="18" charset="0"/>
              <a:cs typeface="Times New Roman" panose="02020603050405020304" pitchFamily="18" charset="0"/>
            </a:rPr>
            <a:t>2. Supervisors Can Only Be Assigned by Managers</a:t>
          </a:r>
        </a:p>
      </dgm:t>
    </dgm:pt>
    <dgm:pt modelId="{EFED35E0-2505-41B1-A30B-D6C6AFA40A64}" type="parTrans" cxnId="{D34EBBEC-D586-4712-8CFB-42CFCA059B84}">
      <dgm:prSet/>
      <dgm:spPr/>
      <dgm:t>
        <a:bodyPr/>
        <a:lstStyle/>
        <a:p>
          <a:endParaRPr lang="en-US"/>
        </a:p>
      </dgm:t>
    </dgm:pt>
    <dgm:pt modelId="{B25C3290-4E72-4FD8-8351-153269A57633}" type="sibTrans" cxnId="{D34EBBEC-D586-4712-8CFB-42CFCA059B84}">
      <dgm:prSet/>
      <dgm:spPr/>
      <dgm:t>
        <a:bodyPr/>
        <a:lstStyle/>
        <a:p>
          <a:endParaRPr lang="en-US"/>
        </a:p>
      </dgm:t>
    </dgm:pt>
    <dgm:pt modelId="{45E5817D-FB39-4969-B184-AF4D4201ED31}">
      <dgm:prSet/>
      <dgm:spPr/>
      <dgm:t>
        <a:bodyPr/>
        <a:lstStyle/>
        <a:p>
          <a:r>
            <a:rPr lang="en-US" dirty="0">
              <a:latin typeface="Times New Roman" panose="02020603050405020304" pitchFamily="18" charset="0"/>
              <a:cs typeface="Times New Roman" panose="02020603050405020304" pitchFamily="18" charset="0"/>
            </a:rPr>
            <a:t>3. </a:t>
          </a:r>
          <a:r>
            <a:rPr lang="en-US" dirty="0" smtClean="0">
              <a:latin typeface="Times New Roman" panose="02020603050405020304" pitchFamily="18" charset="0"/>
              <a:cs typeface="Times New Roman" panose="02020603050405020304" pitchFamily="18" charset="0"/>
            </a:rPr>
            <a:t>Verification of employee availability is </a:t>
          </a:r>
          <a:r>
            <a:rPr lang="en-US" dirty="0" smtClean="0">
              <a:latin typeface="Times New Roman" panose="02020603050405020304" pitchFamily="18" charset="0"/>
              <a:cs typeface="Times New Roman" panose="02020603050405020304" pitchFamily="18" charset="0"/>
            </a:rPr>
            <a:t>done by supervisor</a:t>
          </a:r>
          <a:endParaRPr lang="en-US" dirty="0">
            <a:latin typeface="Times New Roman" panose="02020603050405020304" pitchFamily="18" charset="0"/>
            <a:cs typeface="Times New Roman" panose="02020603050405020304" pitchFamily="18" charset="0"/>
          </a:endParaRPr>
        </a:p>
      </dgm:t>
    </dgm:pt>
    <dgm:pt modelId="{444D491F-4B31-41F5-9471-FB5194CFF54E}" type="parTrans" cxnId="{9AD28466-90CB-4A1E-A0B2-9F013430ADD8}">
      <dgm:prSet/>
      <dgm:spPr/>
      <dgm:t>
        <a:bodyPr/>
        <a:lstStyle/>
        <a:p>
          <a:endParaRPr lang="en-US"/>
        </a:p>
      </dgm:t>
    </dgm:pt>
    <dgm:pt modelId="{4052D528-7340-4FE3-B942-7A868742B214}" type="sibTrans" cxnId="{9AD28466-90CB-4A1E-A0B2-9F013430ADD8}">
      <dgm:prSet/>
      <dgm:spPr/>
      <dgm:t>
        <a:bodyPr/>
        <a:lstStyle/>
        <a:p>
          <a:endParaRPr lang="en-US"/>
        </a:p>
      </dgm:t>
    </dgm:pt>
    <dgm:pt modelId="{701A6303-F777-4476-999C-A2E8A0EB3543}">
      <dgm:prSet/>
      <dgm:spPr/>
      <dgm:t>
        <a:bodyPr/>
        <a:lstStyle/>
        <a:p>
          <a:r>
            <a:rPr lang="en-US" dirty="0">
              <a:latin typeface="Times New Roman" panose="02020603050405020304" pitchFamily="18" charset="0"/>
              <a:cs typeface="Times New Roman" panose="02020603050405020304" pitchFamily="18" charset="0"/>
            </a:rPr>
            <a:t>4. Full-time Employees Must Be Assigned to Priority Events</a:t>
          </a:r>
        </a:p>
      </dgm:t>
    </dgm:pt>
    <dgm:pt modelId="{31D68EA5-F5D5-4A90-B8FC-0B25BFDB4821}" type="parTrans" cxnId="{B67B822A-323D-4B52-BEB1-5FF7C68181D3}">
      <dgm:prSet/>
      <dgm:spPr/>
      <dgm:t>
        <a:bodyPr/>
        <a:lstStyle/>
        <a:p>
          <a:endParaRPr lang="en-US"/>
        </a:p>
      </dgm:t>
    </dgm:pt>
    <dgm:pt modelId="{A97A953A-268A-4ACD-BD4F-86BE29C840B6}" type="sibTrans" cxnId="{B67B822A-323D-4B52-BEB1-5FF7C68181D3}">
      <dgm:prSet/>
      <dgm:spPr/>
      <dgm:t>
        <a:bodyPr/>
        <a:lstStyle/>
        <a:p>
          <a:endParaRPr lang="en-US"/>
        </a:p>
      </dgm:t>
    </dgm:pt>
    <dgm:pt modelId="{CE09745C-EE11-4545-B545-A593E4DCD4D4}">
      <dgm:prSet/>
      <dgm:spPr/>
      <dgm:t>
        <a:bodyPr/>
        <a:lstStyle/>
        <a:p>
          <a:r>
            <a:rPr lang="en-US" dirty="0">
              <a:latin typeface="Times New Roman" panose="02020603050405020304" pitchFamily="18" charset="0"/>
              <a:cs typeface="Times New Roman" panose="02020603050405020304" pitchFamily="18" charset="0"/>
            </a:rPr>
            <a:t>5. Coupon Distribution </a:t>
          </a:r>
          <a:r>
            <a:rPr lang="en-US" dirty="0" smtClean="0">
              <a:latin typeface="Times New Roman" panose="02020603050405020304" pitchFamily="18" charset="0"/>
              <a:cs typeface="Times New Roman" panose="02020603050405020304" pitchFamily="18" charset="0"/>
            </a:rPr>
            <a:t>is done based </a:t>
          </a:r>
          <a:r>
            <a:rPr lang="en-US" dirty="0">
              <a:latin typeface="Times New Roman" panose="02020603050405020304" pitchFamily="18" charset="0"/>
              <a:cs typeface="Times New Roman" panose="02020603050405020304" pitchFamily="18" charset="0"/>
            </a:rPr>
            <a:t>on Hours Worked</a:t>
          </a:r>
        </a:p>
      </dgm:t>
    </dgm:pt>
    <dgm:pt modelId="{B5A22B5A-AF64-4992-ABD8-990F29C230AE}" type="parTrans" cxnId="{2FCEF4AF-5F99-46EF-9737-D36843BB7167}">
      <dgm:prSet/>
      <dgm:spPr/>
      <dgm:t>
        <a:bodyPr/>
        <a:lstStyle/>
        <a:p>
          <a:endParaRPr lang="en-US"/>
        </a:p>
      </dgm:t>
    </dgm:pt>
    <dgm:pt modelId="{2A170812-4DE7-44EF-9920-173C21E4CD8A}" type="sibTrans" cxnId="{2FCEF4AF-5F99-46EF-9737-D36843BB7167}">
      <dgm:prSet/>
      <dgm:spPr/>
      <dgm:t>
        <a:bodyPr/>
        <a:lstStyle/>
        <a:p>
          <a:endParaRPr lang="en-US"/>
        </a:p>
      </dgm:t>
    </dgm:pt>
    <dgm:pt modelId="{9B791110-20A9-4638-B5B4-9DCBCB12A17F}">
      <dgm:prSet/>
      <dgm:spPr/>
      <dgm:t>
        <a:bodyPr/>
        <a:lstStyle/>
        <a:p>
          <a:r>
            <a:rPr lang="en-US" dirty="0">
              <a:latin typeface="Times New Roman" panose="02020603050405020304" pitchFamily="18" charset="0"/>
              <a:cs typeface="Times New Roman" panose="02020603050405020304" pitchFamily="18" charset="0"/>
            </a:rPr>
            <a:t>6. </a:t>
          </a:r>
          <a:r>
            <a:rPr lang="en-US" dirty="0" smtClean="0">
              <a:latin typeface="Times New Roman" panose="02020603050405020304" pitchFamily="18" charset="0"/>
              <a:cs typeface="Times New Roman" panose="02020603050405020304" pitchFamily="18" charset="0"/>
            </a:rPr>
            <a:t>There are few restrictions for event location assignment</a:t>
          </a:r>
          <a:endParaRPr lang="en-US" dirty="0">
            <a:latin typeface="Times New Roman" panose="02020603050405020304" pitchFamily="18" charset="0"/>
            <a:cs typeface="Times New Roman" panose="02020603050405020304" pitchFamily="18" charset="0"/>
          </a:endParaRPr>
        </a:p>
      </dgm:t>
    </dgm:pt>
    <dgm:pt modelId="{21DED7E4-6F81-4F30-8744-3F89AAD49520}" type="parTrans" cxnId="{8FA87C6E-5FC0-4550-859F-9A9280BB0429}">
      <dgm:prSet/>
      <dgm:spPr/>
      <dgm:t>
        <a:bodyPr/>
        <a:lstStyle/>
        <a:p>
          <a:endParaRPr lang="en-US"/>
        </a:p>
      </dgm:t>
    </dgm:pt>
    <dgm:pt modelId="{3FD3939C-1AE7-465B-9217-8F21E894CE46}" type="sibTrans" cxnId="{8FA87C6E-5FC0-4550-859F-9A9280BB0429}">
      <dgm:prSet/>
      <dgm:spPr/>
      <dgm:t>
        <a:bodyPr/>
        <a:lstStyle/>
        <a:p>
          <a:endParaRPr lang="en-US"/>
        </a:p>
      </dgm:t>
    </dgm:pt>
    <dgm:pt modelId="{33841C3F-F3CB-4A49-84D4-AE49C356A841}">
      <dgm:prSet/>
      <dgm:spPr/>
      <dgm:t>
        <a:bodyPr/>
        <a:lstStyle/>
        <a:p>
          <a:r>
            <a:rPr lang="en-US" dirty="0" smtClean="0">
              <a:latin typeface="Times New Roman" panose="02020603050405020304" pitchFamily="18" charset="0"/>
              <a:cs typeface="Times New Roman" panose="02020603050405020304" pitchFamily="18" charset="0"/>
            </a:rPr>
            <a:t>7. Supervisors Can Only Manage Employees for Assigned Events</a:t>
          </a:r>
          <a:endParaRPr lang="en-US" dirty="0">
            <a:latin typeface="Times New Roman" panose="02020603050405020304" pitchFamily="18" charset="0"/>
            <a:cs typeface="Times New Roman" panose="02020603050405020304" pitchFamily="18" charset="0"/>
          </a:endParaRPr>
        </a:p>
      </dgm:t>
    </dgm:pt>
    <dgm:pt modelId="{2960F82A-585B-43E4-B1DD-B8B84DCC62F7}" type="parTrans" cxnId="{779BF281-6C5B-41CA-8C09-40DC59AD02E1}">
      <dgm:prSet/>
      <dgm:spPr/>
      <dgm:t>
        <a:bodyPr/>
        <a:lstStyle/>
        <a:p>
          <a:endParaRPr lang="en-US"/>
        </a:p>
      </dgm:t>
    </dgm:pt>
    <dgm:pt modelId="{91B1D8F8-49AA-48EC-BE4C-648F6445F22E}" type="sibTrans" cxnId="{779BF281-6C5B-41CA-8C09-40DC59AD02E1}">
      <dgm:prSet/>
      <dgm:spPr/>
      <dgm:t>
        <a:bodyPr/>
        <a:lstStyle/>
        <a:p>
          <a:endParaRPr lang="en-US"/>
        </a:p>
      </dgm:t>
    </dgm:pt>
    <dgm:pt modelId="{053CDA1D-1D92-48F3-BDC5-96511C662A02}">
      <dgm:prSet/>
      <dgm:spPr/>
      <dgm:t>
        <a:bodyPr/>
        <a:lstStyle/>
        <a:p>
          <a:r>
            <a:rPr lang="en-US" dirty="0">
              <a:latin typeface="Times New Roman" panose="02020603050405020304" pitchFamily="18" charset="0"/>
              <a:cs typeface="Times New Roman" panose="02020603050405020304" pitchFamily="18" charset="0"/>
            </a:rPr>
            <a:t>8. Daily Event Limit Per </a:t>
          </a:r>
          <a:r>
            <a:rPr lang="en-US" dirty="0" smtClean="0">
              <a:latin typeface="Times New Roman" panose="02020603050405020304" pitchFamily="18" charset="0"/>
              <a:cs typeface="Times New Roman" panose="02020603050405020304" pitchFamily="18" charset="0"/>
            </a:rPr>
            <a:t>Location is applied</a:t>
          </a:r>
          <a:endParaRPr lang="en-US" dirty="0">
            <a:latin typeface="Times New Roman" panose="02020603050405020304" pitchFamily="18" charset="0"/>
            <a:cs typeface="Times New Roman" panose="02020603050405020304" pitchFamily="18" charset="0"/>
          </a:endParaRPr>
        </a:p>
      </dgm:t>
    </dgm:pt>
    <dgm:pt modelId="{B179FECF-9DB4-4EC5-9F01-42CFF3D7D361}" type="parTrans" cxnId="{DF145D19-EAB3-4A90-B380-5624475A0966}">
      <dgm:prSet/>
      <dgm:spPr/>
      <dgm:t>
        <a:bodyPr/>
        <a:lstStyle/>
        <a:p>
          <a:endParaRPr lang="en-US"/>
        </a:p>
      </dgm:t>
    </dgm:pt>
    <dgm:pt modelId="{303616E6-8127-4A7C-B4CF-818E94D0DF03}" type="sibTrans" cxnId="{DF145D19-EAB3-4A90-B380-5624475A0966}">
      <dgm:prSet/>
      <dgm:spPr/>
      <dgm:t>
        <a:bodyPr/>
        <a:lstStyle/>
        <a:p>
          <a:endParaRPr lang="en-US"/>
        </a:p>
      </dgm:t>
    </dgm:pt>
    <dgm:pt modelId="{439B4B83-64F0-4AB1-8F06-94EDB54B3994}">
      <dgm:prSet/>
      <dgm:spPr/>
      <dgm:t>
        <a:bodyPr/>
        <a:lstStyle/>
        <a:p>
          <a:r>
            <a:rPr lang="en-US" dirty="0">
              <a:latin typeface="Times New Roman" panose="02020603050405020304" pitchFamily="18" charset="0"/>
              <a:cs typeface="Times New Roman" panose="02020603050405020304" pitchFamily="18" charset="0"/>
            </a:rPr>
            <a:t>9. Employee Classification and Work </a:t>
          </a:r>
          <a:r>
            <a:rPr lang="en-US" dirty="0" smtClean="0">
              <a:latin typeface="Times New Roman" panose="02020603050405020304" pitchFamily="18" charset="0"/>
              <a:cs typeface="Times New Roman" panose="02020603050405020304" pitchFamily="18" charset="0"/>
            </a:rPr>
            <a:t>Types are done</a:t>
          </a:r>
          <a:endParaRPr lang="en-US" dirty="0">
            <a:latin typeface="Times New Roman" panose="02020603050405020304" pitchFamily="18" charset="0"/>
            <a:cs typeface="Times New Roman" panose="02020603050405020304" pitchFamily="18" charset="0"/>
          </a:endParaRPr>
        </a:p>
      </dgm:t>
    </dgm:pt>
    <dgm:pt modelId="{4C391210-FA9C-4405-9147-F8F06D748302}" type="parTrans" cxnId="{AF4B4C2C-2236-4430-B311-BB192C502E2E}">
      <dgm:prSet/>
      <dgm:spPr/>
      <dgm:t>
        <a:bodyPr/>
        <a:lstStyle/>
        <a:p>
          <a:endParaRPr lang="en-US"/>
        </a:p>
      </dgm:t>
    </dgm:pt>
    <dgm:pt modelId="{F3242D61-0BEB-4BB7-A17A-E3FEB53B7894}" type="sibTrans" cxnId="{AF4B4C2C-2236-4430-B311-BB192C502E2E}">
      <dgm:prSet/>
      <dgm:spPr/>
      <dgm:t>
        <a:bodyPr/>
        <a:lstStyle/>
        <a:p>
          <a:endParaRPr lang="en-US"/>
        </a:p>
      </dgm:t>
    </dgm:pt>
    <dgm:pt modelId="{5DE5BAE0-8B4D-4521-8FA0-F649FA0EAAA5}">
      <dgm:prSet/>
      <dgm:spPr/>
      <dgm:t>
        <a:bodyPr/>
        <a:lstStyle/>
        <a:p>
          <a:r>
            <a:rPr lang="en-US" dirty="0">
              <a:latin typeface="Times New Roman" panose="02020603050405020304" pitchFamily="18" charset="0"/>
              <a:cs typeface="Times New Roman" panose="02020603050405020304" pitchFamily="18" charset="0"/>
            </a:rPr>
            <a:t>10. Salary Generation </a:t>
          </a:r>
          <a:r>
            <a:rPr lang="en-US" dirty="0" smtClean="0">
              <a:latin typeface="Times New Roman" panose="02020603050405020304" pitchFamily="18" charset="0"/>
              <a:cs typeface="Times New Roman" panose="02020603050405020304" pitchFamily="18" charset="0"/>
            </a:rPr>
            <a:t>are done based </a:t>
          </a:r>
          <a:r>
            <a:rPr lang="en-US" dirty="0">
              <a:latin typeface="Times New Roman" panose="02020603050405020304" pitchFamily="18" charset="0"/>
              <a:cs typeface="Times New Roman" panose="02020603050405020304" pitchFamily="18" charset="0"/>
            </a:rPr>
            <a:t>on </a:t>
          </a:r>
          <a:r>
            <a:rPr lang="en-US" dirty="0" smtClean="0">
              <a:latin typeface="Times New Roman" panose="02020603050405020304" pitchFamily="18" charset="0"/>
              <a:cs typeface="Times New Roman" panose="02020603050405020304" pitchFamily="18" charset="0"/>
            </a:rPr>
            <a:t>approved </a:t>
          </a:r>
          <a:r>
            <a:rPr lang="en-US" dirty="0">
              <a:latin typeface="Times New Roman" panose="02020603050405020304" pitchFamily="18" charset="0"/>
              <a:cs typeface="Times New Roman" panose="02020603050405020304" pitchFamily="18" charset="0"/>
            </a:rPr>
            <a:t>Events</a:t>
          </a:r>
        </a:p>
      </dgm:t>
    </dgm:pt>
    <dgm:pt modelId="{03935C50-A2DD-4929-9562-2BE8B0A25910}" type="parTrans" cxnId="{5F35EE0D-F0BB-49FB-9AAE-9C21B24EDC70}">
      <dgm:prSet/>
      <dgm:spPr/>
      <dgm:t>
        <a:bodyPr/>
        <a:lstStyle/>
        <a:p>
          <a:endParaRPr lang="en-US"/>
        </a:p>
      </dgm:t>
    </dgm:pt>
    <dgm:pt modelId="{4897EC06-3B81-4E93-A761-960A38413E3C}" type="sibTrans" cxnId="{5F35EE0D-F0BB-49FB-9AAE-9C21B24EDC70}">
      <dgm:prSet/>
      <dgm:spPr/>
      <dgm:t>
        <a:bodyPr/>
        <a:lstStyle/>
        <a:p>
          <a:endParaRPr lang="en-US"/>
        </a:p>
      </dgm:t>
    </dgm:pt>
    <dgm:pt modelId="{AA9D78EA-590E-4EFE-9BD8-5C8166A8CA82}" type="pres">
      <dgm:prSet presAssocID="{9B36DED9-15DE-420B-BEA4-34E66F255A1C}" presName="vert0" presStyleCnt="0">
        <dgm:presLayoutVars>
          <dgm:dir/>
          <dgm:animOne val="branch"/>
          <dgm:animLvl val="lvl"/>
        </dgm:presLayoutVars>
      </dgm:prSet>
      <dgm:spPr/>
      <dgm:t>
        <a:bodyPr/>
        <a:lstStyle/>
        <a:p>
          <a:endParaRPr lang="en-US"/>
        </a:p>
      </dgm:t>
    </dgm:pt>
    <dgm:pt modelId="{6A2E1D78-7B11-4BE8-B6FD-CA7B504501FE}" type="pres">
      <dgm:prSet presAssocID="{8E9A6ABC-7B20-44D5-9E10-0405B7D14D34}" presName="thickLine" presStyleLbl="alignNode1" presStyleIdx="0" presStyleCnt="10"/>
      <dgm:spPr/>
    </dgm:pt>
    <dgm:pt modelId="{10532F16-4649-4DE2-BEBD-2264F971E08B}" type="pres">
      <dgm:prSet presAssocID="{8E9A6ABC-7B20-44D5-9E10-0405B7D14D34}" presName="horz1" presStyleCnt="0"/>
      <dgm:spPr/>
    </dgm:pt>
    <dgm:pt modelId="{0B8B74D9-23D2-43BF-830F-2FD1D5C3E4C1}" type="pres">
      <dgm:prSet presAssocID="{8E9A6ABC-7B20-44D5-9E10-0405B7D14D34}" presName="tx1" presStyleLbl="revTx" presStyleIdx="0" presStyleCnt="10"/>
      <dgm:spPr/>
      <dgm:t>
        <a:bodyPr/>
        <a:lstStyle/>
        <a:p>
          <a:endParaRPr lang="en-US"/>
        </a:p>
      </dgm:t>
    </dgm:pt>
    <dgm:pt modelId="{AC9C8DC1-4DDA-42EE-A4F1-E009FF5F4CD4}" type="pres">
      <dgm:prSet presAssocID="{8E9A6ABC-7B20-44D5-9E10-0405B7D14D34}" presName="vert1" presStyleCnt="0"/>
      <dgm:spPr/>
    </dgm:pt>
    <dgm:pt modelId="{4D895B76-3090-42EF-8E31-BD9FCEB7B9BA}" type="pres">
      <dgm:prSet presAssocID="{C99AE509-0667-46A6-B9DC-2B32141C404D}" presName="thickLine" presStyleLbl="alignNode1" presStyleIdx="1" presStyleCnt="10"/>
      <dgm:spPr/>
    </dgm:pt>
    <dgm:pt modelId="{1262824F-DF3C-4B1A-A4F0-5191E27077AB}" type="pres">
      <dgm:prSet presAssocID="{C99AE509-0667-46A6-B9DC-2B32141C404D}" presName="horz1" presStyleCnt="0"/>
      <dgm:spPr/>
    </dgm:pt>
    <dgm:pt modelId="{FACAD5AC-D9C7-42B6-BE2F-FE824B822F65}" type="pres">
      <dgm:prSet presAssocID="{C99AE509-0667-46A6-B9DC-2B32141C404D}" presName="tx1" presStyleLbl="revTx" presStyleIdx="1" presStyleCnt="10"/>
      <dgm:spPr/>
      <dgm:t>
        <a:bodyPr/>
        <a:lstStyle/>
        <a:p>
          <a:endParaRPr lang="en-US"/>
        </a:p>
      </dgm:t>
    </dgm:pt>
    <dgm:pt modelId="{09F1F585-8ACF-4808-B0BD-63827A11E860}" type="pres">
      <dgm:prSet presAssocID="{C99AE509-0667-46A6-B9DC-2B32141C404D}" presName="vert1" presStyleCnt="0"/>
      <dgm:spPr/>
    </dgm:pt>
    <dgm:pt modelId="{54A540A8-36B8-4A41-9709-AABCA9F76E2A}" type="pres">
      <dgm:prSet presAssocID="{45E5817D-FB39-4969-B184-AF4D4201ED31}" presName="thickLine" presStyleLbl="alignNode1" presStyleIdx="2" presStyleCnt="10"/>
      <dgm:spPr/>
    </dgm:pt>
    <dgm:pt modelId="{F0AE63D0-3C40-43D4-A953-44F7DA16B27E}" type="pres">
      <dgm:prSet presAssocID="{45E5817D-FB39-4969-B184-AF4D4201ED31}" presName="horz1" presStyleCnt="0"/>
      <dgm:spPr/>
    </dgm:pt>
    <dgm:pt modelId="{A63D66D9-FB2E-4752-93A0-B4517D4BBDD2}" type="pres">
      <dgm:prSet presAssocID="{45E5817D-FB39-4969-B184-AF4D4201ED31}" presName="tx1" presStyleLbl="revTx" presStyleIdx="2" presStyleCnt="10"/>
      <dgm:spPr/>
      <dgm:t>
        <a:bodyPr/>
        <a:lstStyle/>
        <a:p>
          <a:endParaRPr lang="en-US"/>
        </a:p>
      </dgm:t>
    </dgm:pt>
    <dgm:pt modelId="{67B46342-6B15-4868-81BA-2AEB77EC34CE}" type="pres">
      <dgm:prSet presAssocID="{45E5817D-FB39-4969-B184-AF4D4201ED31}" presName="vert1" presStyleCnt="0"/>
      <dgm:spPr/>
    </dgm:pt>
    <dgm:pt modelId="{757AD5A5-3350-41AE-8952-B39C90F573AD}" type="pres">
      <dgm:prSet presAssocID="{701A6303-F777-4476-999C-A2E8A0EB3543}" presName="thickLine" presStyleLbl="alignNode1" presStyleIdx="3" presStyleCnt="10"/>
      <dgm:spPr/>
    </dgm:pt>
    <dgm:pt modelId="{FD2B2C8C-73C1-4257-BBFA-3AB70B02E9B0}" type="pres">
      <dgm:prSet presAssocID="{701A6303-F777-4476-999C-A2E8A0EB3543}" presName="horz1" presStyleCnt="0"/>
      <dgm:spPr/>
    </dgm:pt>
    <dgm:pt modelId="{06CEE057-7824-4CE4-A564-EC6E94EC5296}" type="pres">
      <dgm:prSet presAssocID="{701A6303-F777-4476-999C-A2E8A0EB3543}" presName="tx1" presStyleLbl="revTx" presStyleIdx="3" presStyleCnt="10"/>
      <dgm:spPr/>
      <dgm:t>
        <a:bodyPr/>
        <a:lstStyle/>
        <a:p>
          <a:endParaRPr lang="en-US"/>
        </a:p>
      </dgm:t>
    </dgm:pt>
    <dgm:pt modelId="{04037A53-9407-4EA7-B4EA-BDFF855717F0}" type="pres">
      <dgm:prSet presAssocID="{701A6303-F777-4476-999C-A2E8A0EB3543}" presName="vert1" presStyleCnt="0"/>
      <dgm:spPr/>
    </dgm:pt>
    <dgm:pt modelId="{7C2DEB42-8EAB-421E-9A44-7B06281CC9A2}" type="pres">
      <dgm:prSet presAssocID="{CE09745C-EE11-4545-B545-A593E4DCD4D4}" presName="thickLine" presStyleLbl="alignNode1" presStyleIdx="4" presStyleCnt="10"/>
      <dgm:spPr/>
    </dgm:pt>
    <dgm:pt modelId="{ACDF3229-53F9-4214-AC24-A89743BF8C7E}" type="pres">
      <dgm:prSet presAssocID="{CE09745C-EE11-4545-B545-A593E4DCD4D4}" presName="horz1" presStyleCnt="0"/>
      <dgm:spPr/>
    </dgm:pt>
    <dgm:pt modelId="{BB3D7C1D-4F08-4C69-9699-F25CA555EC11}" type="pres">
      <dgm:prSet presAssocID="{CE09745C-EE11-4545-B545-A593E4DCD4D4}" presName="tx1" presStyleLbl="revTx" presStyleIdx="4" presStyleCnt="10"/>
      <dgm:spPr/>
      <dgm:t>
        <a:bodyPr/>
        <a:lstStyle/>
        <a:p>
          <a:endParaRPr lang="en-US"/>
        </a:p>
      </dgm:t>
    </dgm:pt>
    <dgm:pt modelId="{E06D3C92-7094-48BD-B3F6-41FFAB4E9952}" type="pres">
      <dgm:prSet presAssocID="{CE09745C-EE11-4545-B545-A593E4DCD4D4}" presName="vert1" presStyleCnt="0"/>
      <dgm:spPr/>
    </dgm:pt>
    <dgm:pt modelId="{DED1FC10-20A0-41C4-ACAC-B7BF20911936}" type="pres">
      <dgm:prSet presAssocID="{9B791110-20A9-4638-B5B4-9DCBCB12A17F}" presName="thickLine" presStyleLbl="alignNode1" presStyleIdx="5" presStyleCnt="10"/>
      <dgm:spPr/>
    </dgm:pt>
    <dgm:pt modelId="{CD0BB198-1CE7-4128-9A77-DA3F55A7D46A}" type="pres">
      <dgm:prSet presAssocID="{9B791110-20A9-4638-B5B4-9DCBCB12A17F}" presName="horz1" presStyleCnt="0"/>
      <dgm:spPr/>
    </dgm:pt>
    <dgm:pt modelId="{0CEED634-DDCF-41A1-A6D2-FEB0E3D2F399}" type="pres">
      <dgm:prSet presAssocID="{9B791110-20A9-4638-B5B4-9DCBCB12A17F}" presName="tx1" presStyleLbl="revTx" presStyleIdx="5" presStyleCnt="10"/>
      <dgm:spPr/>
      <dgm:t>
        <a:bodyPr/>
        <a:lstStyle/>
        <a:p>
          <a:endParaRPr lang="en-US"/>
        </a:p>
      </dgm:t>
    </dgm:pt>
    <dgm:pt modelId="{14F7F116-BB7F-482C-BD36-C4622548686E}" type="pres">
      <dgm:prSet presAssocID="{9B791110-20A9-4638-B5B4-9DCBCB12A17F}" presName="vert1" presStyleCnt="0"/>
      <dgm:spPr/>
    </dgm:pt>
    <dgm:pt modelId="{2EB1C913-800D-4E91-9354-ADE5C94BC82C}" type="pres">
      <dgm:prSet presAssocID="{33841C3F-F3CB-4A49-84D4-AE49C356A841}" presName="thickLine" presStyleLbl="alignNode1" presStyleIdx="6" presStyleCnt="10"/>
      <dgm:spPr/>
    </dgm:pt>
    <dgm:pt modelId="{73D225C9-1E34-46A6-8124-01B5F767D38C}" type="pres">
      <dgm:prSet presAssocID="{33841C3F-F3CB-4A49-84D4-AE49C356A841}" presName="horz1" presStyleCnt="0"/>
      <dgm:spPr/>
    </dgm:pt>
    <dgm:pt modelId="{6091481C-7379-417C-A878-C561C76F45B9}" type="pres">
      <dgm:prSet presAssocID="{33841C3F-F3CB-4A49-84D4-AE49C356A841}" presName="tx1" presStyleLbl="revTx" presStyleIdx="6" presStyleCnt="10"/>
      <dgm:spPr/>
      <dgm:t>
        <a:bodyPr/>
        <a:lstStyle/>
        <a:p>
          <a:endParaRPr lang="en-US"/>
        </a:p>
      </dgm:t>
    </dgm:pt>
    <dgm:pt modelId="{C44394E7-F8F4-4690-8BA5-81A5563C2E04}" type="pres">
      <dgm:prSet presAssocID="{33841C3F-F3CB-4A49-84D4-AE49C356A841}" presName="vert1" presStyleCnt="0"/>
      <dgm:spPr/>
    </dgm:pt>
    <dgm:pt modelId="{0E034701-BDCA-406E-A2C8-BC554265F712}" type="pres">
      <dgm:prSet presAssocID="{053CDA1D-1D92-48F3-BDC5-96511C662A02}" presName="thickLine" presStyleLbl="alignNode1" presStyleIdx="7" presStyleCnt="10"/>
      <dgm:spPr/>
    </dgm:pt>
    <dgm:pt modelId="{18EE5778-E467-48BF-A20E-F6AABB18F20B}" type="pres">
      <dgm:prSet presAssocID="{053CDA1D-1D92-48F3-BDC5-96511C662A02}" presName="horz1" presStyleCnt="0"/>
      <dgm:spPr/>
    </dgm:pt>
    <dgm:pt modelId="{51E81579-39ED-4933-AA00-16D0273774FB}" type="pres">
      <dgm:prSet presAssocID="{053CDA1D-1D92-48F3-BDC5-96511C662A02}" presName="tx1" presStyleLbl="revTx" presStyleIdx="7" presStyleCnt="10"/>
      <dgm:spPr/>
      <dgm:t>
        <a:bodyPr/>
        <a:lstStyle/>
        <a:p>
          <a:endParaRPr lang="en-US"/>
        </a:p>
      </dgm:t>
    </dgm:pt>
    <dgm:pt modelId="{003761AA-84A2-4C9F-81DE-9389AC686ADD}" type="pres">
      <dgm:prSet presAssocID="{053CDA1D-1D92-48F3-BDC5-96511C662A02}" presName="vert1" presStyleCnt="0"/>
      <dgm:spPr/>
    </dgm:pt>
    <dgm:pt modelId="{28317BC9-6771-4849-829B-C4FEA253AF5B}" type="pres">
      <dgm:prSet presAssocID="{439B4B83-64F0-4AB1-8F06-94EDB54B3994}" presName="thickLine" presStyleLbl="alignNode1" presStyleIdx="8" presStyleCnt="10"/>
      <dgm:spPr/>
    </dgm:pt>
    <dgm:pt modelId="{07EC26D1-CB99-4E5D-AEEF-B465AAB4BFEE}" type="pres">
      <dgm:prSet presAssocID="{439B4B83-64F0-4AB1-8F06-94EDB54B3994}" presName="horz1" presStyleCnt="0"/>
      <dgm:spPr/>
    </dgm:pt>
    <dgm:pt modelId="{9B6FE461-A823-4226-B5FE-3DE5DA3CD9F3}" type="pres">
      <dgm:prSet presAssocID="{439B4B83-64F0-4AB1-8F06-94EDB54B3994}" presName="tx1" presStyleLbl="revTx" presStyleIdx="8" presStyleCnt="10"/>
      <dgm:spPr/>
      <dgm:t>
        <a:bodyPr/>
        <a:lstStyle/>
        <a:p>
          <a:endParaRPr lang="en-US"/>
        </a:p>
      </dgm:t>
    </dgm:pt>
    <dgm:pt modelId="{DE59CDAE-D879-4E39-A7ED-7F7365EEA3A2}" type="pres">
      <dgm:prSet presAssocID="{439B4B83-64F0-4AB1-8F06-94EDB54B3994}" presName="vert1" presStyleCnt="0"/>
      <dgm:spPr/>
    </dgm:pt>
    <dgm:pt modelId="{E5462ED0-1D4B-4198-918B-9009D09B49C7}" type="pres">
      <dgm:prSet presAssocID="{5DE5BAE0-8B4D-4521-8FA0-F649FA0EAAA5}" presName="thickLine" presStyleLbl="alignNode1" presStyleIdx="9" presStyleCnt="10"/>
      <dgm:spPr/>
    </dgm:pt>
    <dgm:pt modelId="{D337647A-D956-477D-A474-DEEF5E823BA0}" type="pres">
      <dgm:prSet presAssocID="{5DE5BAE0-8B4D-4521-8FA0-F649FA0EAAA5}" presName="horz1" presStyleCnt="0"/>
      <dgm:spPr/>
    </dgm:pt>
    <dgm:pt modelId="{CE154F78-E7BF-4609-AB1B-C34382F2BF6D}" type="pres">
      <dgm:prSet presAssocID="{5DE5BAE0-8B4D-4521-8FA0-F649FA0EAAA5}" presName="tx1" presStyleLbl="revTx" presStyleIdx="9" presStyleCnt="10"/>
      <dgm:spPr/>
      <dgm:t>
        <a:bodyPr/>
        <a:lstStyle/>
        <a:p>
          <a:endParaRPr lang="en-US"/>
        </a:p>
      </dgm:t>
    </dgm:pt>
    <dgm:pt modelId="{0D298996-167A-4425-BDD2-BA00159F3197}" type="pres">
      <dgm:prSet presAssocID="{5DE5BAE0-8B4D-4521-8FA0-F649FA0EAAA5}" presName="vert1" presStyleCnt="0"/>
      <dgm:spPr/>
    </dgm:pt>
  </dgm:ptLst>
  <dgm:cxnLst>
    <dgm:cxn modelId="{D34EBBEC-D586-4712-8CFB-42CFCA059B84}" srcId="{9B36DED9-15DE-420B-BEA4-34E66F255A1C}" destId="{C99AE509-0667-46A6-B9DC-2B32141C404D}" srcOrd="1" destOrd="0" parTransId="{EFED35E0-2505-41B1-A30B-D6C6AFA40A64}" sibTransId="{B25C3290-4E72-4FD8-8351-153269A57633}"/>
    <dgm:cxn modelId="{779BF281-6C5B-41CA-8C09-40DC59AD02E1}" srcId="{9B36DED9-15DE-420B-BEA4-34E66F255A1C}" destId="{33841C3F-F3CB-4A49-84D4-AE49C356A841}" srcOrd="6" destOrd="0" parTransId="{2960F82A-585B-43E4-B1DD-B8B84DCC62F7}" sibTransId="{91B1D8F8-49AA-48EC-BE4C-648F6445F22E}"/>
    <dgm:cxn modelId="{889A5E90-6D04-4E73-B753-5020B89B63B6}" srcId="{9B36DED9-15DE-420B-BEA4-34E66F255A1C}" destId="{8E9A6ABC-7B20-44D5-9E10-0405B7D14D34}" srcOrd="0" destOrd="0" parTransId="{3EE8E2AF-1438-4FAC-860D-EC73862112F4}" sibTransId="{1F48595A-CB57-44DF-AD6F-5E81F7B45912}"/>
    <dgm:cxn modelId="{0B162A72-3FA6-4CC1-AE95-6A866359D69C}" type="presOf" srcId="{439B4B83-64F0-4AB1-8F06-94EDB54B3994}" destId="{9B6FE461-A823-4226-B5FE-3DE5DA3CD9F3}" srcOrd="0" destOrd="0" presId="urn:microsoft.com/office/officeart/2008/layout/LinedList"/>
    <dgm:cxn modelId="{012C01ED-9EFA-4E67-A342-81F98995B7E0}" type="presOf" srcId="{C99AE509-0667-46A6-B9DC-2B32141C404D}" destId="{FACAD5AC-D9C7-42B6-BE2F-FE824B822F65}" srcOrd="0" destOrd="0" presId="urn:microsoft.com/office/officeart/2008/layout/LinedList"/>
    <dgm:cxn modelId="{FB8FFEB2-1790-41CE-BA2A-713C0E89428F}" type="presOf" srcId="{9B791110-20A9-4638-B5B4-9DCBCB12A17F}" destId="{0CEED634-DDCF-41A1-A6D2-FEB0E3D2F399}" srcOrd="0" destOrd="0" presId="urn:microsoft.com/office/officeart/2008/layout/LinedList"/>
    <dgm:cxn modelId="{9AD28466-90CB-4A1E-A0B2-9F013430ADD8}" srcId="{9B36DED9-15DE-420B-BEA4-34E66F255A1C}" destId="{45E5817D-FB39-4969-B184-AF4D4201ED31}" srcOrd="2" destOrd="0" parTransId="{444D491F-4B31-41F5-9471-FB5194CFF54E}" sibTransId="{4052D528-7340-4FE3-B942-7A868742B214}"/>
    <dgm:cxn modelId="{BB4654C8-02BC-48DD-94D1-0BDA4DE470AA}" type="presOf" srcId="{701A6303-F777-4476-999C-A2E8A0EB3543}" destId="{06CEE057-7824-4CE4-A564-EC6E94EC5296}" srcOrd="0" destOrd="0" presId="urn:microsoft.com/office/officeart/2008/layout/LinedList"/>
    <dgm:cxn modelId="{C2F4EE34-B09D-49E2-B54D-431899360FB0}" type="presOf" srcId="{45E5817D-FB39-4969-B184-AF4D4201ED31}" destId="{A63D66D9-FB2E-4752-93A0-B4517D4BBDD2}" srcOrd="0" destOrd="0" presId="urn:microsoft.com/office/officeart/2008/layout/LinedList"/>
    <dgm:cxn modelId="{AF4B4C2C-2236-4430-B311-BB192C502E2E}" srcId="{9B36DED9-15DE-420B-BEA4-34E66F255A1C}" destId="{439B4B83-64F0-4AB1-8F06-94EDB54B3994}" srcOrd="8" destOrd="0" parTransId="{4C391210-FA9C-4405-9147-F8F06D748302}" sibTransId="{F3242D61-0BEB-4BB7-A17A-E3FEB53B7894}"/>
    <dgm:cxn modelId="{DF145D19-EAB3-4A90-B380-5624475A0966}" srcId="{9B36DED9-15DE-420B-BEA4-34E66F255A1C}" destId="{053CDA1D-1D92-48F3-BDC5-96511C662A02}" srcOrd="7" destOrd="0" parTransId="{B179FECF-9DB4-4EC5-9F01-42CFF3D7D361}" sibTransId="{303616E6-8127-4A7C-B4CF-818E94D0DF03}"/>
    <dgm:cxn modelId="{8FA87C6E-5FC0-4550-859F-9A9280BB0429}" srcId="{9B36DED9-15DE-420B-BEA4-34E66F255A1C}" destId="{9B791110-20A9-4638-B5B4-9DCBCB12A17F}" srcOrd="5" destOrd="0" parTransId="{21DED7E4-6F81-4F30-8744-3F89AAD49520}" sibTransId="{3FD3939C-1AE7-465B-9217-8F21E894CE46}"/>
    <dgm:cxn modelId="{B67B822A-323D-4B52-BEB1-5FF7C68181D3}" srcId="{9B36DED9-15DE-420B-BEA4-34E66F255A1C}" destId="{701A6303-F777-4476-999C-A2E8A0EB3543}" srcOrd="3" destOrd="0" parTransId="{31D68EA5-F5D5-4A90-B8FC-0B25BFDB4821}" sibTransId="{A97A953A-268A-4ACD-BD4F-86BE29C840B6}"/>
    <dgm:cxn modelId="{516D5979-6E11-4D42-9DCB-857B626FF700}" type="presOf" srcId="{33841C3F-F3CB-4A49-84D4-AE49C356A841}" destId="{6091481C-7379-417C-A878-C561C76F45B9}" srcOrd="0" destOrd="0" presId="urn:microsoft.com/office/officeart/2008/layout/LinedList"/>
    <dgm:cxn modelId="{5F35EE0D-F0BB-49FB-9AAE-9C21B24EDC70}" srcId="{9B36DED9-15DE-420B-BEA4-34E66F255A1C}" destId="{5DE5BAE0-8B4D-4521-8FA0-F649FA0EAAA5}" srcOrd="9" destOrd="0" parTransId="{03935C50-A2DD-4929-9562-2BE8B0A25910}" sibTransId="{4897EC06-3B81-4E93-A761-960A38413E3C}"/>
    <dgm:cxn modelId="{8338123D-A475-431D-9FFF-DD3CD91C2996}" type="presOf" srcId="{053CDA1D-1D92-48F3-BDC5-96511C662A02}" destId="{51E81579-39ED-4933-AA00-16D0273774FB}" srcOrd="0" destOrd="0" presId="urn:microsoft.com/office/officeart/2008/layout/LinedList"/>
    <dgm:cxn modelId="{838E8BD9-F338-4FDC-8FCE-27D9A5DE8C9D}" type="presOf" srcId="{5DE5BAE0-8B4D-4521-8FA0-F649FA0EAAA5}" destId="{CE154F78-E7BF-4609-AB1B-C34382F2BF6D}" srcOrd="0" destOrd="0" presId="urn:microsoft.com/office/officeart/2008/layout/LinedList"/>
    <dgm:cxn modelId="{2FCEF4AF-5F99-46EF-9737-D36843BB7167}" srcId="{9B36DED9-15DE-420B-BEA4-34E66F255A1C}" destId="{CE09745C-EE11-4545-B545-A593E4DCD4D4}" srcOrd="4" destOrd="0" parTransId="{B5A22B5A-AF64-4992-ABD8-990F29C230AE}" sibTransId="{2A170812-4DE7-44EF-9920-173C21E4CD8A}"/>
    <dgm:cxn modelId="{6BB63437-927A-417B-934B-2C64DB98667A}" type="presOf" srcId="{CE09745C-EE11-4545-B545-A593E4DCD4D4}" destId="{BB3D7C1D-4F08-4C69-9699-F25CA555EC11}" srcOrd="0" destOrd="0" presId="urn:microsoft.com/office/officeart/2008/layout/LinedList"/>
    <dgm:cxn modelId="{6809B1D3-5811-4552-80D2-345853CBF191}" type="presOf" srcId="{9B36DED9-15DE-420B-BEA4-34E66F255A1C}" destId="{AA9D78EA-590E-4EFE-9BD8-5C8166A8CA82}" srcOrd="0" destOrd="0" presId="urn:microsoft.com/office/officeart/2008/layout/LinedList"/>
    <dgm:cxn modelId="{BC0B3EA4-A459-419B-A39E-7A76F8B2AC04}" type="presOf" srcId="{8E9A6ABC-7B20-44D5-9E10-0405B7D14D34}" destId="{0B8B74D9-23D2-43BF-830F-2FD1D5C3E4C1}" srcOrd="0" destOrd="0" presId="urn:microsoft.com/office/officeart/2008/layout/LinedList"/>
    <dgm:cxn modelId="{0944BF00-6ED1-4CF3-A35C-429BC72BB780}" type="presParOf" srcId="{AA9D78EA-590E-4EFE-9BD8-5C8166A8CA82}" destId="{6A2E1D78-7B11-4BE8-B6FD-CA7B504501FE}" srcOrd="0" destOrd="0" presId="urn:microsoft.com/office/officeart/2008/layout/LinedList"/>
    <dgm:cxn modelId="{D1AE29CD-363D-4D02-A0AF-E97F39251437}" type="presParOf" srcId="{AA9D78EA-590E-4EFE-9BD8-5C8166A8CA82}" destId="{10532F16-4649-4DE2-BEBD-2264F971E08B}" srcOrd="1" destOrd="0" presId="urn:microsoft.com/office/officeart/2008/layout/LinedList"/>
    <dgm:cxn modelId="{905F9231-FCC6-473B-870C-2D90FB45C58C}" type="presParOf" srcId="{10532F16-4649-4DE2-BEBD-2264F971E08B}" destId="{0B8B74D9-23D2-43BF-830F-2FD1D5C3E4C1}" srcOrd="0" destOrd="0" presId="urn:microsoft.com/office/officeart/2008/layout/LinedList"/>
    <dgm:cxn modelId="{BAA29958-66A9-4AB3-93E0-288E9408D4C6}" type="presParOf" srcId="{10532F16-4649-4DE2-BEBD-2264F971E08B}" destId="{AC9C8DC1-4DDA-42EE-A4F1-E009FF5F4CD4}" srcOrd="1" destOrd="0" presId="urn:microsoft.com/office/officeart/2008/layout/LinedList"/>
    <dgm:cxn modelId="{A623867B-8F82-4C0B-A532-1A5D83E11B84}" type="presParOf" srcId="{AA9D78EA-590E-4EFE-9BD8-5C8166A8CA82}" destId="{4D895B76-3090-42EF-8E31-BD9FCEB7B9BA}" srcOrd="2" destOrd="0" presId="urn:microsoft.com/office/officeart/2008/layout/LinedList"/>
    <dgm:cxn modelId="{3542CA80-FF08-4E69-A9E9-ECC3A4F19BBC}" type="presParOf" srcId="{AA9D78EA-590E-4EFE-9BD8-5C8166A8CA82}" destId="{1262824F-DF3C-4B1A-A4F0-5191E27077AB}" srcOrd="3" destOrd="0" presId="urn:microsoft.com/office/officeart/2008/layout/LinedList"/>
    <dgm:cxn modelId="{B284776C-F5D5-4CEC-B297-CE1A1EE21FBD}" type="presParOf" srcId="{1262824F-DF3C-4B1A-A4F0-5191E27077AB}" destId="{FACAD5AC-D9C7-42B6-BE2F-FE824B822F65}" srcOrd="0" destOrd="0" presId="urn:microsoft.com/office/officeart/2008/layout/LinedList"/>
    <dgm:cxn modelId="{2499BF54-879F-4A61-96D7-796BFA05D1D2}" type="presParOf" srcId="{1262824F-DF3C-4B1A-A4F0-5191E27077AB}" destId="{09F1F585-8ACF-4808-B0BD-63827A11E860}" srcOrd="1" destOrd="0" presId="urn:microsoft.com/office/officeart/2008/layout/LinedList"/>
    <dgm:cxn modelId="{13BEFD3E-7B3A-49E9-ADA8-4119D6438131}" type="presParOf" srcId="{AA9D78EA-590E-4EFE-9BD8-5C8166A8CA82}" destId="{54A540A8-36B8-4A41-9709-AABCA9F76E2A}" srcOrd="4" destOrd="0" presId="urn:microsoft.com/office/officeart/2008/layout/LinedList"/>
    <dgm:cxn modelId="{32EC08D9-30DA-4F3A-846D-6C06F0576395}" type="presParOf" srcId="{AA9D78EA-590E-4EFE-9BD8-5C8166A8CA82}" destId="{F0AE63D0-3C40-43D4-A953-44F7DA16B27E}" srcOrd="5" destOrd="0" presId="urn:microsoft.com/office/officeart/2008/layout/LinedList"/>
    <dgm:cxn modelId="{8267B688-157F-470C-87C3-697ED90D757F}" type="presParOf" srcId="{F0AE63D0-3C40-43D4-A953-44F7DA16B27E}" destId="{A63D66D9-FB2E-4752-93A0-B4517D4BBDD2}" srcOrd="0" destOrd="0" presId="urn:microsoft.com/office/officeart/2008/layout/LinedList"/>
    <dgm:cxn modelId="{DB5EA244-D371-4898-9DC4-5A2148153ABC}" type="presParOf" srcId="{F0AE63D0-3C40-43D4-A953-44F7DA16B27E}" destId="{67B46342-6B15-4868-81BA-2AEB77EC34CE}" srcOrd="1" destOrd="0" presId="urn:microsoft.com/office/officeart/2008/layout/LinedList"/>
    <dgm:cxn modelId="{D7727DCE-5F76-43EC-9F4E-19B382715057}" type="presParOf" srcId="{AA9D78EA-590E-4EFE-9BD8-5C8166A8CA82}" destId="{757AD5A5-3350-41AE-8952-B39C90F573AD}" srcOrd="6" destOrd="0" presId="urn:microsoft.com/office/officeart/2008/layout/LinedList"/>
    <dgm:cxn modelId="{DDBEC644-0997-4E24-B513-2105B68929F8}" type="presParOf" srcId="{AA9D78EA-590E-4EFE-9BD8-5C8166A8CA82}" destId="{FD2B2C8C-73C1-4257-BBFA-3AB70B02E9B0}" srcOrd="7" destOrd="0" presId="urn:microsoft.com/office/officeart/2008/layout/LinedList"/>
    <dgm:cxn modelId="{481F1A4B-A016-483B-933B-3236DA154605}" type="presParOf" srcId="{FD2B2C8C-73C1-4257-BBFA-3AB70B02E9B0}" destId="{06CEE057-7824-4CE4-A564-EC6E94EC5296}" srcOrd="0" destOrd="0" presId="urn:microsoft.com/office/officeart/2008/layout/LinedList"/>
    <dgm:cxn modelId="{F2366E26-2A4F-408C-8773-3E241B74BD6F}" type="presParOf" srcId="{FD2B2C8C-73C1-4257-BBFA-3AB70B02E9B0}" destId="{04037A53-9407-4EA7-B4EA-BDFF855717F0}" srcOrd="1" destOrd="0" presId="urn:microsoft.com/office/officeart/2008/layout/LinedList"/>
    <dgm:cxn modelId="{BCFE9381-4271-4EFF-A2E5-C0DC732172FE}" type="presParOf" srcId="{AA9D78EA-590E-4EFE-9BD8-5C8166A8CA82}" destId="{7C2DEB42-8EAB-421E-9A44-7B06281CC9A2}" srcOrd="8" destOrd="0" presId="urn:microsoft.com/office/officeart/2008/layout/LinedList"/>
    <dgm:cxn modelId="{7DB0F029-E1F2-4D97-98A0-9800B9FFB746}" type="presParOf" srcId="{AA9D78EA-590E-4EFE-9BD8-5C8166A8CA82}" destId="{ACDF3229-53F9-4214-AC24-A89743BF8C7E}" srcOrd="9" destOrd="0" presId="urn:microsoft.com/office/officeart/2008/layout/LinedList"/>
    <dgm:cxn modelId="{79229900-2699-45E2-8553-801FDD51A3E6}" type="presParOf" srcId="{ACDF3229-53F9-4214-AC24-A89743BF8C7E}" destId="{BB3D7C1D-4F08-4C69-9699-F25CA555EC11}" srcOrd="0" destOrd="0" presId="urn:microsoft.com/office/officeart/2008/layout/LinedList"/>
    <dgm:cxn modelId="{EDF2B6CE-02CE-4A10-8CFF-88014B8AA6F5}" type="presParOf" srcId="{ACDF3229-53F9-4214-AC24-A89743BF8C7E}" destId="{E06D3C92-7094-48BD-B3F6-41FFAB4E9952}" srcOrd="1" destOrd="0" presId="urn:microsoft.com/office/officeart/2008/layout/LinedList"/>
    <dgm:cxn modelId="{918AB8BA-47C7-4F71-9E2A-B7DDB22B537A}" type="presParOf" srcId="{AA9D78EA-590E-4EFE-9BD8-5C8166A8CA82}" destId="{DED1FC10-20A0-41C4-ACAC-B7BF20911936}" srcOrd="10" destOrd="0" presId="urn:microsoft.com/office/officeart/2008/layout/LinedList"/>
    <dgm:cxn modelId="{A2708D0D-A0FE-4AE6-98F6-88DC9830C424}" type="presParOf" srcId="{AA9D78EA-590E-4EFE-9BD8-5C8166A8CA82}" destId="{CD0BB198-1CE7-4128-9A77-DA3F55A7D46A}" srcOrd="11" destOrd="0" presId="urn:microsoft.com/office/officeart/2008/layout/LinedList"/>
    <dgm:cxn modelId="{B5C5B1B5-FC37-4180-92A5-55E33E7A0208}" type="presParOf" srcId="{CD0BB198-1CE7-4128-9A77-DA3F55A7D46A}" destId="{0CEED634-DDCF-41A1-A6D2-FEB0E3D2F399}" srcOrd="0" destOrd="0" presId="urn:microsoft.com/office/officeart/2008/layout/LinedList"/>
    <dgm:cxn modelId="{900D6EDC-1FE2-491B-91BE-1B76429EAB85}" type="presParOf" srcId="{CD0BB198-1CE7-4128-9A77-DA3F55A7D46A}" destId="{14F7F116-BB7F-482C-BD36-C4622548686E}" srcOrd="1" destOrd="0" presId="urn:microsoft.com/office/officeart/2008/layout/LinedList"/>
    <dgm:cxn modelId="{37CB1C44-6960-4EBC-B4CF-ADC184C33BD8}" type="presParOf" srcId="{AA9D78EA-590E-4EFE-9BD8-5C8166A8CA82}" destId="{2EB1C913-800D-4E91-9354-ADE5C94BC82C}" srcOrd="12" destOrd="0" presId="urn:microsoft.com/office/officeart/2008/layout/LinedList"/>
    <dgm:cxn modelId="{3884BCB2-A8FB-4C85-8243-68F97B01CEC9}" type="presParOf" srcId="{AA9D78EA-590E-4EFE-9BD8-5C8166A8CA82}" destId="{73D225C9-1E34-46A6-8124-01B5F767D38C}" srcOrd="13" destOrd="0" presId="urn:microsoft.com/office/officeart/2008/layout/LinedList"/>
    <dgm:cxn modelId="{228CC1C7-0D8A-41EB-A0EC-DCD0F03FB031}" type="presParOf" srcId="{73D225C9-1E34-46A6-8124-01B5F767D38C}" destId="{6091481C-7379-417C-A878-C561C76F45B9}" srcOrd="0" destOrd="0" presId="urn:microsoft.com/office/officeart/2008/layout/LinedList"/>
    <dgm:cxn modelId="{4113F58E-DC95-4F18-8C3F-F1E30B9E169B}" type="presParOf" srcId="{73D225C9-1E34-46A6-8124-01B5F767D38C}" destId="{C44394E7-F8F4-4690-8BA5-81A5563C2E04}" srcOrd="1" destOrd="0" presId="urn:microsoft.com/office/officeart/2008/layout/LinedList"/>
    <dgm:cxn modelId="{D3BBAB61-1837-42A8-A498-C1DA3BA6B92E}" type="presParOf" srcId="{AA9D78EA-590E-4EFE-9BD8-5C8166A8CA82}" destId="{0E034701-BDCA-406E-A2C8-BC554265F712}" srcOrd="14" destOrd="0" presId="urn:microsoft.com/office/officeart/2008/layout/LinedList"/>
    <dgm:cxn modelId="{64FE1D4E-F372-427C-8405-981D6C072426}" type="presParOf" srcId="{AA9D78EA-590E-4EFE-9BD8-5C8166A8CA82}" destId="{18EE5778-E467-48BF-A20E-F6AABB18F20B}" srcOrd="15" destOrd="0" presId="urn:microsoft.com/office/officeart/2008/layout/LinedList"/>
    <dgm:cxn modelId="{A19979A8-7E0A-4382-ACC3-280F038A8E8E}" type="presParOf" srcId="{18EE5778-E467-48BF-A20E-F6AABB18F20B}" destId="{51E81579-39ED-4933-AA00-16D0273774FB}" srcOrd="0" destOrd="0" presId="urn:microsoft.com/office/officeart/2008/layout/LinedList"/>
    <dgm:cxn modelId="{74403665-24AE-4B19-BE92-398FA8A789AD}" type="presParOf" srcId="{18EE5778-E467-48BF-A20E-F6AABB18F20B}" destId="{003761AA-84A2-4C9F-81DE-9389AC686ADD}" srcOrd="1" destOrd="0" presId="urn:microsoft.com/office/officeart/2008/layout/LinedList"/>
    <dgm:cxn modelId="{3B61F95D-5D2A-4A68-AC70-144522587916}" type="presParOf" srcId="{AA9D78EA-590E-4EFE-9BD8-5C8166A8CA82}" destId="{28317BC9-6771-4849-829B-C4FEA253AF5B}" srcOrd="16" destOrd="0" presId="urn:microsoft.com/office/officeart/2008/layout/LinedList"/>
    <dgm:cxn modelId="{0190AD72-DA96-4BD6-96F1-5F767F8330DD}" type="presParOf" srcId="{AA9D78EA-590E-4EFE-9BD8-5C8166A8CA82}" destId="{07EC26D1-CB99-4E5D-AEEF-B465AAB4BFEE}" srcOrd="17" destOrd="0" presId="urn:microsoft.com/office/officeart/2008/layout/LinedList"/>
    <dgm:cxn modelId="{7CC37EDB-006A-4F25-A27A-CE3BFE1CD3FE}" type="presParOf" srcId="{07EC26D1-CB99-4E5D-AEEF-B465AAB4BFEE}" destId="{9B6FE461-A823-4226-B5FE-3DE5DA3CD9F3}" srcOrd="0" destOrd="0" presId="urn:microsoft.com/office/officeart/2008/layout/LinedList"/>
    <dgm:cxn modelId="{1A49E6CC-0E17-4F04-967D-D7B04CD8342B}" type="presParOf" srcId="{07EC26D1-CB99-4E5D-AEEF-B465AAB4BFEE}" destId="{DE59CDAE-D879-4E39-A7ED-7F7365EEA3A2}" srcOrd="1" destOrd="0" presId="urn:microsoft.com/office/officeart/2008/layout/LinedList"/>
    <dgm:cxn modelId="{591C150C-5CCF-424E-80C1-E97C28D688DA}" type="presParOf" srcId="{AA9D78EA-590E-4EFE-9BD8-5C8166A8CA82}" destId="{E5462ED0-1D4B-4198-918B-9009D09B49C7}" srcOrd="18" destOrd="0" presId="urn:microsoft.com/office/officeart/2008/layout/LinedList"/>
    <dgm:cxn modelId="{BE741A63-54C7-45B0-A393-71195584D2C0}" type="presParOf" srcId="{AA9D78EA-590E-4EFE-9BD8-5C8166A8CA82}" destId="{D337647A-D956-477D-A474-DEEF5E823BA0}" srcOrd="19" destOrd="0" presId="urn:microsoft.com/office/officeart/2008/layout/LinedList"/>
    <dgm:cxn modelId="{E313188C-FFA1-438E-B6CA-678C046AD4B6}" type="presParOf" srcId="{D337647A-D956-477D-A474-DEEF5E823BA0}" destId="{CE154F78-E7BF-4609-AB1B-C34382F2BF6D}" srcOrd="0" destOrd="0" presId="urn:microsoft.com/office/officeart/2008/layout/LinedList"/>
    <dgm:cxn modelId="{E818A064-D43E-45CD-AD8A-DE0BB1E7BC05}" type="presParOf" srcId="{D337647A-D956-477D-A474-DEEF5E823BA0}" destId="{0D298996-167A-4425-BDD2-BA00159F3197}"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51661CB-2A57-4FEA-BB74-0E45CE0FAA9A}">
      <dsp:nvSpPr>
        <dsp:cNvPr id="0" name=""/>
        <dsp:cNvSpPr/>
      </dsp:nvSpPr>
      <dsp:spPr>
        <a:xfrm>
          <a:off x="-47898" y="10884"/>
          <a:ext cx="7060095" cy="160897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D9B6CC9-1962-4B2B-9AA2-196AFD2A257D}">
      <dsp:nvSpPr>
        <dsp:cNvPr id="0" name=""/>
        <dsp:cNvSpPr/>
      </dsp:nvSpPr>
      <dsp:spPr>
        <a:xfrm>
          <a:off x="438817" y="372904"/>
          <a:ext cx="886668" cy="88493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xmlns=""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AD7E14D-5667-4892-9ED0-E96373B9B3D0}">
      <dsp:nvSpPr>
        <dsp:cNvPr id="0" name=""/>
        <dsp:cNvSpPr/>
      </dsp:nvSpPr>
      <dsp:spPr>
        <a:xfrm>
          <a:off x="1746557" y="10884"/>
          <a:ext cx="5178962" cy="16105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0450" tIns="170450" rIns="170450" bIns="170450" numCol="1" spcCol="1270" anchor="ctr" anchorCtr="0">
          <a:noAutofit/>
        </a:bodyPr>
        <a:lstStyle/>
        <a:p>
          <a:pPr lvl="0" algn="l" defTabSz="622300">
            <a:lnSpc>
              <a:spcPct val="100000"/>
            </a:lnSpc>
            <a:spcBef>
              <a:spcPct val="0"/>
            </a:spcBef>
            <a:spcAft>
              <a:spcPct val="35000"/>
            </a:spcAft>
          </a:pPr>
          <a:r>
            <a:rPr lang="en-US" sz="1400" kern="1200" dirty="0">
              <a:latin typeface="Times New Roman" panose="02020603050405020304" pitchFamily="18" charset="0"/>
              <a:cs typeface="Times New Roman" panose="02020603050405020304" pitchFamily="18" charset="0"/>
            </a:rPr>
            <a:t>Catering Services is an event management company within the university, specializing in the food supply chain and organizing various events. To efficiently manage its operations, a comprehensive database is required to track and store information related to events, employees, managers, schedules, and inventory. The current focus of this project is on managing events and scheduling employees for these events. </a:t>
          </a:r>
        </a:p>
      </dsp:txBody>
      <dsp:txXfrm>
        <a:off x="1746557" y="10884"/>
        <a:ext cx="5178962" cy="1610550"/>
      </dsp:txXfrm>
    </dsp:sp>
    <dsp:sp modelId="{1F91641B-A13C-42B1-89F9-AAC03F0E8B5D}">
      <dsp:nvSpPr>
        <dsp:cNvPr id="0" name=""/>
        <dsp:cNvSpPr/>
      </dsp:nvSpPr>
      <dsp:spPr>
        <a:xfrm>
          <a:off x="-47898" y="1978406"/>
          <a:ext cx="7060095" cy="160897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57F9AFC-99E0-4177-9AE4-19E656A85692}">
      <dsp:nvSpPr>
        <dsp:cNvPr id="0" name=""/>
        <dsp:cNvSpPr/>
      </dsp:nvSpPr>
      <dsp:spPr>
        <a:xfrm>
          <a:off x="438817" y="2340426"/>
          <a:ext cx="886668" cy="88493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xmlns=""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2587147-8765-4925-BCDD-6D2222D799A9}">
      <dsp:nvSpPr>
        <dsp:cNvPr id="0" name=""/>
        <dsp:cNvSpPr/>
      </dsp:nvSpPr>
      <dsp:spPr>
        <a:xfrm>
          <a:off x="1812202" y="1978406"/>
          <a:ext cx="5047672" cy="16105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0450" tIns="170450" rIns="170450" bIns="170450" numCol="1" spcCol="1270" anchor="ctr" anchorCtr="0">
          <a:noAutofit/>
        </a:bodyPr>
        <a:lstStyle/>
        <a:p>
          <a:pPr lvl="0" algn="l" defTabSz="622300">
            <a:lnSpc>
              <a:spcPct val="100000"/>
            </a:lnSpc>
            <a:spcBef>
              <a:spcPct val="0"/>
            </a:spcBef>
            <a:spcAft>
              <a:spcPct val="35000"/>
            </a:spcAft>
          </a:pPr>
          <a:r>
            <a:rPr lang="en-US" sz="1400" kern="1200" dirty="0">
              <a:latin typeface="Times New Roman" panose="02020603050405020304" pitchFamily="18" charset="0"/>
              <a:cs typeface="Times New Roman" panose="02020603050405020304" pitchFamily="18" charset="0"/>
            </a:rPr>
            <a:t>It manages diverse university events, including daily food supplies to cafés, meetings, gatherings, and sports events, making it impractical to manage all this data through Excel spreadsheets.</a:t>
          </a:r>
        </a:p>
      </dsp:txBody>
      <dsp:txXfrm>
        <a:off x="1812202" y="1978406"/>
        <a:ext cx="5047672" cy="1610550"/>
      </dsp:txXfrm>
    </dsp:sp>
    <dsp:sp modelId="{B5F74864-9276-4C15-A954-6EC223DB8EED}">
      <dsp:nvSpPr>
        <dsp:cNvPr id="0" name=""/>
        <dsp:cNvSpPr/>
      </dsp:nvSpPr>
      <dsp:spPr>
        <a:xfrm>
          <a:off x="-47898" y="3945927"/>
          <a:ext cx="7060095" cy="160897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C635E31-0421-498B-8B95-70BA9CB188AC}">
      <dsp:nvSpPr>
        <dsp:cNvPr id="0" name=""/>
        <dsp:cNvSpPr/>
      </dsp:nvSpPr>
      <dsp:spPr>
        <a:xfrm>
          <a:off x="438817" y="4307947"/>
          <a:ext cx="886668" cy="884937"/>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xmlns=""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04C216A-0D98-4225-9523-4668F756007F}">
      <dsp:nvSpPr>
        <dsp:cNvPr id="0" name=""/>
        <dsp:cNvSpPr/>
      </dsp:nvSpPr>
      <dsp:spPr>
        <a:xfrm>
          <a:off x="1564083" y="3945927"/>
          <a:ext cx="5543909" cy="16105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0450" tIns="170450" rIns="170450" bIns="170450" numCol="1" spcCol="1270" anchor="ctr" anchorCtr="0">
          <a:noAutofit/>
        </a:bodyPr>
        <a:lstStyle/>
        <a:p>
          <a:pPr lvl="0" algn="l" defTabSz="622300">
            <a:lnSpc>
              <a:spcPct val="100000"/>
            </a:lnSpc>
            <a:spcBef>
              <a:spcPct val="0"/>
            </a:spcBef>
            <a:spcAft>
              <a:spcPct val="35000"/>
            </a:spcAft>
          </a:pPr>
          <a:r>
            <a:rPr lang="en-US" sz="1400" kern="1200" dirty="0">
              <a:latin typeface="Times New Roman" panose="02020603050405020304" pitchFamily="18" charset="0"/>
              <a:cs typeface="Times New Roman" panose="02020603050405020304" pitchFamily="18" charset="0"/>
            </a:rPr>
            <a:t>The purpose of the database is to provide a user-friendly system that offers clear visibility into employee assignments, event locations, and schedules. The database captures key details such as employee roles (managers, supervisors, full-time, part-time) and allows supervisors to organize events, determine staffing needs, and manage food supplies. Additionally, managers use the system to manage payroll and distribute coupons based on employees' working hours.</a:t>
          </a:r>
        </a:p>
      </dsp:txBody>
      <dsp:txXfrm>
        <a:off x="1564083" y="3945927"/>
        <a:ext cx="5543909" cy="161055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42671E6-80E2-48EB-8067-9EB5F22F0189}">
      <dsp:nvSpPr>
        <dsp:cNvPr id="0" name=""/>
        <dsp:cNvSpPr/>
      </dsp:nvSpPr>
      <dsp:spPr>
        <a:xfrm>
          <a:off x="0" y="2839"/>
          <a:ext cx="10515600" cy="132779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FF3ED29-FB4F-4FB7-943E-8E36ACAEB7B6}">
      <dsp:nvSpPr>
        <dsp:cNvPr id="0" name=""/>
        <dsp:cNvSpPr/>
      </dsp:nvSpPr>
      <dsp:spPr>
        <a:xfrm>
          <a:off x="401658" y="301593"/>
          <a:ext cx="730287" cy="73028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xmlns=""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AC58218-77FB-4ABD-9AB5-E52C5931721E}">
      <dsp:nvSpPr>
        <dsp:cNvPr id="0" name=""/>
        <dsp:cNvSpPr/>
      </dsp:nvSpPr>
      <dsp:spPr>
        <a:xfrm>
          <a:off x="1533603" y="2839"/>
          <a:ext cx="8980497" cy="13277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0525" tIns="140525" rIns="140525" bIns="140525" numCol="1" spcCol="1270" anchor="ctr" anchorCtr="0">
          <a:noAutofit/>
        </a:bodyPr>
        <a:lstStyle/>
        <a:p>
          <a:pPr lvl="0" algn="l" defTabSz="1022350">
            <a:lnSpc>
              <a:spcPct val="100000"/>
            </a:lnSpc>
            <a:spcBef>
              <a:spcPct val="0"/>
            </a:spcBef>
            <a:spcAft>
              <a:spcPct val="35000"/>
            </a:spcAft>
          </a:pPr>
          <a:r>
            <a:rPr lang="en-US" sz="2300" kern="1200" dirty="0">
              <a:latin typeface="Times New Roman" panose="02020603050405020304" pitchFamily="18" charset="0"/>
              <a:cs typeface="Times New Roman" panose="02020603050405020304" pitchFamily="18" charset="0"/>
            </a:rPr>
            <a:t>The database will store critical information about the company’s operations, including proprietary data related to events, employee management, food inventory, and payroll</a:t>
          </a:r>
          <a:r>
            <a:rPr lang="en-US" sz="2300" kern="1200" dirty="0"/>
            <a:t>.</a:t>
          </a:r>
        </a:p>
      </dsp:txBody>
      <dsp:txXfrm>
        <a:off x="1533603" y="2839"/>
        <a:ext cx="8980497" cy="1327795"/>
      </dsp:txXfrm>
    </dsp:sp>
    <dsp:sp modelId="{ABEC4962-61B3-4709-BE60-3F5FFEBCEEBE}">
      <dsp:nvSpPr>
        <dsp:cNvPr id="0" name=""/>
        <dsp:cNvSpPr/>
      </dsp:nvSpPr>
      <dsp:spPr>
        <a:xfrm>
          <a:off x="0" y="1662583"/>
          <a:ext cx="10515600" cy="132779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F7386B4-F08D-45A4-AF2C-4F8C3B444593}">
      <dsp:nvSpPr>
        <dsp:cNvPr id="0" name=""/>
        <dsp:cNvSpPr/>
      </dsp:nvSpPr>
      <dsp:spPr>
        <a:xfrm>
          <a:off x="401658" y="1961337"/>
          <a:ext cx="730287" cy="730287"/>
        </a:xfrm>
        <a:prstGeom prst="rect">
          <a:avLst/>
        </a:prstGeom>
        <a:blipFill>
          <a:blip xmlns:r="http://schemas.openxmlformats.org/officeDocument/2006/relationships" r:embed="rId3" cstate="hqprint">
            <a:extLst>
              <a:ext uri="{28A0092B-C50C-407E-A947-70E740481C1C}">
                <a14:useLocalDpi xmlns:a14="http://schemas.microsoft.com/office/drawing/2010/main" val="0"/>
              </a:ext>
              <a:ext uri="{96DAC541-7B7A-43D3-8B79-37D633B846F1}">
                <asvg:svgBlip xmlns:asvg="http://schemas.microsoft.com/office/drawing/2016/SVG/main" xmlns="" r:embed="rId4"/>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4B19522-B1EE-4698-B330-CDF5AF20BCE9}">
      <dsp:nvSpPr>
        <dsp:cNvPr id="0" name=""/>
        <dsp:cNvSpPr/>
      </dsp:nvSpPr>
      <dsp:spPr>
        <a:xfrm>
          <a:off x="1533603" y="1662583"/>
          <a:ext cx="4732020" cy="13277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0525" tIns="140525" rIns="140525" bIns="140525" numCol="1" spcCol="1270" anchor="ctr" anchorCtr="0">
          <a:noAutofit/>
        </a:bodyPr>
        <a:lstStyle/>
        <a:p>
          <a:pPr lvl="0" algn="l" defTabSz="1022350">
            <a:lnSpc>
              <a:spcPct val="100000"/>
            </a:lnSpc>
            <a:spcBef>
              <a:spcPct val="0"/>
            </a:spcBef>
            <a:spcAft>
              <a:spcPct val="35000"/>
            </a:spcAft>
          </a:pPr>
          <a:r>
            <a:rPr lang="en-US" sz="2300" kern="1200" dirty="0">
              <a:latin typeface="Times New Roman" panose="02020603050405020304" pitchFamily="18" charset="0"/>
              <a:cs typeface="Times New Roman" panose="02020603050405020304" pitchFamily="18" charset="0"/>
            </a:rPr>
            <a:t>It will serve as the central hub for organizing and managing</a:t>
          </a:r>
          <a:r>
            <a:rPr lang="en-US" sz="2300" kern="1200" dirty="0"/>
            <a:t>:</a:t>
          </a:r>
        </a:p>
      </dsp:txBody>
      <dsp:txXfrm>
        <a:off x="1533603" y="1662583"/>
        <a:ext cx="4732020" cy="1327795"/>
      </dsp:txXfrm>
    </dsp:sp>
    <dsp:sp modelId="{219BF0EC-3478-4144-867D-30D843CFB0ED}">
      <dsp:nvSpPr>
        <dsp:cNvPr id="0" name=""/>
        <dsp:cNvSpPr/>
      </dsp:nvSpPr>
      <dsp:spPr>
        <a:xfrm>
          <a:off x="6265623" y="1662583"/>
          <a:ext cx="4248477" cy="13277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0525" tIns="140525" rIns="140525" bIns="140525" numCol="1" spcCol="1270" anchor="ctr" anchorCtr="0">
          <a:noAutofit/>
        </a:bodyPr>
        <a:lstStyle/>
        <a:p>
          <a:pPr lvl="0" algn="l" defTabSz="488950">
            <a:lnSpc>
              <a:spcPct val="100000"/>
            </a:lnSpc>
            <a:spcBef>
              <a:spcPct val="0"/>
            </a:spcBef>
            <a:spcAft>
              <a:spcPct val="35000"/>
            </a:spcAft>
          </a:pPr>
          <a:r>
            <a:rPr lang="en-US" sz="1100" kern="1200" dirty="0">
              <a:latin typeface="Times New Roman" panose="02020603050405020304" pitchFamily="18" charset="0"/>
              <a:cs typeface="Times New Roman" panose="02020603050405020304" pitchFamily="18" charset="0"/>
            </a:rPr>
            <a:t>Employee information (including classifications such as part-time, full-time, supervisors, and non-supervisors)</a:t>
          </a:r>
        </a:p>
        <a:p>
          <a:pPr lvl="0" algn="l" defTabSz="488950">
            <a:lnSpc>
              <a:spcPct val="100000"/>
            </a:lnSpc>
            <a:spcBef>
              <a:spcPct val="0"/>
            </a:spcBef>
            <a:spcAft>
              <a:spcPct val="35000"/>
            </a:spcAft>
          </a:pPr>
          <a:r>
            <a:rPr lang="en-US" sz="1100" kern="1200" dirty="0">
              <a:latin typeface="Times New Roman" panose="02020603050405020304" pitchFamily="18" charset="0"/>
              <a:cs typeface="Times New Roman" panose="02020603050405020304" pitchFamily="18" charset="0"/>
            </a:rPr>
            <a:t>Event scheduling and employee assignments to events</a:t>
          </a:r>
        </a:p>
        <a:p>
          <a:pPr lvl="0" algn="l" defTabSz="488950">
            <a:lnSpc>
              <a:spcPct val="100000"/>
            </a:lnSpc>
            <a:spcBef>
              <a:spcPct val="0"/>
            </a:spcBef>
            <a:spcAft>
              <a:spcPct val="35000"/>
            </a:spcAft>
          </a:pPr>
          <a:r>
            <a:rPr lang="en-US" sz="1100" kern="1200" dirty="0">
              <a:latin typeface="Times New Roman" panose="02020603050405020304" pitchFamily="18" charset="0"/>
              <a:cs typeface="Times New Roman" panose="02020603050405020304" pitchFamily="18" charset="0"/>
            </a:rPr>
            <a:t>Food supply management and menu planning</a:t>
          </a:r>
        </a:p>
        <a:p>
          <a:pPr lvl="0" algn="l" defTabSz="488950">
            <a:lnSpc>
              <a:spcPct val="100000"/>
            </a:lnSpc>
            <a:spcBef>
              <a:spcPct val="0"/>
            </a:spcBef>
            <a:spcAft>
              <a:spcPct val="35000"/>
            </a:spcAft>
          </a:pPr>
          <a:r>
            <a:rPr lang="en-US" sz="1100" kern="1200" dirty="0">
              <a:latin typeface="Times New Roman" panose="02020603050405020304" pitchFamily="18" charset="0"/>
              <a:cs typeface="Times New Roman" panose="02020603050405020304" pitchFamily="18" charset="0"/>
            </a:rPr>
            <a:t>Payroll and coupon distribution for employees based on their hours worked.</a:t>
          </a:r>
        </a:p>
      </dsp:txBody>
      <dsp:txXfrm>
        <a:off x="6265623" y="1662583"/>
        <a:ext cx="4248477" cy="1327795"/>
      </dsp:txXfrm>
    </dsp:sp>
    <dsp:sp modelId="{911115D0-82E8-4E2F-B293-910B48B46228}">
      <dsp:nvSpPr>
        <dsp:cNvPr id="0" name=""/>
        <dsp:cNvSpPr/>
      </dsp:nvSpPr>
      <dsp:spPr>
        <a:xfrm>
          <a:off x="0" y="3322328"/>
          <a:ext cx="10515600" cy="132779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8F54F46-A001-4631-963D-EC41B9BA1BCE}">
      <dsp:nvSpPr>
        <dsp:cNvPr id="0" name=""/>
        <dsp:cNvSpPr/>
      </dsp:nvSpPr>
      <dsp:spPr>
        <a:xfrm>
          <a:off x="401658" y="3621082"/>
          <a:ext cx="730287" cy="730287"/>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xmlns="" r:embed="rId6"/>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14CDBBB-137F-40E9-9C8A-45E69AC257AD}">
      <dsp:nvSpPr>
        <dsp:cNvPr id="0" name=""/>
        <dsp:cNvSpPr/>
      </dsp:nvSpPr>
      <dsp:spPr>
        <a:xfrm>
          <a:off x="1533603" y="3322328"/>
          <a:ext cx="8980497" cy="13277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0525" tIns="140525" rIns="140525" bIns="140525" numCol="1" spcCol="1270" anchor="ctr" anchorCtr="0">
          <a:noAutofit/>
        </a:bodyPr>
        <a:lstStyle/>
        <a:p>
          <a:pPr lvl="0" algn="l" defTabSz="1022350">
            <a:lnSpc>
              <a:spcPct val="100000"/>
            </a:lnSpc>
            <a:spcBef>
              <a:spcPct val="0"/>
            </a:spcBef>
            <a:spcAft>
              <a:spcPct val="35000"/>
            </a:spcAft>
          </a:pPr>
          <a:r>
            <a:rPr lang="en-US" sz="2300" kern="1200" dirty="0">
              <a:latin typeface="Times New Roman" panose="02020603050405020304" pitchFamily="18" charset="0"/>
              <a:cs typeface="Times New Roman" panose="02020603050405020304" pitchFamily="18" charset="0"/>
            </a:rPr>
            <a:t>The database will ensure that all events held across various university locations are efficiently tracked and managed</a:t>
          </a:r>
          <a:r>
            <a:rPr lang="en-US" sz="2300" kern="1200" dirty="0"/>
            <a:t>.</a:t>
          </a:r>
        </a:p>
      </dsp:txBody>
      <dsp:txXfrm>
        <a:off x="1533603" y="3322328"/>
        <a:ext cx="8980497" cy="132779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A2E1D78-7B11-4BE8-B6FD-CA7B504501FE}">
      <dsp:nvSpPr>
        <dsp:cNvPr id="0" name=""/>
        <dsp:cNvSpPr/>
      </dsp:nvSpPr>
      <dsp:spPr>
        <a:xfrm>
          <a:off x="0" y="679"/>
          <a:ext cx="8273142"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B8B74D9-23D2-43BF-830F-2FD1D5C3E4C1}">
      <dsp:nvSpPr>
        <dsp:cNvPr id="0" name=""/>
        <dsp:cNvSpPr/>
      </dsp:nvSpPr>
      <dsp:spPr>
        <a:xfrm>
          <a:off x="0" y="679"/>
          <a:ext cx="8273142" cy="5566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lvl="0" algn="l" defTabSz="1066800">
            <a:lnSpc>
              <a:spcPct val="90000"/>
            </a:lnSpc>
            <a:spcBef>
              <a:spcPct val="0"/>
            </a:spcBef>
            <a:spcAft>
              <a:spcPct val="35000"/>
            </a:spcAft>
          </a:pPr>
          <a:r>
            <a:rPr lang="en-US" sz="2400" kern="1200" dirty="0">
              <a:latin typeface="Times New Roman" panose="02020603050405020304" pitchFamily="18" charset="0"/>
              <a:cs typeface="Times New Roman" panose="02020603050405020304" pitchFamily="18" charset="0"/>
            </a:rPr>
            <a:t>1. Manager can only add or drop Events</a:t>
          </a:r>
        </a:p>
      </dsp:txBody>
      <dsp:txXfrm>
        <a:off x="0" y="679"/>
        <a:ext cx="8273142" cy="556600"/>
      </dsp:txXfrm>
    </dsp:sp>
    <dsp:sp modelId="{4D895B76-3090-42EF-8E31-BD9FCEB7B9BA}">
      <dsp:nvSpPr>
        <dsp:cNvPr id="0" name=""/>
        <dsp:cNvSpPr/>
      </dsp:nvSpPr>
      <dsp:spPr>
        <a:xfrm>
          <a:off x="0" y="557279"/>
          <a:ext cx="8273142" cy="0"/>
        </a:xfrm>
        <a:prstGeom prst="line">
          <a:avLst/>
        </a:prstGeom>
        <a:solidFill>
          <a:schemeClr val="accent2">
            <a:hueOff val="-168048"/>
            <a:satOff val="475"/>
            <a:lumOff val="501"/>
            <a:alphaOff val="0"/>
          </a:schemeClr>
        </a:solidFill>
        <a:ln w="12700" cap="flat" cmpd="sng" algn="ctr">
          <a:solidFill>
            <a:schemeClr val="accent2">
              <a:hueOff val="-168048"/>
              <a:satOff val="475"/>
              <a:lumOff val="501"/>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ACAD5AC-D9C7-42B6-BE2F-FE824B822F65}">
      <dsp:nvSpPr>
        <dsp:cNvPr id="0" name=""/>
        <dsp:cNvSpPr/>
      </dsp:nvSpPr>
      <dsp:spPr>
        <a:xfrm>
          <a:off x="0" y="557279"/>
          <a:ext cx="8273142" cy="5566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lvl="0" algn="l" defTabSz="1066800">
            <a:lnSpc>
              <a:spcPct val="90000"/>
            </a:lnSpc>
            <a:spcBef>
              <a:spcPct val="0"/>
            </a:spcBef>
            <a:spcAft>
              <a:spcPct val="35000"/>
            </a:spcAft>
          </a:pPr>
          <a:r>
            <a:rPr lang="en-US" sz="2400" kern="1200" dirty="0">
              <a:latin typeface="Times New Roman" panose="02020603050405020304" pitchFamily="18" charset="0"/>
              <a:cs typeface="Times New Roman" panose="02020603050405020304" pitchFamily="18" charset="0"/>
            </a:rPr>
            <a:t>2. Supervisors Can Only Be Assigned by Managers</a:t>
          </a:r>
        </a:p>
      </dsp:txBody>
      <dsp:txXfrm>
        <a:off x="0" y="557279"/>
        <a:ext cx="8273142" cy="556600"/>
      </dsp:txXfrm>
    </dsp:sp>
    <dsp:sp modelId="{54A540A8-36B8-4A41-9709-AABCA9F76E2A}">
      <dsp:nvSpPr>
        <dsp:cNvPr id="0" name=""/>
        <dsp:cNvSpPr/>
      </dsp:nvSpPr>
      <dsp:spPr>
        <a:xfrm>
          <a:off x="0" y="1113880"/>
          <a:ext cx="8273142" cy="0"/>
        </a:xfrm>
        <a:prstGeom prst="line">
          <a:avLst/>
        </a:prstGeom>
        <a:solidFill>
          <a:schemeClr val="accent2">
            <a:hueOff val="-336095"/>
            <a:satOff val="949"/>
            <a:lumOff val="1002"/>
            <a:alphaOff val="0"/>
          </a:schemeClr>
        </a:solidFill>
        <a:ln w="12700" cap="flat" cmpd="sng" algn="ctr">
          <a:solidFill>
            <a:schemeClr val="accent2">
              <a:hueOff val="-336095"/>
              <a:satOff val="949"/>
              <a:lumOff val="1002"/>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63D66D9-FB2E-4752-93A0-B4517D4BBDD2}">
      <dsp:nvSpPr>
        <dsp:cNvPr id="0" name=""/>
        <dsp:cNvSpPr/>
      </dsp:nvSpPr>
      <dsp:spPr>
        <a:xfrm>
          <a:off x="0" y="1113880"/>
          <a:ext cx="8273142" cy="5566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lvl="0" algn="l" defTabSz="1066800">
            <a:lnSpc>
              <a:spcPct val="90000"/>
            </a:lnSpc>
            <a:spcBef>
              <a:spcPct val="0"/>
            </a:spcBef>
            <a:spcAft>
              <a:spcPct val="35000"/>
            </a:spcAft>
          </a:pPr>
          <a:r>
            <a:rPr lang="en-US" sz="2400" kern="1200" dirty="0">
              <a:latin typeface="Times New Roman" panose="02020603050405020304" pitchFamily="18" charset="0"/>
              <a:cs typeface="Times New Roman" panose="02020603050405020304" pitchFamily="18" charset="0"/>
            </a:rPr>
            <a:t>3. </a:t>
          </a:r>
          <a:r>
            <a:rPr lang="en-US" sz="2400" kern="1200" dirty="0" smtClean="0">
              <a:latin typeface="Times New Roman" panose="02020603050405020304" pitchFamily="18" charset="0"/>
              <a:cs typeface="Times New Roman" panose="02020603050405020304" pitchFamily="18" charset="0"/>
            </a:rPr>
            <a:t>Verification of employee availability is </a:t>
          </a:r>
          <a:r>
            <a:rPr lang="en-US" sz="2400" kern="1200" dirty="0" smtClean="0">
              <a:latin typeface="Times New Roman" panose="02020603050405020304" pitchFamily="18" charset="0"/>
              <a:cs typeface="Times New Roman" panose="02020603050405020304" pitchFamily="18" charset="0"/>
            </a:rPr>
            <a:t>done by supervisor</a:t>
          </a:r>
          <a:endParaRPr lang="en-US" sz="2400" kern="1200" dirty="0">
            <a:latin typeface="Times New Roman" panose="02020603050405020304" pitchFamily="18" charset="0"/>
            <a:cs typeface="Times New Roman" panose="02020603050405020304" pitchFamily="18" charset="0"/>
          </a:endParaRPr>
        </a:p>
      </dsp:txBody>
      <dsp:txXfrm>
        <a:off x="0" y="1113880"/>
        <a:ext cx="8273142" cy="556600"/>
      </dsp:txXfrm>
    </dsp:sp>
    <dsp:sp modelId="{757AD5A5-3350-41AE-8952-B39C90F573AD}">
      <dsp:nvSpPr>
        <dsp:cNvPr id="0" name=""/>
        <dsp:cNvSpPr/>
      </dsp:nvSpPr>
      <dsp:spPr>
        <a:xfrm>
          <a:off x="0" y="1670480"/>
          <a:ext cx="8273142" cy="0"/>
        </a:xfrm>
        <a:prstGeom prst="line">
          <a:avLst/>
        </a:prstGeom>
        <a:solidFill>
          <a:schemeClr val="accent2">
            <a:hueOff val="-504143"/>
            <a:satOff val="1424"/>
            <a:lumOff val="1503"/>
            <a:alphaOff val="0"/>
          </a:schemeClr>
        </a:solidFill>
        <a:ln w="12700" cap="flat" cmpd="sng" algn="ctr">
          <a:solidFill>
            <a:schemeClr val="accent2">
              <a:hueOff val="-504143"/>
              <a:satOff val="1424"/>
              <a:lumOff val="1503"/>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6CEE057-7824-4CE4-A564-EC6E94EC5296}">
      <dsp:nvSpPr>
        <dsp:cNvPr id="0" name=""/>
        <dsp:cNvSpPr/>
      </dsp:nvSpPr>
      <dsp:spPr>
        <a:xfrm>
          <a:off x="0" y="1670480"/>
          <a:ext cx="8273142" cy="5566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lvl="0" algn="l" defTabSz="1066800">
            <a:lnSpc>
              <a:spcPct val="90000"/>
            </a:lnSpc>
            <a:spcBef>
              <a:spcPct val="0"/>
            </a:spcBef>
            <a:spcAft>
              <a:spcPct val="35000"/>
            </a:spcAft>
          </a:pPr>
          <a:r>
            <a:rPr lang="en-US" sz="2400" kern="1200" dirty="0">
              <a:latin typeface="Times New Roman" panose="02020603050405020304" pitchFamily="18" charset="0"/>
              <a:cs typeface="Times New Roman" panose="02020603050405020304" pitchFamily="18" charset="0"/>
            </a:rPr>
            <a:t>4. Full-time Employees Must Be Assigned to Priority Events</a:t>
          </a:r>
        </a:p>
      </dsp:txBody>
      <dsp:txXfrm>
        <a:off x="0" y="1670480"/>
        <a:ext cx="8273142" cy="556600"/>
      </dsp:txXfrm>
    </dsp:sp>
    <dsp:sp modelId="{7C2DEB42-8EAB-421E-9A44-7B06281CC9A2}">
      <dsp:nvSpPr>
        <dsp:cNvPr id="0" name=""/>
        <dsp:cNvSpPr/>
      </dsp:nvSpPr>
      <dsp:spPr>
        <a:xfrm>
          <a:off x="0" y="2227081"/>
          <a:ext cx="8273142" cy="0"/>
        </a:xfrm>
        <a:prstGeom prst="line">
          <a:avLst/>
        </a:prstGeom>
        <a:solidFill>
          <a:schemeClr val="accent2">
            <a:hueOff val="-672190"/>
            <a:satOff val="1899"/>
            <a:lumOff val="2004"/>
            <a:alphaOff val="0"/>
          </a:schemeClr>
        </a:solidFill>
        <a:ln w="12700" cap="flat" cmpd="sng" algn="ctr">
          <a:solidFill>
            <a:schemeClr val="accent2">
              <a:hueOff val="-672190"/>
              <a:satOff val="1899"/>
              <a:lumOff val="2004"/>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B3D7C1D-4F08-4C69-9699-F25CA555EC11}">
      <dsp:nvSpPr>
        <dsp:cNvPr id="0" name=""/>
        <dsp:cNvSpPr/>
      </dsp:nvSpPr>
      <dsp:spPr>
        <a:xfrm>
          <a:off x="0" y="2227081"/>
          <a:ext cx="8273142" cy="5566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lvl="0" algn="l" defTabSz="1066800">
            <a:lnSpc>
              <a:spcPct val="90000"/>
            </a:lnSpc>
            <a:spcBef>
              <a:spcPct val="0"/>
            </a:spcBef>
            <a:spcAft>
              <a:spcPct val="35000"/>
            </a:spcAft>
          </a:pPr>
          <a:r>
            <a:rPr lang="en-US" sz="2400" kern="1200" dirty="0">
              <a:latin typeface="Times New Roman" panose="02020603050405020304" pitchFamily="18" charset="0"/>
              <a:cs typeface="Times New Roman" panose="02020603050405020304" pitchFamily="18" charset="0"/>
            </a:rPr>
            <a:t>5. Coupon Distribution </a:t>
          </a:r>
          <a:r>
            <a:rPr lang="en-US" sz="2400" kern="1200" dirty="0" smtClean="0">
              <a:latin typeface="Times New Roman" panose="02020603050405020304" pitchFamily="18" charset="0"/>
              <a:cs typeface="Times New Roman" panose="02020603050405020304" pitchFamily="18" charset="0"/>
            </a:rPr>
            <a:t>is done based </a:t>
          </a:r>
          <a:r>
            <a:rPr lang="en-US" sz="2400" kern="1200" dirty="0">
              <a:latin typeface="Times New Roman" panose="02020603050405020304" pitchFamily="18" charset="0"/>
              <a:cs typeface="Times New Roman" panose="02020603050405020304" pitchFamily="18" charset="0"/>
            </a:rPr>
            <a:t>on Hours Worked</a:t>
          </a:r>
        </a:p>
      </dsp:txBody>
      <dsp:txXfrm>
        <a:off x="0" y="2227081"/>
        <a:ext cx="8273142" cy="556600"/>
      </dsp:txXfrm>
    </dsp:sp>
    <dsp:sp modelId="{DED1FC10-20A0-41C4-ACAC-B7BF20911936}">
      <dsp:nvSpPr>
        <dsp:cNvPr id="0" name=""/>
        <dsp:cNvSpPr/>
      </dsp:nvSpPr>
      <dsp:spPr>
        <a:xfrm>
          <a:off x="0" y="2783681"/>
          <a:ext cx="8273142" cy="0"/>
        </a:xfrm>
        <a:prstGeom prst="line">
          <a:avLst/>
        </a:prstGeom>
        <a:solidFill>
          <a:schemeClr val="accent2">
            <a:hueOff val="-840238"/>
            <a:satOff val="2373"/>
            <a:lumOff val="2506"/>
            <a:alphaOff val="0"/>
          </a:schemeClr>
        </a:solidFill>
        <a:ln w="12700" cap="flat" cmpd="sng" algn="ctr">
          <a:solidFill>
            <a:schemeClr val="accent2">
              <a:hueOff val="-840238"/>
              <a:satOff val="2373"/>
              <a:lumOff val="2506"/>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CEED634-DDCF-41A1-A6D2-FEB0E3D2F399}">
      <dsp:nvSpPr>
        <dsp:cNvPr id="0" name=""/>
        <dsp:cNvSpPr/>
      </dsp:nvSpPr>
      <dsp:spPr>
        <a:xfrm>
          <a:off x="0" y="2783681"/>
          <a:ext cx="8273142" cy="5566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lvl="0" algn="l" defTabSz="1066800">
            <a:lnSpc>
              <a:spcPct val="90000"/>
            </a:lnSpc>
            <a:spcBef>
              <a:spcPct val="0"/>
            </a:spcBef>
            <a:spcAft>
              <a:spcPct val="35000"/>
            </a:spcAft>
          </a:pPr>
          <a:r>
            <a:rPr lang="en-US" sz="2400" kern="1200" dirty="0">
              <a:latin typeface="Times New Roman" panose="02020603050405020304" pitchFamily="18" charset="0"/>
              <a:cs typeface="Times New Roman" panose="02020603050405020304" pitchFamily="18" charset="0"/>
            </a:rPr>
            <a:t>6. </a:t>
          </a:r>
          <a:r>
            <a:rPr lang="en-US" sz="2400" kern="1200" dirty="0" smtClean="0">
              <a:latin typeface="Times New Roman" panose="02020603050405020304" pitchFamily="18" charset="0"/>
              <a:cs typeface="Times New Roman" panose="02020603050405020304" pitchFamily="18" charset="0"/>
            </a:rPr>
            <a:t>There are few restrictions for event location assignment</a:t>
          </a:r>
          <a:endParaRPr lang="en-US" sz="2400" kern="1200" dirty="0">
            <a:latin typeface="Times New Roman" panose="02020603050405020304" pitchFamily="18" charset="0"/>
            <a:cs typeface="Times New Roman" panose="02020603050405020304" pitchFamily="18" charset="0"/>
          </a:endParaRPr>
        </a:p>
      </dsp:txBody>
      <dsp:txXfrm>
        <a:off x="0" y="2783681"/>
        <a:ext cx="8273142" cy="556600"/>
      </dsp:txXfrm>
    </dsp:sp>
    <dsp:sp modelId="{2EB1C913-800D-4E91-9354-ADE5C94BC82C}">
      <dsp:nvSpPr>
        <dsp:cNvPr id="0" name=""/>
        <dsp:cNvSpPr/>
      </dsp:nvSpPr>
      <dsp:spPr>
        <a:xfrm>
          <a:off x="0" y="3340281"/>
          <a:ext cx="8273142" cy="0"/>
        </a:xfrm>
        <a:prstGeom prst="line">
          <a:avLst/>
        </a:prstGeom>
        <a:solidFill>
          <a:schemeClr val="accent2">
            <a:hueOff val="-1008286"/>
            <a:satOff val="2848"/>
            <a:lumOff val="3007"/>
            <a:alphaOff val="0"/>
          </a:schemeClr>
        </a:solidFill>
        <a:ln w="12700" cap="flat" cmpd="sng" algn="ctr">
          <a:solidFill>
            <a:schemeClr val="accent2">
              <a:hueOff val="-1008286"/>
              <a:satOff val="2848"/>
              <a:lumOff val="3007"/>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091481C-7379-417C-A878-C561C76F45B9}">
      <dsp:nvSpPr>
        <dsp:cNvPr id="0" name=""/>
        <dsp:cNvSpPr/>
      </dsp:nvSpPr>
      <dsp:spPr>
        <a:xfrm>
          <a:off x="0" y="3340281"/>
          <a:ext cx="8273142" cy="5566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lvl="0" algn="l" defTabSz="1066800">
            <a:lnSpc>
              <a:spcPct val="90000"/>
            </a:lnSpc>
            <a:spcBef>
              <a:spcPct val="0"/>
            </a:spcBef>
            <a:spcAft>
              <a:spcPct val="35000"/>
            </a:spcAft>
          </a:pPr>
          <a:r>
            <a:rPr lang="en-US" sz="2400" kern="1200" dirty="0" smtClean="0">
              <a:latin typeface="Times New Roman" panose="02020603050405020304" pitchFamily="18" charset="0"/>
              <a:cs typeface="Times New Roman" panose="02020603050405020304" pitchFamily="18" charset="0"/>
            </a:rPr>
            <a:t>7. Supervisors Can Only Manage Employees for Assigned Events</a:t>
          </a:r>
          <a:endParaRPr lang="en-US" sz="2400" kern="1200" dirty="0">
            <a:latin typeface="Times New Roman" panose="02020603050405020304" pitchFamily="18" charset="0"/>
            <a:cs typeface="Times New Roman" panose="02020603050405020304" pitchFamily="18" charset="0"/>
          </a:endParaRPr>
        </a:p>
      </dsp:txBody>
      <dsp:txXfrm>
        <a:off x="0" y="3340281"/>
        <a:ext cx="8273142" cy="556600"/>
      </dsp:txXfrm>
    </dsp:sp>
    <dsp:sp modelId="{0E034701-BDCA-406E-A2C8-BC554265F712}">
      <dsp:nvSpPr>
        <dsp:cNvPr id="0" name=""/>
        <dsp:cNvSpPr/>
      </dsp:nvSpPr>
      <dsp:spPr>
        <a:xfrm>
          <a:off x="0" y="3896882"/>
          <a:ext cx="8273142" cy="0"/>
        </a:xfrm>
        <a:prstGeom prst="line">
          <a:avLst/>
        </a:prstGeom>
        <a:solidFill>
          <a:schemeClr val="accent2">
            <a:hueOff val="-1176333"/>
            <a:satOff val="3323"/>
            <a:lumOff val="3508"/>
            <a:alphaOff val="0"/>
          </a:schemeClr>
        </a:solidFill>
        <a:ln w="12700" cap="flat" cmpd="sng" algn="ctr">
          <a:solidFill>
            <a:schemeClr val="accent2">
              <a:hueOff val="-1176333"/>
              <a:satOff val="3323"/>
              <a:lumOff val="3508"/>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1E81579-39ED-4933-AA00-16D0273774FB}">
      <dsp:nvSpPr>
        <dsp:cNvPr id="0" name=""/>
        <dsp:cNvSpPr/>
      </dsp:nvSpPr>
      <dsp:spPr>
        <a:xfrm>
          <a:off x="0" y="3896882"/>
          <a:ext cx="8273142" cy="5566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lvl="0" algn="l" defTabSz="1066800">
            <a:lnSpc>
              <a:spcPct val="90000"/>
            </a:lnSpc>
            <a:spcBef>
              <a:spcPct val="0"/>
            </a:spcBef>
            <a:spcAft>
              <a:spcPct val="35000"/>
            </a:spcAft>
          </a:pPr>
          <a:r>
            <a:rPr lang="en-US" sz="2400" kern="1200" dirty="0">
              <a:latin typeface="Times New Roman" panose="02020603050405020304" pitchFamily="18" charset="0"/>
              <a:cs typeface="Times New Roman" panose="02020603050405020304" pitchFamily="18" charset="0"/>
            </a:rPr>
            <a:t>8. Daily Event Limit Per </a:t>
          </a:r>
          <a:r>
            <a:rPr lang="en-US" sz="2400" kern="1200" dirty="0" smtClean="0">
              <a:latin typeface="Times New Roman" panose="02020603050405020304" pitchFamily="18" charset="0"/>
              <a:cs typeface="Times New Roman" panose="02020603050405020304" pitchFamily="18" charset="0"/>
            </a:rPr>
            <a:t>Location is applied</a:t>
          </a:r>
          <a:endParaRPr lang="en-US" sz="2400" kern="1200" dirty="0">
            <a:latin typeface="Times New Roman" panose="02020603050405020304" pitchFamily="18" charset="0"/>
            <a:cs typeface="Times New Roman" panose="02020603050405020304" pitchFamily="18" charset="0"/>
          </a:endParaRPr>
        </a:p>
      </dsp:txBody>
      <dsp:txXfrm>
        <a:off x="0" y="3896882"/>
        <a:ext cx="8273142" cy="556600"/>
      </dsp:txXfrm>
    </dsp:sp>
    <dsp:sp modelId="{28317BC9-6771-4849-829B-C4FEA253AF5B}">
      <dsp:nvSpPr>
        <dsp:cNvPr id="0" name=""/>
        <dsp:cNvSpPr/>
      </dsp:nvSpPr>
      <dsp:spPr>
        <a:xfrm>
          <a:off x="0" y="4453482"/>
          <a:ext cx="8273142" cy="0"/>
        </a:xfrm>
        <a:prstGeom prst="line">
          <a:avLst/>
        </a:prstGeom>
        <a:solidFill>
          <a:schemeClr val="accent2">
            <a:hueOff val="-1344381"/>
            <a:satOff val="3797"/>
            <a:lumOff val="4009"/>
            <a:alphaOff val="0"/>
          </a:schemeClr>
        </a:solidFill>
        <a:ln w="12700" cap="flat" cmpd="sng" algn="ctr">
          <a:solidFill>
            <a:schemeClr val="accent2">
              <a:hueOff val="-1344381"/>
              <a:satOff val="3797"/>
              <a:lumOff val="4009"/>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B6FE461-A823-4226-B5FE-3DE5DA3CD9F3}">
      <dsp:nvSpPr>
        <dsp:cNvPr id="0" name=""/>
        <dsp:cNvSpPr/>
      </dsp:nvSpPr>
      <dsp:spPr>
        <a:xfrm>
          <a:off x="0" y="4453482"/>
          <a:ext cx="8273142" cy="5566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lvl="0" algn="l" defTabSz="1066800">
            <a:lnSpc>
              <a:spcPct val="90000"/>
            </a:lnSpc>
            <a:spcBef>
              <a:spcPct val="0"/>
            </a:spcBef>
            <a:spcAft>
              <a:spcPct val="35000"/>
            </a:spcAft>
          </a:pPr>
          <a:r>
            <a:rPr lang="en-US" sz="2400" kern="1200" dirty="0">
              <a:latin typeface="Times New Roman" panose="02020603050405020304" pitchFamily="18" charset="0"/>
              <a:cs typeface="Times New Roman" panose="02020603050405020304" pitchFamily="18" charset="0"/>
            </a:rPr>
            <a:t>9. Employee Classification and Work </a:t>
          </a:r>
          <a:r>
            <a:rPr lang="en-US" sz="2400" kern="1200" dirty="0" smtClean="0">
              <a:latin typeface="Times New Roman" panose="02020603050405020304" pitchFamily="18" charset="0"/>
              <a:cs typeface="Times New Roman" panose="02020603050405020304" pitchFamily="18" charset="0"/>
            </a:rPr>
            <a:t>Types are done</a:t>
          </a:r>
          <a:endParaRPr lang="en-US" sz="2400" kern="1200" dirty="0">
            <a:latin typeface="Times New Roman" panose="02020603050405020304" pitchFamily="18" charset="0"/>
            <a:cs typeface="Times New Roman" panose="02020603050405020304" pitchFamily="18" charset="0"/>
          </a:endParaRPr>
        </a:p>
      </dsp:txBody>
      <dsp:txXfrm>
        <a:off x="0" y="4453482"/>
        <a:ext cx="8273142" cy="556600"/>
      </dsp:txXfrm>
    </dsp:sp>
    <dsp:sp modelId="{E5462ED0-1D4B-4198-918B-9009D09B49C7}">
      <dsp:nvSpPr>
        <dsp:cNvPr id="0" name=""/>
        <dsp:cNvSpPr/>
      </dsp:nvSpPr>
      <dsp:spPr>
        <a:xfrm>
          <a:off x="0" y="5010083"/>
          <a:ext cx="8273142" cy="0"/>
        </a:xfrm>
        <a:prstGeom prst="line">
          <a:avLst/>
        </a:prstGeom>
        <a:solidFill>
          <a:schemeClr val="accent2">
            <a:hueOff val="-1512428"/>
            <a:satOff val="4272"/>
            <a:lumOff val="4510"/>
            <a:alphaOff val="0"/>
          </a:schemeClr>
        </a:solidFill>
        <a:ln w="12700" cap="flat" cmpd="sng" algn="ctr">
          <a:solidFill>
            <a:schemeClr val="accent2">
              <a:hueOff val="-1512428"/>
              <a:satOff val="4272"/>
              <a:lumOff val="451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E154F78-E7BF-4609-AB1B-C34382F2BF6D}">
      <dsp:nvSpPr>
        <dsp:cNvPr id="0" name=""/>
        <dsp:cNvSpPr/>
      </dsp:nvSpPr>
      <dsp:spPr>
        <a:xfrm>
          <a:off x="0" y="5010083"/>
          <a:ext cx="8273142" cy="5566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lvl="0" algn="l" defTabSz="1066800">
            <a:lnSpc>
              <a:spcPct val="90000"/>
            </a:lnSpc>
            <a:spcBef>
              <a:spcPct val="0"/>
            </a:spcBef>
            <a:spcAft>
              <a:spcPct val="35000"/>
            </a:spcAft>
          </a:pPr>
          <a:r>
            <a:rPr lang="en-US" sz="2400" kern="1200" dirty="0">
              <a:latin typeface="Times New Roman" panose="02020603050405020304" pitchFamily="18" charset="0"/>
              <a:cs typeface="Times New Roman" panose="02020603050405020304" pitchFamily="18" charset="0"/>
            </a:rPr>
            <a:t>10. Salary Generation </a:t>
          </a:r>
          <a:r>
            <a:rPr lang="en-US" sz="2400" kern="1200" dirty="0" smtClean="0">
              <a:latin typeface="Times New Roman" panose="02020603050405020304" pitchFamily="18" charset="0"/>
              <a:cs typeface="Times New Roman" panose="02020603050405020304" pitchFamily="18" charset="0"/>
            </a:rPr>
            <a:t>are done based </a:t>
          </a:r>
          <a:r>
            <a:rPr lang="en-US" sz="2400" kern="1200" dirty="0">
              <a:latin typeface="Times New Roman" panose="02020603050405020304" pitchFamily="18" charset="0"/>
              <a:cs typeface="Times New Roman" panose="02020603050405020304" pitchFamily="18" charset="0"/>
            </a:rPr>
            <a:t>on </a:t>
          </a:r>
          <a:r>
            <a:rPr lang="en-US" sz="2400" kern="1200" dirty="0" smtClean="0">
              <a:latin typeface="Times New Roman" panose="02020603050405020304" pitchFamily="18" charset="0"/>
              <a:cs typeface="Times New Roman" panose="02020603050405020304" pitchFamily="18" charset="0"/>
            </a:rPr>
            <a:t>approved </a:t>
          </a:r>
          <a:r>
            <a:rPr lang="en-US" sz="2400" kern="1200" dirty="0">
              <a:latin typeface="Times New Roman" panose="02020603050405020304" pitchFamily="18" charset="0"/>
              <a:cs typeface="Times New Roman" panose="02020603050405020304" pitchFamily="18" charset="0"/>
            </a:rPr>
            <a:t>Events</a:t>
          </a:r>
        </a:p>
      </dsp:txBody>
      <dsp:txXfrm>
        <a:off x="0" y="5010083"/>
        <a:ext cx="8273142" cy="556600"/>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xmlns="">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xmlns="">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53B052-A59B-4AE3-A89A-E7748630C15B}"/>
              </a:ext>
            </a:extLst>
          </p:cNvPr>
          <p:cNvSpPr>
            <a:spLocks noGrp="1"/>
          </p:cNvSpPr>
          <p:nvPr>
            <p:ph type="ctrTitle"/>
          </p:nvPr>
        </p:nvSpPr>
        <p:spPr>
          <a:xfrm>
            <a:off x="1524000" y="1122363"/>
            <a:ext cx="9144000" cy="2387600"/>
          </a:xfrm>
        </p:spPr>
        <p:txBody>
          <a:bodyPr anchor="b"/>
          <a:lstStyle>
            <a:lvl1pPr algn="ctr">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FBDA9EC4-FEA9-41D2-BE8D-F709F01D375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6E155CF-52F5-4879-B7F3-D05812AC4A6D}"/>
              </a:ext>
            </a:extLst>
          </p:cNvPr>
          <p:cNvSpPr>
            <a:spLocks noGrp="1"/>
          </p:cNvSpPr>
          <p:nvPr>
            <p:ph type="dt" sz="half" idx="10"/>
          </p:nvPr>
        </p:nvSpPr>
        <p:spPr/>
        <p:txBody>
          <a:bodyPr/>
          <a:lstStyle/>
          <a:p>
            <a:fld id="{AA70F276-1833-4A75-9C1D-A56E2295A68D}" type="datetimeFigureOut">
              <a:rPr lang="en-US" smtClean="0"/>
              <a:t>12/3/2024</a:t>
            </a:fld>
            <a:endParaRPr lang="en-US"/>
          </a:p>
        </p:txBody>
      </p:sp>
      <p:sp>
        <p:nvSpPr>
          <p:cNvPr id="5" name="Footer Placeholder 4">
            <a:extLst>
              <a:ext uri="{FF2B5EF4-FFF2-40B4-BE49-F238E27FC236}">
                <a16:creationId xmlns:a16="http://schemas.microsoft.com/office/drawing/2014/main" id="{80D053AC-61ED-4C2F-90BF-D4A91654510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38B2ED7-A198-4613-B8C9-EE02BAE24FA4}"/>
              </a:ext>
            </a:extLst>
          </p:cNvPr>
          <p:cNvSpPr>
            <a:spLocks noGrp="1"/>
          </p:cNvSpPr>
          <p:nvPr>
            <p:ph type="sldNum" sz="quarter" idx="12"/>
          </p:nvPr>
        </p:nvSpPr>
        <p:spPr/>
        <p:txBody>
          <a:bodyPr/>
          <a:lstStyle/>
          <a:p>
            <a:fld id="{28844951-7827-47D4-8276-7DDE1FA7D85A}" type="slidenum">
              <a:rPr lang="en-US" smtClean="0"/>
              <a:t>‹#›</a:t>
            </a:fld>
            <a:endParaRPr lang="en-US"/>
          </a:p>
        </p:txBody>
      </p:sp>
    </p:spTree>
    <p:extLst>
      <p:ext uri="{BB962C8B-B14F-4D97-AF65-F5344CB8AC3E}">
        <p14:creationId xmlns:p14="http://schemas.microsoft.com/office/powerpoint/2010/main" val="12626205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B98991-AEF1-4F19-AAB8-436EAD58C282}"/>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D25B44F-E7DA-40C6-8B44-71EAB6BDFC98}"/>
              </a:ext>
            </a:extLst>
          </p:cNvPr>
          <p:cNvSpPr>
            <a:spLocks noGrp="1"/>
          </p:cNvSpPr>
          <p:nvPr>
            <p:ph idx="1"/>
          </p:nvPr>
        </p:nvSpPr>
        <p:spPr/>
        <p:txBody>
          <a:bodyPr/>
          <a:lstStyle>
            <a:lvl1pPr>
              <a:buFont typeface="Wingdings" panose="05000000000000000000" pitchFamily="2" charset="2"/>
              <a:buChar char="§"/>
              <a:defRPr/>
            </a:lvl1pPr>
            <a:lvl2pPr marL="685800" indent="-228600">
              <a:buFont typeface="Wingdings" panose="05000000000000000000" pitchFamily="2" charset="2"/>
              <a:buChar char="§"/>
              <a:defRPr/>
            </a:lvl2pPr>
            <a:lvl3pPr>
              <a:buFont typeface="Wingdings" panose="05000000000000000000" pitchFamily="2" charset="2"/>
              <a:buChar char="§"/>
              <a:defRPr/>
            </a:lvl3pPr>
            <a:lvl4pPr marL="1600200" indent="-228600">
              <a:buFont typeface="Wingdings" panose="05000000000000000000" pitchFamily="2" charset="2"/>
              <a:buChar char="§"/>
              <a:defRPr/>
            </a:lvl4pPr>
            <a:lvl5pPr>
              <a:buFont typeface="Wingdings" panose="05000000000000000000" pitchFamily="2" charset="2"/>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A1F71817-A045-48C0-975B-CBEF88E9561E}"/>
              </a:ext>
            </a:extLst>
          </p:cNvPr>
          <p:cNvSpPr>
            <a:spLocks noGrp="1"/>
          </p:cNvSpPr>
          <p:nvPr>
            <p:ph type="dt" sz="half" idx="10"/>
          </p:nvPr>
        </p:nvSpPr>
        <p:spPr/>
        <p:txBody>
          <a:bodyPr/>
          <a:lstStyle/>
          <a:p>
            <a:fld id="{AA70F276-1833-4A75-9C1D-A56E2295A68D}" type="datetimeFigureOut">
              <a:rPr lang="en-US" smtClean="0"/>
              <a:t>12/3/2024</a:t>
            </a:fld>
            <a:endParaRPr lang="en-US"/>
          </a:p>
        </p:txBody>
      </p:sp>
      <p:sp>
        <p:nvSpPr>
          <p:cNvPr id="5" name="Footer Placeholder 4">
            <a:extLst>
              <a:ext uri="{FF2B5EF4-FFF2-40B4-BE49-F238E27FC236}">
                <a16:creationId xmlns:a16="http://schemas.microsoft.com/office/drawing/2014/main" id="{B61C39F0-32D4-407C-8BCA-97F2D9E500C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9CF4459-37B2-4F87-B508-DB04D4332067}"/>
              </a:ext>
            </a:extLst>
          </p:cNvPr>
          <p:cNvSpPr>
            <a:spLocks noGrp="1"/>
          </p:cNvSpPr>
          <p:nvPr>
            <p:ph type="sldNum" sz="quarter" idx="12"/>
          </p:nvPr>
        </p:nvSpPr>
        <p:spPr/>
        <p:txBody>
          <a:bodyPr/>
          <a:lstStyle/>
          <a:p>
            <a:fld id="{28844951-7827-47D4-8276-7DDE1FA7D85A}" type="slidenum">
              <a:rPr lang="en-US" smtClean="0"/>
              <a:t>‹#›</a:t>
            </a:fld>
            <a:endParaRPr lang="en-US"/>
          </a:p>
        </p:txBody>
      </p:sp>
    </p:spTree>
    <p:extLst>
      <p:ext uri="{BB962C8B-B14F-4D97-AF65-F5344CB8AC3E}">
        <p14:creationId xmlns:p14="http://schemas.microsoft.com/office/powerpoint/2010/main" val="32636451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CBBD03-9D57-48E9-8B43-688B72997276}"/>
              </a:ext>
            </a:extLst>
          </p:cNvPr>
          <p:cNvSpPr>
            <a:spLocks noGrp="1"/>
          </p:cNvSpPr>
          <p:nvPr>
            <p:ph type="title"/>
          </p:nvPr>
        </p:nvSpPr>
        <p:spPr>
          <a:xfrm>
            <a:off x="831850" y="1709738"/>
            <a:ext cx="10515600" cy="2852737"/>
          </a:xfrm>
        </p:spPr>
        <p:txBody>
          <a:bodyPr anchor="b"/>
          <a:lstStyle>
            <a:lvl1pPr>
              <a:defRPr sz="5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783F376C-8A2F-4BE5-9669-4A6DA21B771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2654893-212E-4450-8F7A-27256B31F9FB}"/>
              </a:ext>
            </a:extLst>
          </p:cNvPr>
          <p:cNvSpPr>
            <a:spLocks noGrp="1"/>
          </p:cNvSpPr>
          <p:nvPr>
            <p:ph type="dt" sz="half" idx="10"/>
          </p:nvPr>
        </p:nvSpPr>
        <p:spPr/>
        <p:txBody>
          <a:bodyPr/>
          <a:lstStyle/>
          <a:p>
            <a:fld id="{AA70F276-1833-4A75-9C1D-A56E2295A68D}" type="datetimeFigureOut">
              <a:rPr lang="en-US" smtClean="0"/>
              <a:t>12/3/2024</a:t>
            </a:fld>
            <a:endParaRPr lang="en-US"/>
          </a:p>
        </p:txBody>
      </p:sp>
      <p:sp>
        <p:nvSpPr>
          <p:cNvPr id="5" name="Footer Placeholder 4">
            <a:extLst>
              <a:ext uri="{FF2B5EF4-FFF2-40B4-BE49-F238E27FC236}">
                <a16:creationId xmlns:a16="http://schemas.microsoft.com/office/drawing/2014/main" id="{600E881A-3958-44A9-9EDB-D86F4E4144C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FEDBC4F-D9B8-4BFA-BE4F-D4B9B739D1BA}"/>
              </a:ext>
            </a:extLst>
          </p:cNvPr>
          <p:cNvSpPr>
            <a:spLocks noGrp="1"/>
          </p:cNvSpPr>
          <p:nvPr>
            <p:ph type="sldNum" sz="quarter" idx="12"/>
          </p:nvPr>
        </p:nvSpPr>
        <p:spPr/>
        <p:txBody>
          <a:bodyPr/>
          <a:lstStyle/>
          <a:p>
            <a:fld id="{28844951-7827-47D4-8276-7DDE1FA7D85A}" type="slidenum">
              <a:rPr lang="en-US" smtClean="0"/>
              <a:t>‹#›</a:t>
            </a:fld>
            <a:endParaRPr lang="en-US"/>
          </a:p>
        </p:txBody>
      </p:sp>
    </p:spTree>
    <p:extLst>
      <p:ext uri="{BB962C8B-B14F-4D97-AF65-F5344CB8AC3E}">
        <p14:creationId xmlns:p14="http://schemas.microsoft.com/office/powerpoint/2010/main" val="42141406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DC8777-C460-4649-8822-CA943386D06D}"/>
              </a:ext>
            </a:extLst>
          </p:cNvPr>
          <p:cNvSpPr>
            <a:spLocks noGrp="1"/>
          </p:cNvSpPr>
          <p:nvPr>
            <p:ph type="title"/>
          </p:nvPr>
        </p:nvSpPr>
        <p:spPr/>
        <p:txBody>
          <a:bodyPr/>
          <a:lstStyle>
            <a:lvl1pPr>
              <a:defRPr sz="48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AFDF69E6-1094-437B-AA7E-0E21B7136CCA}"/>
              </a:ext>
            </a:extLst>
          </p:cNvPr>
          <p:cNvSpPr>
            <a:spLocks noGrp="1"/>
          </p:cNvSpPr>
          <p:nvPr>
            <p:ph sz="half" idx="1"/>
          </p:nvPr>
        </p:nvSpPr>
        <p:spPr>
          <a:xfrm>
            <a:off x="838200" y="2057399"/>
            <a:ext cx="5181600" cy="411956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C20BC963-4591-4BE3-AE63-4999A13C5054}"/>
              </a:ext>
            </a:extLst>
          </p:cNvPr>
          <p:cNvSpPr>
            <a:spLocks noGrp="1"/>
          </p:cNvSpPr>
          <p:nvPr>
            <p:ph sz="half" idx="2"/>
          </p:nvPr>
        </p:nvSpPr>
        <p:spPr>
          <a:xfrm>
            <a:off x="6172200" y="2057399"/>
            <a:ext cx="5181600" cy="41195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504D5BB-DB84-4266-9B4F-E65CCFE5B310}"/>
              </a:ext>
            </a:extLst>
          </p:cNvPr>
          <p:cNvSpPr>
            <a:spLocks noGrp="1"/>
          </p:cNvSpPr>
          <p:nvPr>
            <p:ph type="dt" sz="half" idx="10"/>
          </p:nvPr>
        </p:nvSpPr>
        <p:spPr/>
        <p:txBody>
          <a:bodyPr/>
          <a:lstStyle/>
          <a:p>
            <a:fld id="{AA70F276-1833-4A75-9C1D-A56E2295A68D}" type="datetimeFigureOut">
              <a:rPr lang="en-US" smtClean="0"/>
              <a:t>12/3/2024</a:t>
            </a:fld>
            <a:endParaRPr lang="en-US"/>
          </a:p>
        </p:txBody>
      </p:sp>
      <p:sp>
        <p:nvSpPr>
          <p:cNvPr id="6" name="Footer Placeholder 5">
            <a:extLst>
              <a:ext uri="{FF2B5EF4-FFF2-40B4-BE49-F238E27FC236}">
                <a16:creationId xmlns:a16="http://schemas.microsoft.com/office/drawing/2014/main" id="{891A99B5-D493-4AB1-AF24-6660540D56A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FE178D0-5F1E-43FA-B447-53501EDD17C0}"/>
              </a:ext>
            </a:extLst>
          </p:cNvPr>
          <p:cNvSpPr>
            <a:spLocks noGrp="1"/>
          </p:cNvSpPr>
          <p:nvPr>
            <p:ph type="sldNum" sz="quarter" idx="12"/>
          </p:nvPr>
        </p:nvSpPr>
        <p:spPr/>
        <p:txBody>
          <a:bodyPr/>
          <a:lstStyle/>
          <a:p>
            <a:fld id="{28844951-7827-47D4-8276-7DDE1FA7D85A}" type="slidenum">
              <a:rPr lang="en-US" smtClean="0"/>
              <a:t>‹#›</a:t>
            </a:fld>
            <a:endParaRPr lang="en-US"/>
          </a:p>
        </p:txBody>
      </p:sp>
    </p:spTree>
    <p:extLst>
      <p:ext uri="{BB962C8B-B14F-4D97-AF65-F5344CB8AC3E}">
        <p14:creationId xmlns:p14="http://schemas.microsoft.com/office/powerpoint/2010/main" val="25649843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DC85CC-8D2B-4219-A2A4-1625A02DFECD}"/>
              </a:ext>
            </a:extLst>
          </p:cNvPr>
          <p:cNvSpPr>
            <a:spLocks noGrp="1"/>
          </p:cNvSpPr>
          <p:nvPr>
            <p:ph type="title"/>
          </p:nvPr>
        </p:nvSpPr>
        <p:spPr>
          <a:xfrm>
            <a:off x="839788" y="668338"/>
            <a:ext cx="10515600" cy="1084262"/>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id="{DD6143C8-1CF7-440E-99A3-0527314598C6}"/>
              </a:ext>
            </a:extLst>
          </p:cNvPr>
          <p:cNvSpPr>
            <a:spLocks noGrp="1"/>
          </p:cNvSpPr>
          <p:nvPr>
            <p:ph type="body" idx="1"/>
          </p:nvPr>
        </p:nvSpPr>
        <p:spPr>
          <a:xfrm>
            <a:off x="839788" y="1828800"/>
            <a:ext cx="5157787" cy="823912"/>
          </a:xfrm>
        </p:spPr>
        <p:txBody>
          <a:bodyPr anchor="b"/>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AEEFF5CA-4662-4430-80C7-99CD7D66C9CF}"/>
              </a:ext>
            </a:extLst>
          </p:cNvPr>
          <p:cNvSpPr>
            <a:spLocks noGrp="1"/>
          </p:cNvSpPr>
          <p:nvPr>
            <p:ph sz="half" idx="2"/>
          </p:nvPr>
        </p:nvSpPr>
        <p:spPr>
          <a:xfrm>
            <a:off x="839788" y="2743199"/>
            <a:ext cx="5157787" cy="344646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876CB5B7-DC23-41CE-872B-E25BD64F84A5}"/>
              </a:ext>
            </a:extLst>
          </p:cNvPr>
          <p:cNvSpPr>
            <a:spLocks noGrp="1"/>
          </p:cNvSpPr>
          <p:nvPr>
            <p:ph type="body" sz="quarter" idx="3"/>
          </p:nvPr>
        </p:nvSpPr>
        <p:spPr>
          <a:xfrm>
            <a:off x="6172200" y="1828800"/>
            <a:ext cx="5183188" cy="823912"/>
          </a:xfrm>
        </p:spPr>
        <p:txBody>
          <a:bodyPr anchor="b"/>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4DF7633C-C24D-4947-979C-132B3AC405A8}"/>
              </a:ext>
            </a:extLst>
          </p:cNvPr>
          <p:cNvSpPr>
            <a:spLocks noGrp="1"/>
          </p:cNvSpPr>
          <p:nvPr>
            <p:ph sz="quarter" idx="4"/>
          </p:nvPr>
        </p:nvSpPr>
        <p:spPr>
          <a:xfrm>
            <a:off x="6172200" y="2743199"/>
            <a:ext cx="5183188" cy="34464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E8A46E1-3934-4807-900F-CA7A4D8D66B3}"/>
              </a:ext>
            </a:extLst>
          </p:cNvPr>
          <p:cNvSpPr>
            <a:spLocks noGrp="1"/>
          </p:cNvSpPr>
          <p:nvPr>
            <p:ph type="dt" sz="half" idx="10"/>
          </p:nvPr>
        </p:nvSpPr>
        <p:spPr/>
        <p:txBody>
          <a:bodyPr/>
          <a:lstStyle/>
          <a:p>
            <a:fld id="{AA70F276-1833-4A75-9C1D-A56E2295A68D}" type="datetimeFigureOut">
              <a:rPr lang="en-US" smtClean="0"/>
              <a:t>12/3/2024</a:t>
            </a:fld>
            <a:endParaRPr lang="en-US"/>
          </a:p>
        </p:txBody>
      </p:sp>
      <p:sp>
        <p:nvSpPr>
          <p:cNvPr id="8" name="Footer Placeholder 7">
            <a:extLst>
              <a:ext uri="{FF2B5EF4-FFF2-40B4-BE49-F238E27FC236}">
                <a16:creationId xmlns:a16="http://schemas.microsoft.com/office/drawing/2014/main" id="{4BC9C6EA-1549-4601-8226-E5C43469CAF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3658246-003D-4024-9F4B-BA3BD3FBFFBC}"/>
              </a:ext>
            </a:extLst>
          </p:cNvPr>
          <p:cNvSpPr>
            <a:spLocks noGrp="1"/>
          </p:cNvSpPr>
          <p:nvPr>
            <p:ph type="sldNum" sz="quarter" idx="12"/>
          </p:nvPr>
        </p:nvSpPr>
        <p:spPr/>
        <p:txBody>
          <a:bodyPr/>
          <a:lstStyle/>
          <a:p>
            <a:fld id="{28844951-7827-47D4-8276-7DDE1FA7D85A}" type="slidenum">
              <a:rPr lang="en-US" smtClean="0"/>
              <a:t>‹#›</a:t>
            </a:fld>
            <a:endParaRPr lang="en-US"/>
          </a:p>
        </p:txBody>
      </p:sp>
    </p:spTree>
    <p:extLst>
      <p:ext uri="{BB962C8B-B14F-4D97-AF65-F5344CB8AC3E}">
        <p14:creationId xmlns:p14="http://schemas.microsoft.com/office/powerpoint/2010/main" val="20297163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B2DD4C-BFBC-4087-B94C-4DD0690E838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EB9D434-8228-4C7F-B520-14121EBC903B}"/>
              </a:ext>
            </a:extLst>
          </p:cNvPr>
          <p:cNvSpPr>
            <a:spLocks noGrp="1"/>
          </p:cNvSpPr>
          <p:nvPr>
            <p:ph type="dt" sz="half" idx="10"/>
          </p:nvPr>
        </p:nvSpPr>
        <p:spPr/>
        <p:txBody>
          <a:bodyPr/>
          <a:lstStyle/>
          <a:p>
            <a:fld id="{AA70F276-1833-4A75-9C1D-A56E2295A68D}" type="datetimeFigureOut">
              <a:rPr lang="en-US" smtClean="0"/>
              <a:t>12/3/2024</a:t>
            </a:fld>
            <a:endParaRPr lang="en-US"/>
          </a:p>
        </p:txBody>
      </p:sp>
      <p:sp>
        <p:nvSpPr>
          <p:cNvPr id="4" name="Footer Placeholder 3">
            <a:extLst>
              <a:ext uri="{FF2B5EF4-FFF2-40B4-BE49-F238E27FC236}">
                <a16:creationId xmlns:a16="http://schemas.microsoft.com/office/drawing/2014/main" id="{997B89BD-A70A-48D2-A3D9-DB2C0DB123B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4ACF4EF-5A2A-4A47-81DF-80CB513060F6}"/>
              </a:ext>
            </a:extLst>
          </p:cNvPr>
          <p:cNvSpPr>
            <a:spLocks noGrp="1"/>
          </p:cNvSpPr>
          <p:nvPr>
            <p:ph type="sldNum" sz="quarter" idx="12"/>
          </p:nvPr>
        </p:nvSpPr>
        <p:spPr/>
        <p:txBody>
          <a:bodyPr/>
          <a:lstStyle/>
          <a:p>
            <a:fld id="{28844951-7827-47D4-8276-7DDE1FA7D85A}" type="slidenum">
              <a:rPr lang="en-US" smtClean="0"/>
              <a:t>‹#›</a:t>
            </a:fld>
            <a:endParaRPr lang="en-US"/>
          </a:p>
        </p:txBody>
      </p:sp>
    </p:spTree>
    <p:extLst>
      <p:ext uri="{BB962C8B-B14F-4D97-AF65-F5344CB8AC3E}">
        <p14:creationId xmlns:p14="http://schemas.microsoft.com/office/powerpoint/2010/main" val="14190088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18B9F00-8450-475B-B155-993BAF212AF6}"/>
              </a:ext>
            </a:extLst>
          </p:cNvPr>
          <p:cNvSpPr>
            <a:spLocks noGrp="1"/>
          </p:cNvSpPr>
          <p:nvPr>
            <p:ph type="dt" sz="half" idx="10"/>
          </p:nvPr>
        </p:nvSpPr>
        <p:spPr/>
        <p:txBody>
          <a:bodyPr/>
          <a:lstStyle/>
          <a:p>
            <a:fld id="{AA70F276-1833-4A75-9C1D-A56E2295A68D}" type="datetimeFigureOut">
              <a:rPr lang="en-US" smtClean="0"/>
              <a:t>12/3/2024</a:t>
            </a:fld>
            <a:endParaRPr lang="en-US"/>
          </a:p>
        </p:txBody>
      </p:sp>
      <p:sp>
        <p:nvSpPr>
          <p:cNvPr id="3" name="Footer Placeholder 2">
            <a:extLst>
              <a:ext uri="{FF2B5EF4-FFF2-40B4-BE49-F238E27FC236}">
                <a16:creationId xmlns:a16="http://schemas.microsoft.com/office/drawing/2014/main" id="{5C0FDDA3-8E6F-42F7-BFBE-7FA9C647CA4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6C8E678-81B8-4356-9624-A0B999536312}"/>
              </a:ext>
            </a:extLst>
          </p:cNvPr>
          <p:cNvSpPr>
            <a:spLocks noGrp="1"/>
          </p:cNvSpPr>
          <p:nvPr>
            <p:ph type="sldNum" sz="quarter" idx="12"/>
          </p:nvPr>
        </p:nvSpPr>
        <p:spPr/>
        <p:txBody>
          <a:bodyPr/>
          <a:lstStyle/>
          <a:p>
            <a:fld id="{28844951-7827-47D4-8276-7DDE1FA7D85A}" type="slidenum">
              <a:rPr lang="en-US" smtClean="0"/>
              <a:t>‹#›</a:t>
            </a:fld>
            <a:endParaRPr lang="en-US"/>
          </a:p>
        </p:txBody>
      </p:sp>
    </p:spTree>
    <p:extLst>
      <p:ext uri="{BB962C8B-B14F-4D97-AF65-F5344CB8AC3E}">
        <p14:creationId xmlns:p14="http://schemas.microsoft.com/office/powerpoint/2010/main" val="2842449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010DAA-DDE3-4C9C-8171-385A3DAC81CF}"/>
              </a:ext>
            </a:extLst>
          </p:cNvPr>
          <p:cNvSpPr>
            <a:spLocks noGrp="1"/>
          </p:cNvSpPr>
          <p:nvPr>
            <p:ph type="title"/>
          </p:nvPr>
        </p:nvSpPr>
        <p:spPr>
          <a:xfrm>
            <a:off x="839788" y="685800"/>
            <a:ext cx="3932237" cy="1371600"/>
          </a:xfrm>
        </p:spPr>
        <p:txBody>
          <a:bodyPr anchor="b"/>
          <a:lstStyle>
            <a:lvl1pPr>
              <a:defRPr sz="3200"/>
            </a:lvl1pPr>
          </a:lstStyle>
          <a:p>
            <a:r>
              <a:rPr lang="en-US" dirty="0"/>
              <a:t>Click to edit Master title style</a:t>
            </a:r>
          </a:p>
        </p:txBody>
      </p:sp>
      <p:sp>
        <p:nvSpPr>
          <p:cNvPr id="3" name="Content Placeholder 2">
            <a:extLst>
              <a:ext uri="{FF2B5EF4-FFF2-40B4-BE49-F238E27FC236}">
                <a16:creationId xmlns:a16="http://schemas.microsoft.com/office/drawing/2014/main" id="{AAF73DB2-BD72-4F5E-9CA2-197343A0908A}"/>
              </a:ext>
            </a:extLst>
          </p:cNvPr>
          <p:cNvSpPr>
            <a:spLocks noGrp="1"/>
          </p:cNvSpPr>
          <p:nvPr>
            <p:ph idx="1"/>
          </p:nvPr>
        </p:nvSpPr>
        <p:spPr>
          <a:xfrm>
            <a:off x="5183188" y="685801"/>
            <a:ext cx="6172200" cy="517525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71F01536-2B0A-42A2-827E-2EB2C324A5FE}"/>
              </a:ext>
            </a:extLst>
          </p:cNvPr>
          <p:cNvSpPr>
            <a:spLocks noGrp="1"/>
          </p:cNvSpPr>
          <p:nvPr>
            <p:ph type="body" sz="half" idx="2"/>
          </p:nvPr>
        </p:nvSpPr>
        <p:spPr>
          <a:xfrm>
            <a:off x="839788" y="2209800"/>
            <a:ext cx="3932237" cy="36591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1722CD09-61EF-4733-831C-5B133DAE1F4C}"/>
              </a:ext>
            </a:extLst>
          </p:cNvPr>
          <p:cNvSpPr>
            <a:spLocks noGrp="1"/>
          </p:cNvSpPr>
          <p:nvPr>
            <p:ph type="dt" sz="half" idx="10"/>
          </p:nvPr>
        </p:nvSpPr>
        <p:spPr/>
        <p:txBody>
          <a:bodyPr/>
          <a:lstStyle/>
          <a:p>
            <a:fld id="{AA70F276-1833-4A75-9C1D-A56E2295A68D}" type="datetimeFigureOut">
              <a:rPr lang="en-US" smtClean="0"/>
              <a:t>12/3/2024</a:t>
            </a:fld>
            <a:endParaRPr lang="en-US"/>
          </a:p>
        </p:txBody>
      </p:sp>
      <p:sp>
        <p:nvSpPr>
          <p:cNvPr id="6" name="Footer Placeholder 5">
            <a:extLst>
              <a:ext uri="{FF2B5EF4-FFF2-40B4-BE49-F238E27FC236}">
                <a16:creationId xmlns:a16="http://schemas.microsoft.com/office/drawing/2014/main" id="{5B109FCF-96E4-4EBF-AAFB-5E9AD22A68A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9E381A6-E580-49A4-989C-EF4A54F83B45}"/>
              </a:ext>
            </a:extLst>
          </p:cNvPr>
          <p:cNvSpPr>
            <a:spLocks noGrp="1"/>
          </p:cNvSpPr>
          <p:nvPr>
            <p:ph type="sldNum" sz="quarter" idx="12"/>
          </p:nvPr>
        </p:nvSpPr>
        <p:spPr/>
        <p:txBody>
          <a:bodyPr/>
          <a:lstStyle/>
          <a:p>
            <a:fld id="{28844951-7827-47D4-8276-7DDE1FA7D85A}" type="slidenum">
              <a:rPr lang="en-US" smtClean="0"/>
              <a:t>‹#›</a:t>
            </a:fld>
            <a:endParaRPr lang="en-US"/>
          </a:p>
        </p:txBody>
      </p:sp>
    </p:spTree>
    <p:extLst>
      <p:ext uri="{BB962C8B-B14F-4D97-AF65-F5344CB8AC3E}">
        <p14:creationId xmlns:p14="http://schemas.microsoft.com/office/powerpoint/2010/main" val="11573992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CCFA6E-F719-4613-8815-591471E722E5}"/>
              </a:ext>
            </a:extLst>
          </p:cNvPr>
          <p:cNvSpPr>
            <a:spLocks noGrp="1"/>
          </p:cNvSpPr>
          <p:nvPr>
            <p:ph type="title"/>
          </p:nvPr>
        </p:nvSpPr>
        <p:spPr>
          <a:xfrm>
            <a:off x="839788" y="685800"/>
            <a:ext cx="3932237" cy="1371600"/>
          </a:xfrm>
        </p:spPr>
        <p:txBody>
          <a:bodyPr anchor="b"/>
          <a:lstStyle>
            <a:lvl1pPr>
              <a:defRPr sz="3200"/>
            </a:lvl1pPr>
          </a:lstStyle>
          <a:p>
            <a:r>
              <a:rPr lang="en-US" dirty="0"/>
              <a:t>Click to edit Master title style</a:t>
            </a:r>
          </a:p>
        </p:txBody>
      </p:sp>
      <p:sp>
        <p:nvSpPr>
          <p:cNvPr id="3" name="Picture Placeholder 2">
            <a:extLst>
              <a:ext uri="{FF2B5EF4-FFF2-40B4-BE49-F238E27FC236}">
                <a16:creationId xmlns:a16="http://schemas.microsoft.com/office/drawing/2014/main" id="{654384F3-CDE0-4329-B76D-45AAC94B04A8}"/>
              </a:ext>
            </a:extLst>
          </p:cNvPr>
          <p:cNvSpPr>
            <a:spLocks noGrp="1"/>
          </p:cNvSpPr>
          <p:nvPr>
            <p:ph type="pic" idx="1"/>
          </p:nvPr>
        </p:nvSpPr>
        <p:spPr>
          <a:xfrm>
            <a:off x="5183188" y="685801"/>
            <a:ext cx="6172200" cy="51752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79A9D7EB-40DA-460F-A48A-3E6D5E5612E7}"/>
              </a:ext>
            </a:extLst>
          </p:cNvPr>
          <p:cNvSpPr>
            <a:spLocks noGrp="1"/>
          </p:cNvSpPr>
          <p:nvPr>
            <p:ph type="body" sz="half" idx="2"/>
          </p:nvPr>
        </p:nvSpPr>
        <p:spPr>
          <a:xfrm>
            <a:off x="839788" y="2209800"/>
            <a:ext cx="3932237" cy="36591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1E56944C-E229-457E-868E-C48FF47DA37A}"/>
              </a:ext>
            </a:extLst>
          </p:cNvPr>
          <p:cNvSpPr>
            <a:spLocks noGrp="1"/>
          </p:cNvSpPr>
          <p:nvPr>
            <p:ph type="dt" sz="half" idx="10"/>
          </p:nvPr>
        </p:nvSpPr>
        <p:spPr/>
        <p:txBody>
          <a:bodyPr/>
          <a:lstStyle/>
          <a:p>
            <a:fld id="{AA70F276-1833-4A75-9C1D-A56E2295A68D}" type="datetimeFigureOut">
              <a:rPr lang="en-US" smtClean="0"/>
              <a:t>12/3/2024</a:t>
            </a:fld>
            <a:endParaRPr lang="en-US"/>
          </a:p>
        </p:txBody>
      </p:sp>
      <p:sp>
        <p:nvSpPr>
          <p:cNvPr id="6" name="Footer Placeholder 5">
            <a:extLst>
              <a:ext uri="{FF2B5EF4-FFF2-40B4-BE49-F238E27FC236}">
                <a16:creationId xmlns:a16="http://schemas.microsoft.com/office/drawing/2014/main" id="{CC7115FE-359F-46EA-A3C8-0D18544E34A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5165D17-3010-4FF5-9071-5CCD3E6995D6}"/>
              </a:ext>
            </a:extLst>
          </p:cNvPr>
          <p:cNvSpPr>
            <a:spLocks noGrp="1"/>
          </p:cNvSpPr>
          <p:nvPr>
            <p:ph type="sldNum" sz="quarter" idx="12"/>
          </p:nvPr>
        </p:nvSpPr>
        <p:spPr/>
        <p:txBody>
          <a:bodyPr/>
          <a:lstStyle/>
          <a:p>
            <a:fld id="{28844951-7827-47D4-8276-7DDE1FA7D85A}" type="slidenum">
              <a:rPr lang="en-US" smtClean="0"/>
              <a:t>‹#›</a:t>
            </a:fld>
            <a:endParaRPr lang="en-US"/>
          </a:p>
        </p:txBody>
      </p:sp>
    </p:spTree>
    <p:extLst>
      <p:ext uri="{BB962C8B-B14F-4D97-AF65-F5344CB8AC3E}">
        <p14:creationId xmlns:p14="http://schemas.microsoft.com/office/powerpoint/2010/main" val="6881271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7B47DD-81F8-4128-9E50-04A9F2D3DCD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56564D1-2B83-4C0F-ACBA-E91472C50A3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FA1D7D-D2EC-4ADB-9C65-191DEC82DDF4}"/>
              </a:ext>
            </a:extLst>
          </p:cNvPr>
          <p:cNvSpPr>
            <a:spLocks noGrp="1"/>
          </p:cNvSpPr>
          <p:nvPr>
            <p:ph type="dt" sz="half" idx="10"/>
          </p:nvPr>
        </p:nvSpPr>
        <p:spPr/>
        <p:txBody>
          <a:bodyPr/>
          <a:lstStyle/>
          <a:p>
            <a:fld id="{AA70F276-1833-4A75-9C1D-A56E2295A68D}" type="datetimeFigureOut">
              <a:rPr lang="en-US" smtClean="0"/>
              <a:t>12/3/2024</a:t>
            </a:fld>
            <a:endParaRPr lang="en-US"/>
          </a:p>
        </p:txBody>
      </p:sp>
      <p:sp>
        <p:nvSpPr>
          <p:cNvPr id="5" name="Footer Placeholder 4">
            <a:extLst>
              <a:ext uri="{FF2B5EF4-FFF2-40B4-BE49-F238E27FC236}">
                <a16:creationId xmlns:a16="http://schemas.microsoft.com/office/drawing/2014/main" id="{534CB571-86F9-474A-826A-75CC21C8832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1384F5F-50E6-4BB9-B848-EE2302C02ABE}"/>
              </a:ext>
            </a:extLst>
          </p:cNvPr>
          <p:cNvSpPr>
            <a:spLocks noGrp="1"/>
          </p:cNvSpPr>
          <p:nvPr>
            <p:ph type="sldNum" sz="quarter" idx="12"/>
          </p:nvPr>
        </p:nvSpPr>
        <p:spPr/>
        <p:txBody>
          <a:bodyPr/>
          <a:lstStyle/>
          <a:p>
            <a:fld id="{28844951-7827-47D4-8276-7DDE1FA7D85A}" type="slidenum">
              <a:rPr lang="en-US" smtClean="0"/>
              <a:t>‹#›</a:t>
            </a:fld>
            <a:endParaRPr lang="en-US"/>
          </a:p>
        </p:txBody>
      </p:sp>
    </p:spTree>
    <p:extLst>
      <p:ext uri="{BB962C8B-B14F-4D97-AF65-F5344CB8AC3E}">
        <p14:creationId xmlns:p14="http://schemas.microsoft.com/office/powerpoint/2010/main" val="17896879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E3F08DF-1C0D-4F53-A3AB-95D7B55FA063}"/>
              </a:ext>
            </a:extLst>
          </p:cNvPr>
          <p:cNvSpPr>
            <a:spLocks noGrp="1"/>
          </p:cNvSpPr>
          <p:nvPr>
            <p:ph type="title" orient="vert"/>
          </p:nvPr>
        </p:nvSpPr>
        <p:spPr>
          <a:xfrm>
            <a:off x="8724900" y="761999"/>
            <a:ext cx="2628900" cy="5414963"/>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C0D3BBD-C494-4E94-B189-319802A93E38}"/>
              </a:ext>
            </a:extLst>
          </p:cNvPr>
          <p:cNvSpPr>
            <a:spLocks noGrp="1"/>
          </p:cNvSpPr>
          <p:nvPr>
            <p:ph type="body" orient="vert" idx="1"/>
          </p:nvPr>
        </p:nvSpPr>
        <p:spPr>
          <a:xfrm>
            <a:off x="838200" y="761999"/>
            <a:ext cx="7734300" cy="5414963"/>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D63C0BD9-4BED-43D3-852F-B74B949A2287}"/>
              </a:ext>
            </a:extLst>
          </p:cNvPr>
          <p:cNvSpPr>
            <a:spLocks noGrp="1"/>
          </p:cNvSpPr>
          <p:nvPr>
            <p:ph type="dt" sz="half" idx="10"/>
          </p:nvPr>
        </p:nvSpPr>
        <p:spPr/>
        <p:txBody>
          <a:bodyPr/>
          <a:lstStyle/>
          <a:p>
            <a:fld id="{AA70F276-1833-4A75-9C1D-A56E2295A68D}" type="datetimeFigureOut">
              <a:rPr lang="en-US" smtClean="0"/>
              <a:t>12/3/2024</a:t>
            </a:fld>
            <a:endParaRPr lang="en-US"/>
          </a:p>
        </p:txBody>
      </p:sp>
      <p:sp>
        <p:nvSpPr>
          <p:cNvPr id="5" name="Footer Placeholder 4">
            <a:extLst>
              <a:ext uri="{FF2B5EF4-FFF2-40B4-BE49-F238E27FC236}">
                <a16:creationId xmlns:a16="http://schemas.microsoft.com/office/drawing/2014/main" id="{BB7811DC-C725-4462-B622-DB96A898767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7C42D06-438F-4150-9238-E2FAEE5E28D9}"/>
              </a:ext>
            </a:extLst>
          </p:cNvPr>
          <p:cNvSpPr>
            <a:spLocks noGrp="1"/>
          </p:cNvSpPr>
          <p:nvPr>
            <p:ph type="sldNum" sz="quarter" idx="12"/>
          </p:nvPr>
        </p:nvSpPr>
        <p:spPr/>
        <p:txBody>
          <a:bodyPr/>
          <a:lstStyle/>
          <a:p>
            <a:fld id="{28844951-7827-47D4-8276-7DDE1FA7D85A}" type="slidenum">
              <a:rPr lang="en-US" smtClean="0"/>
              <a:t>‹#›</a:t>
            </a:fld>
            <a:endParaRPr lang="en-US"/>
          </a:p>
        </p:txBody>
      </p:sp>
    </p:spTree>
    <p:extLst>
      <p:ext uri="{BB962C8B-B14F-4D97-AF65-F5344CB8AC3E}">
        <p14:creationId xmlns:p14="http://schemas.microsoft.com/office/powerpoint/2010/main" val="28259525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Frame 7">
            <a:extLst>
              <a:ext uri="{FF2B5EF4-FFF2-40B4-BE49-F238E27FC236}">
                <a16:creationId xmlns:a16="http://schemas.microsoft.com/office/drawing/2014/main" id="{DD7EAFE6-2BB9-41FB-9CF4-588CFC708774}"/>
              </a:ext>
            </a:extLst>
          </p:cNvPr>
          <p:cNvSpPr/>
          <p:nvPr/>
        </p:nvSpPr>
        <p:spPr>
          <a:xfrm>
            <a:off x="0" y="0"/>
            <a:ext cx="12188952" cy="6858000"/>
          </a:xfrm>
          <a:prstGeom prst="frame">
            <a:avLst>
              <a:gd name="adj1" fmla="val 7164"/>
            </a:avLst>
          </a:prstGeom>
          <a:gradFill flip="none" rotWithShape="1">
            <a:gsLst>
              <a:gs pos="0">
                <a:schemeClr val="accent2">
                  <a:alpha val="40000"/>
                </a:schemeClr>
              </a:gs>
              <a:gs pos="100000">
                <a:schemeClr val="accent1">
                  <a:alpha val="4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a:extLst>
              <a:ext uri="{FF2B5EF4-FFF2-40B4-BE49-F238E27FC236}">
                <a16:creationId xmlns:a16="http://schemas.microsoft.com/office/drawing/2014/main" id="{41447F1F-BFA8-4A56-894B-40120132EE48}"/>
              </a:ext>
            </a:extLst>
          </p:cNvPr>
          <p:cNvSpPr>
            <a:spLocks noGrp="1"/>
          </p:cNvSpPr>
          <p:nvPr>
            <p:ph type="title"/>
          </p:nvPr>
        </p:nvSpPr>
        <p:spPr>
          <a:xfrm>
            <a:off x="838200" y="681037"/>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2658FB99-0FA3-49F4-99A1-61919F942794}"/>
              </a:ext>
            </a:extLst>
          </p:cNvPr>
          <p:cNvSpPr>
            <a:spLocks noGrp="1"/>
          </p:cNvSpPr>
          <p:nvPr>
            <p:ph type="body" idx="1"/>
          </p:nvPr>
        </p:nvSpPr>
        <p:spPr>
          <a:xfrm>
            <a:off x="838200" y="2178657"/>
            <a:ext cx="10515600" cy="3998306"/>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4CDCCAE5-4EB0-4174-BD15-4943899B0A29}"/>
              </a:ext>
            </a:extLst>
          </p:cNvPr>
          <p:cNvSpPr>
            <a:spLocks noGrp="1"/>
          </p:cNvSpPr>
          <p:nvPr>
            <p:ph type="dt" sz="half" idx="2"/>
          </p:nvPr>
        </p:nvSpPr>
        <p:spPr>
          <a:xfrm>
            <a:off x="838200" y="6429375"/>
            <a:ext cx="2743200" cy="365125"/>
          </a:xfrm>
          <a:prstGeom prst="rect">
            <a:avLst/>
          </a:prstGeom>
        </p:spPr>
        <p:txBody>
          <a:bodyPr vert="horz" lIns="91440" tIns="45720" rIns="91440" bIns="45720" rtlCol="0" anchor="ctr"/>
          <a:lstStyle>
            <a:lvl1pPr algn="l">
              <a:defRPr sz="900" cap="all" spc="150" baseline="0">
                <a:solidFill>
                  <a:srgbClr val="FFFFFF"/>
                </a:solidFill>
              </a:defRPr>
            </a:lvl1pPr>
          </a:lstStyle>
          <a:p>
            <a:fld id="{AA70F276-1833-4A75-9C1D-A56E2295A68D}" type="datetimeFigureOut">
              <a:rPr lang="en-US" smtClean="0"/>
              <a:pPr/>
              <a:t>12/3/2024</a:t>
            </a:fld>
            <a:endParaRPr lang="en-US" dirty="0"/>
          </a:p>
        </p:txBody>
      </p:sp>
      <p:sp>
        <p:nvSpPr>
          <p:cNvPr id="5" name="Footer Placeholder 4">
            <a:extLst>
              <a:ext uri="{FF2B5EF4-FFF2-40B4-BE49-F238E27FC236}">
                <a16:creationId xmlns:a16="http://schemas.microsoft.com/office/drawing/2014/main" id="{26A4189E-43B2-4CEE-B13E-61A1FBBBD25D}"/>
              </a:ext>
            </a:extLst>
          </p:cNvPr>
          <p:cNvSpPr>
            <a:spLocks noGrp="1"/>
          </p:cNvSpPr>
          <p:nvPr>
            <p:ph type="ftr" sz="quarter" idx="3"/>
          </p:nvPr>
        </p:nvSpPr>
        <p:spPr>
          <a:xfrm>
            <a:off x="4038600" y="6429375"/>
            <a:ext cx="4114800" cy="365125"/>
          </a:xfrm>
          <a:prstGeom prst="rect">
            <a:avLst/>
          </a:prstGeom>
        </p:spPr>
        <p:txBody>
          <a:bodyPr vert="horz" lIns="91440" tIns="45720" rIns="91440" bIns="45720" rtlCol="0" anchor="ctr"/>
          <a:lstStyle>
            <a:lvl1pPr algn="ctr">
              <a:defRPr sz="900" cap="all" spc="150" baseline="0">
                <a:solidFill>
                  <a:srgbClr val="FFFFFF"/>
                </a:solidFill>
              </a:defRPr>
            </a:lvl1pPr>
          </a:lstStyle>
          <a:p>
            <a:endParaRPr lang="en-US">
              <a:solidFill>
                <a:srgbClr val="FFFFFF"/>
              </a:solidFill>
            </a:endParaRPr>
          </a:p>
        </p:txBody>
      </p:sp>
      <p:sp>
        <p:nvSpPr>
          <p:cNvPr id="6" name="Slide Number Placeholder 5">
            <a:extLst>
              <a:ext uri="{FF2B5EF4-FFF2-40B4-BE49-F238E27FC236}">
                <a16:creationId xmlns:a16="http://schemas.microsoft.com/office/drawing/2014/main" id="{EAA0530F-0BC8-46EF-A765-DD58B5367528}"/>
              </a:ext>
            </a:extLst>
          </p:cNvPr>
          <p:cNvSpPr>
            <a:spLocks noGrp="1"/>
          </p:cNvSpPr>
          <p:nvPr>
            <p:ph type="sldNum" sz="quarter" idx="4"/>
          </p:nvPr>
        </p:nvSpPr>
        <p:spPr>
          <a:xfrm>
            <a:off x="8610600" y="6429375"/>
            <a:ext cx="2743200" cy="365125"/>
          </a:xfrm>
          <a:prstGeom prst="rect">
            <a:avLst/>
          </a:prstGeom>
        </p:spPr>
        <p:txBody>
          <a:bodyPr vert="horz" lIns="91440" tIns="45720" rIns="91440" bIns="45720" rtlCol="0" anchor="ctr"/>
          <a:lstStyle>
            <a:lvl1pPr algn="r">
              <a:defRPr sz="900" cap="all" spc="150" baseline="0">
                <a:solidFill>
                  <a:srgbClr val="FFFFFF"/>
                </a:solidFill>
              </a:defRPr>
            </a:lvl1pPr>
          </a:lstStyle>
          <a:p>
            <a:fld id="{28844951-7827-47D4-8276-7DDE1FA7D85A}" type="slidenum">
              <a:rPr lang="en-US" smtClean="0"/>
              <a:pPr/>
              <a:t>‹#›</a:t>
            </a:fld>
            <a:endParaRPr lang="en-US"/>
          </a:p>
        </p:txBody>
      </p:sp>
    </p:spTree>
    <p:extLst>
      <p:ext uri="{BB962C8B-B14F-4D97-AF65-F5344CB8AC3E}">
        <p14:creationId xmlns:p14="http://schemas.microsoft.com/office/powerpoint/2010/main" val="1349528673"/>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14" r:id="rId5"/>
    <p:sldLayoutId id="2147483719" r:id="rId6"/>
    <p:sldLayoutId id="2147483715" r:id="rId7"/>
    <p:sldLayoutId id="2147483716" r:id="rId8"/>
    <p:sldLayoutId id="2147483717" r:id="rId9"/>
    <p:sldLayoutId id="2147483718" r:id="rId10"/>
    <p:sldLayoutId id="2147483720" r:id="rId11"/>
  </p:sldLayoutIdLst>
  <p:txStyles>
    <p:titleStyle>
      <a:lvl1pPr marL="0" algn="l" defTabSz="914400" rtl="0" eaLnBrk="1" latinLnBrk="0" hangingPunct="1">
        <a:lnSpc>
          <a:spcPct val="90000"/>
        </a:lnSpc>
        <a:spcBef>
          <a:spcPct val="0"/>
        </a:spcBef>
        <a:buNone/>
        <a:defRPr lang="en-US" sz="5200" kern="1200" dirty="0">
          <a:gradFill flip="none" rotWithShape="1">
            <a:gsLst>
              <a:gs pos="0">
                <a:schemeClr val="accent5"/>
              </a:gs>
              <a:gs pos="100000">
                <a:schemeClr val="accent1">
                  <a:alpha val="70000"/>
                </a:schemeClr>
              </a:gs>
            </a:gsLst>
            <a:lin ang="0" scaled="1"/>
            <a:tileRect/>
          </a:gradFill>
          <a:latin typeface="+mj-lt"/>
          <a:ea typeface="+mn-ea"/>
          <a:cs typeface="Angsana New" panose="02020603050405020304" pitchFamily="18" charset="-34"/>
        </a:defRPr>
      </a:lvl1pPr>
    </p:titleStyle>
    <p:bodyStyle>
      <a:lvl1pPr marL="457200" indent="-228600" algn="l" defTabSz="914400" rtl="0" eaLnBrk="1" latinLnBrk="0" hangingPunct="1">
        <a:lnSpc>
          <a:spcPct val="110000"/>
        </a:lnSpc>
        <a:spcBef>
          <a:spcPts val="1000"/>
        </a:spcBef>
        <a:buClr>
          <a:schemeClr val="tx2">
            <a:lumMod val="10000"/>
            <a:lumOff val="90000"/>
          </a:schemeClr>
        </a:buClr>
        <a:buSzPct val="80000"/>
        <a:buFont typeface="Wingdings" panose="05000000000000000000" pitchFamily="2" charset="2"/>
        <a:buChar char="§"/>
        <a:defRPr sz="2800" kern="1200">
          <a:solidFill>
            <a:schemeClr val="tx2">
              <a:alpha val="70000"/>
            </a:schemeClr>
          </a:solidFill>
          <a:latin typeface="+mn-lt"/>
          <a:ea typeface="+mn-ea"/>
          <a:cs typeface="+mn-cs"/>
        </a:defRPr>
      </a:lvl1pPr>
      <a:lvl2pPr marL="800100" indent="-228600" algn="l" defTabSz="914400" rtl="0" eaLnBrk="1" latinLnBrk="0" hangingPunct="1">
        <a:lnSpc>
          <a:spcPct val="110000"/>
        </a:lnSpc>
        <a:spcBef>
          <a:spcPts val="500"/>
        </a:spcBef>
        <a:buClr>
          <a:schemeClr val="tx2">
            <a:lumMod val="10000"/>
            <a:lumOff val="90000"/>
          </a:schemeClr>
        </a:buClr>
        <a:buSzPct val="80000"/>
        <a:buFont typeface="Wingdings" panose="05000000000000000000" pitchFamily="2" charset="2"/>
        <a:buChar char="§"/>
        <a:defRPr sz="2400" kern="1200">
          <a:solidFill>
            <a:schemeClr val="tx2">
              <a:alpha val="70000"/>
            </a:schemeClr>
          </a:solidFill>
          <a:latin typeface="+mn-lt"/>
          <a:ea typeface="+mn-ea"/>
          <a:cs typeface="+mn-cs"/>
        </a:defRPr>
      </a:lvl2pPr>
      <a:lvl3pPr marL="1257300" indent="-228600" algn="l" defTabSz="914400" rtl="0" eaLnBrk="1" latinLnBrk="0" hangingPunct="1">
        <a:lnSpc>
          <a:spcPct val="110000"/>
        </a:lnSpc>
        <a:spcBef>
          <a:spcPts val="500"/>
        </a:spcBef>
        <a:buClr>
          <a:schemeClr val="tx2">
            <a:lumMod val="10000"/>
            <a:lumOff val="90000"/>
          </a:schemeClr>
        </a:buClr>
        <a:buSzPct val="80000"/>
        <a:buFont typeface="Wingdings" panose="05000000000000000000" pitchFamily="2" charset="2"/>
        <a:buChar char="§"/>
        <a:defRPr sz="2000" kern="1200">
          <a:solidFill>
            <a:schemeClr val="tx2">
              <a:alpha val="70000"/>
            </a:schemeClr>
          </a:solidFill>
          <a:latin typeface="+mn-lt"/>
          <a:ea typeface="+mn-ea"/>
          <a:cs typeface="+mn-cs"/>
        </a:defRPr>
      </a:lvl3pPr>
      <a:lvl4pPr marL="1657350" indent="-228600" algn="l" defTabSz="914400" rtl="0" eaLnBrk="1" latinLnBrk="0" hangingPunct="1">
        <a:lnSpc>
          <a:spcPct val="110000"/>
        </a:lnSpc>
        <a:spcBef>
          <a:spcPts val="500"/>
        </a:spcBef>
        <a:buClr>
          <a:schemeClr val="tx2">
            <a:lumMod val="10000"/>
            <a:lumOff val="90000"/>
          </a:schemeClr>
        </a:buClr>
        <a:buSzPct val="80000"/>
        <a:buFont typeface="Wingdings" panose="05000000000000000000" pitchFamily="2" charset="2"/>
        <a:buChar char="§"/>
        <a:defRPr sz="1800" kern="1200">
          <a:solidFill>
            <a:schemeClr val="tx2">
              <a:alpha val="70000"/>
            </a:schemeClr>
          </a:solidFill>
          <a:latin typeface="+mn-lt"/>
          <a:ea typeface="+mn-ea"/>
          <a:cs typeface="+mn-cs"/>
        </a:defRPr>
      </a:lvl4pPr>
      <a:lvl5pPr marL="2114550" indent="-228600" algn="l" defTabSz="914400" rtl="0" eaLnBrk="1" latinLnBrk="0" hangingPunct="1">
        <a:lnSpc>
          <a:spcPct val="110000"/>
        </a:lnSpc>
        <a:spcBef>
          <a:spcPts val="500"/>
        </a:spcBef>
        <a:buClr>
          <a:schemeClr val="tx2">
            <a:lumMod val="10000"/>
            <a:lumOff val="90000"/>
          </a:schemeClr>
        </a:buClr>
        <a:buSzPct val="80000"/>
        <a:buFont typeface="Wingdings" panose="05000000000000000000" pitchFamily="2" charset="2"/>
        <a:buChar char="§"/>
        <a:defRPr sz="1800" kern="1200">
          <a:solidFill>
            <a:schemeClr val="tx2">
              <a:alpha val="7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8C37C960-91F5-4F61-B2CD-8A037920720B}"/>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Cloudy oil paint art">
            <a:extLst>
              <a:ext uri="{FF2B5EF4-FFF2-40B4-BE49-F238E27FC236}">
                <a16:creationId xmlns:a16="http://schemas.microsoft.com/office/drawing/2014/main" id="{6627341F-34ED-5E80-6842-3638ABED8E0B}"/>
              </a:ext>
            </a:extLst>
          </p:cNvPr>
          <p:cNvPicPr>
            <a:picLocks noChangeAspect="1"/>
          </p:cNvPicPr>
          <p:nvPr/>
        </p:nvPicPr>
        <p:blipFill>
          <a:blip r:embed="rId2">
            <a:alphaModFix/>
          </a:blip>
          <a:srcRect r="59994" b="-1"/>
          <a:stretch/>
        </p:blipFill>
        <p:spPr>
          <a:xfrm>
            <a:off x="8069579" y="10"/>
            <a:ext cx="4110228" cy="6857989"/>
          </a:xfrm>
          <a:prstGeom prst="rect">
            <a:avLst/>
          </a:prstGeom>
        </p:spPr>
      </p:pic>
      <p:sp>
        <p:nvSpPr>
          <p:cNvPr id="32" name="Title 1">
            <a:extLst>
              <a:ext uri="{FF2B5EF4-FFF2-40B4-BE49-F238E27FC236}">
                <a16:creationId xmlns:a16="http://schemas.microsoft.com/office/drawing/2014/main" id="{ACF23B2D-2231-699B-B874-A0A1FB373824}"/>
              </a:ext>
            </a:extLst>
          </p:cNvPr>
          <p:cNvSpPr>
            <a:spLocks noGrp="1"/>
          </p:cNvSpPr>
          <p:nvPr>
            <p:ph type="ctrTitle"/>
          </p:nvPr>
        </p:nvSpPr>
        <p:spPr>
          <a:xfrm>
            <a:off x="391885" y="653143"/>
            <a:ext cx="6699380" cy="5235841"/>
          </a:xfrm>
        </p:spPr>
        <p:txBody>
          <a:bodyPr anchor="t">
            <a:normAutofit fontScale="90000"/>
          </a:bodyPr>
          <a:lstStyle/>
          <a:p>
            <a:pPr marR="0" algn="l">
              <a:lnSpc>
                <a:spcPct val="107000"/>
              </a:lnSpc>
              <a:spcAft>
                <a:spcPts val="800"/>
              </a:spcAft>
            </a:pPr>
            <a:r>
              <a:rPr lang="en-US" sz="3600" b="1" kern="100" dirty="0" smtClean="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rPr>
              <a:t>        Catering Services Database</a:t>
            </a:r>
            <a:r>
              <a:rPr lang="en-US" sz="2400" b="1" kern="100" dirty="0" smtClean="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rPr>
              <a:t/>
            </a:r>
            <a:br>
              <a:rPr lang="en-US" sz="2400" b="1" kern="100" dirty="0" smtClean="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rPr>
            </a:br>
            <a:r>
              <a:rPr lang="en-US" sz="2400" b="1" kern="100" dirty="0" smtClean="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rPr>
              <a:t/>
            </a:r>
            <a:br>
              <a:rPr lang="en-US" sz="2400" b="1" kern="100" dirty="0" smtClean="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rPr>
            </a:br>
            <a:r>
              <a:rPr lang="en-US" sz="2400" b="1" kern="100" dirty="0" smtClean="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rPr>
              <a:t/>
            </a:r>
            <a:br>
              <a:rPr lang="en-US" sz="2400" b="1" kern="100" dirty="0" smtClean="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rPr>
            </a:br>
            <a:r>
              <a:rPr lang="en-US" sz="2400" b="1" kern="100" dirty="0" smtClean="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rPr>
              <a:t>INFO 5707: Data Modelling for Information </a:t>
            </a:r>
            <a:r>
              <a:rPr lang="en-US" sz="2400" b="1" kern="100" dirty="0">
                <a:solidFill>
                  <a:schemeClr val="tx1"/>
                </a:solidFill>
                <a:latin typeface="Times New Roman" panose="02020603050405020304" pitchFamily="18" charset="0"/>
                <a:ea typeface="Aptos" panose="020B0004020202020204" pitchFamily="34" charset="0"/>
                <a:cs typeface="Times New Roman" panose="02020603050405020304" pitchFamily="18" charset="0"/>
              </a:rPr>
              <a:t>P</a:t>
            </a:r>
            <a:r>
              <a:rPr lang="en-US" sz="2400" b="1" kern="100" dirty="0" smtClean="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rPr>
              <a:t>rofessionals                          </a:t>
            </a:r>
            <a:r>
              <a:rPr lang="en-US" sz="2400" b="1" kern="100" dirty="0">
                <a:solidFill>
                  <a:schemeClr val="tx1"/>
                </a:solidFill>
                <a:latin typeface="Times New Roman" panose="02020603050405020304" pitchFamily="18" charset="0"/>
                <a:ea typeface="Aptos" panose="020B0004020202020204" pitchFamily="34" charset="0"/>
                <a:cs typeface="Times New Roman" panose="02020603050405020304" pitchFamily="18" charset="0"/>
              </a:rPr>
              <a:t/>
            </a:r>
            <a:br>
              <a:rPr lang="en-US" sz="2400" b="1" kern="100" dirty="0">
                <a:solidFill>
                  <a:schemeClr val="tx1"/>
                </a:solidFill>
                <a:latin typeface="Times New Roman" panose="02020603050405020304" pitchFamily="18" charset="0"/>
                <a:ea typeface="Aptos" panose="020B0004020202020204" pitchFamily="34" charset="0"/>
                <a:cs typeface="Times New Roman" panose="02020603050405020304" pitchFamily="18" charset="0"/>
              </a:rPr>
            </a:br>
            <a:r>
              <a:rPr lang="en-US" sz="2400" b="1" kern="100" dirty="0" smtClean="0">
                <a:solidFill>
                  <a:schemeClr val="tx1"/>
                </a:solidFill>
                <a:latin typeface="Times New Roman" panose="02020603050405020304" pitchFamily="18" charset="0"/>
                <a:ea typeface="Aptos" panose="020B0004020202020204" pitchFamily="34" charset="0"/>
                <a:cs typeface="Times New Roman" panose="02020603050405020304" pitchFamily="18" charset="0"/>
              </a:rPr>
              <a:t/>
            </a:r>
            <a:br>
              <a:rPr lang="en-US" sz="2400" b="1" kern="100" dirty="0" smtClean="0">
                <a:solidFill>
                  <a:schemeClr val="tx1"/>
                </a:solidFill>
                <a:latin typeface="Times New Roman" panose="02020603050405020304" pitchFamily="18" charset="0"/>
                <a:ea typeface="Aptos" panose="020B0004020202020204" pitchFamily="34" charset="0"/>
                <a:cs typeface="Times New Roman" panose="02020603050405020304" pitchFamily="18" charset="0"/>
              </a:rPr>
            </a:br>
            <a:r>
              <a:rPr lang="en-US" sz="2400" b="1" kern="100" dirty="0">
                <a:solidFill>
                  <a:schemeClr val="tx1"/>
                </a:solidFill>
                <a:latin typeface="Times New Roman" panose="02020603050405020304" pitchFamily="18" charset="0"/>
                <a:ea typeface="Aptos" panose="020B0004020202020204" pitchFamily="34" charset="0"/>
                <a:cs typeface="Times New Roman" panose="02020603050405020304" pitchFamily="18" charset="0"/>
              </a:rPr>
              <a:t/>
            </a:r>
            <a:br>
              <a:rPr lang="en-US" sz="2400" b="1" kern="100" dirty="0">
                <a:solidFill>
                  <a:schemeClr val="tx1"/>
                </a:solidFill>
                <a:latin typeface="Times New Roman" panose="02020603050405020304" pitchFamily="18" charset="0"/>
                <a:ea typeface="Aptos" panose="020B0004020202020204" pitchFamily="34" charset="0"/>
                <a:cs typeface="Times New Roman" panose="02020603050405020304" pitchFamily="18" charset="0"/>
              </a:rPr>
            </a:br>
            <a:r>
              <a:rPr lang="en-US" sz="2400" b="1" kern="100" dirty="0" smtClean="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rPr>
              <a:t>Team </a:t>
            </a:r>
            <a:r>
              <a:rPr lang="en-US" sz="2400" b="1" kern="100" dirty="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rPr>
              <a:t>Members Names - Group </a:t>
            </a:r>
            <a:r>
              <a:rPr lang="en-US" sz="2400" b="1" kern="100" dirty="0" smtClean="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rPr>
              <a:t>12</a:t>
            </a:r>
            <a:r>
              <a:rPr lang="en-US" sz="2400" kern="100" dirty="0">
                <a:solidFill>
                  <a:schemeClr val="tx1"/>
                </a:solidFill>
                <a:latin typeface="Times New Roman" panose="02020603050405020304" pitchFamily="18" charset="0"/>
                <a:ea typeface="Aptos" panose="020B0004020202020204" pitchFamily="34" charset="0"/>
                <a:cs typeface="Times New Roman" panose="02020603050405020304" pitchFamily="18" charset="0"/>
              </a:rPr>
              <a:t/>
            </a:r>
            <a:br>
              <a:rPr lang="en-US" sz="2400" kern="100" dirty="0">
                <a:solidFill>
                  <a:schemeClr val="tx1"/>
                </a:solidFill>
                <a:latin typeface="Times New Roman" panose="02020603050405020304" pitchFamily="18" charset="0"/>
                <a:ea typeface="Aptos" panose="020B0004020202020204" pitchFamily="34" charset="0"/>
                <a:cs typeface="Times New Roman" panose="02020603050405020304" pitchFamily="18" charset="0"/>
              </a:rPr>
            </a:br>
            <a:r>
              <a:rPr lang="en-US" sz="2400" kern="100" dirty="0" smtClean="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rPr>
              <a:t>Naga </a:t>
            </a:r>
            <a:r>
              <a:rPr lang="en-US" sz="2400" kern="100" dirty="0" err="1">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rPr>
              <a:t>Moulika</a:t>
            </a:r>
            <a:r>
              <a:rPr lang="en-US" sz="2400" kern="100" dirty="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400" kern="100" dirty="0" err="1" smtClean="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rPr>
              <a:t>Vema</a:t>
            </a:r>
            <a:r>
              <a:rPr lang="en-US" sz="2400" kern="100" dirty="0" smtClean="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rPr>
              <a:t> (Team Coordinator)</a:t>
            </a:r>
            <a:r>
              <a:rPr lang="en-US" sz="2400" kern="100" dirty="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rPr>
              <a:t/>
            </a:r>
            <a:br>
              <a:rPr lang="en-US" sz="2400" kern="100" dirty="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rPr>
            </a:br>
            <a:r>
              <a:rPr lang="en-US" sz="2400" kern="100" dirty="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rPr>
              <a:t>Moulya Reddygari Bhupal</a:t>
            </a:r>
            <a:br>
              <a:rPr lang="en-US" sz="2400" kern="100" dirty="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rPr>
            </a:br>
            <a:r>
              <a:rPr lang="en-US" sz="2400" kern="100" dirty="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rPr>
              <a:t>Venkata Naga Triveni Bottu</a:t>
            </a:r>
            <a:br>
              <a:rPr lang="en-US" sz="2400" kern="100" dirty="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rPr>
            </a:br>
            <a:r>
              <a:rPr lang="en-US" sz="2400" kern="100" dirty="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rPr>
              <a:t>Tejaswi Gummadi</a:t>
            </a:r>
            <a:br>
              <a:rPr lang="en-US" sz="2400" kern="100" dirty="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rPr>
            </a:br>
            <a:r>
              <a:rPr lang="en-US" sz="2400" kern="100" dirty="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rPr>
              <a:t>Sushmitha Gangadari</a:t>
            </a:r>
            <a:r>
              <a:rPr lang="en-US" sz="1100" kern="100" dirty="0">
                <a:effectLst/>
                <a:latin typeface="Aptos" panose="020B0004020202020204" pitchFamily="34" charset="0"/>
                <a:ea typeface="Aptos" panose="020B0004020202020204" pitchFamily="34" charset="0"/>
                <a:cs typeface="Gautami" panose="020B0502040204020203" pitchFamily="34" charset="0"/>
              </a:rPr>
              <a:t/>
            </a:r>
            <a:br>
              <a:rPr lang="en-US" sz="1100" kern="100" dirty="0">
                <a:effectLst/>
                <a:latin typeface="Aptos" panose="020B0004020202020204" pitchFamily="34" charset="0"/>
                <a:ea typeface="Aptos" panose="020B0004020202020204" pitchFamily="34" charset="0"/>
                <a:cs typeface="Gautami" panose="020B0502040204020203" pitchFamily="34" charset="0"/>
              </a:rPr>
            </a:br>
            <a:endParaRPr lang="en-US" dirty="0">
              <a:gradFill flip="none" rotWithShape="1">
                <a:gsLst>
                  <a:gs pos="0">
                    <a:schemeClr val="accent5">
                      <a:alpha val="70000"/>
                    </a:schemeClr>
                  </a:gs>
                  <a:gs pos="100000">
                    <a:schemeClr val="accent1">
                      <a:alpha val="70000"/>
                    </a:schemeClr>
                  </a:gs>
                </a:gsLst>
                <a:lin ang="0" scaled="1"/>
                <a:tileRect/>
              </a:gradFill>
            </a:endParaRPr>
          </a:p>
        </p:txBody>
      </p:sp>
    </p:spTree>
    <p:extLst>
      <p:ext uri="{BB962C8B-B14F-4D97-AF65-F5344CB8AC3E}">
        <p14:creationId xmlns:p14="http://schemas.microsoft.com/office/powerpoint/2010/main" val="94309569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01012" y="681037"/>
            <a:ext cx="10252788" cy="1325563"/>
          </a:xfrm>
        </p:spPr>
        <p:txBody>
          <a:bodyPr>
            <a:normAutofit/>
          </a:bodyPr>
          <a:lstStyle/>
          <a:p>
            <a:r>
              <a:rPr lang="en-IN" sz="4000" dirty="0" smtClean="0">
                <a:latin typeface="Times New Roman" panose="02020603050405020304" pitchFamily="18" charset="0"/>
                <a:cs typeface="Times New Roman" panose="02020603050405020304" pitchFamily="18" charset="0"/>
              </a:rPr>
              <a:t>Contributions of teammates:</a:t>
            </a:r>
            <a:endParaRPr lang="en-IN" sz="40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endParaRPr lang="en-IN" sz="2400" dirty="0" smtClean="0">
              <a:latin typeface="Times New Roman" panose="02020603050405020304" pitchFamily="18" charset="0"/>
              <a:cs typeface="Times New Roman" panose="02020603050405020304" pitchFamily="18" charset="0"/>
            </a:endParaRPr>
          </a:p>
          <a:p>
            <a:r>
              <a:rPr lang="en-IN" sz="2400" dirty="0" smtClean="0">
                <a:latin typeface="Times New Roman" panose="02020603050405020304" pitchFamily="18" charset="0"/>
                <a:cs typeface="Times New Roman" panose="02020603050405020304" pitchFamily="18" charset="0"/>
              </a:rPr>
              <a:t>Naga </a:t>
            </a:r>
            <a:r>
              <a:rPr lang="en-IN" sz="2400" dirty="0" err="1">
                <a:latin typeface="Times New Roman" panose="02020603050405020304" pitchFamily="18" charset="0"/>
                <a:cs typeface="Times New Roman" panose="02020603050405020304" pitchFamily="18" charset="0"/>
              </a:rPr>
              <a:t>Moulika</a:t>
            </a:r>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Vema</a:t>
            </a:r>
            <a:r>
              <a:rPr lang="en-IN" sz="2400" dirty="0">
                <a:latin typeface="Times New Roman" panose="02020603050405020304" pitchFamily="18" charset="0"/>
                <a:cs typeface="Times New Roman" panose="02020603050405020304" pitchFamily="18" charset="0"/>
              </a:rPr>
              <a:t>: </a:t>
            </a:r>
            <a:r>
              <a:rPr lang="en-IN" sz="2400" dirty="0" smtClean="0">
                <a:latin typeface="Times New Roman" panose="02020603050405020304" pitchFamily="18" charset="0"/>
                <a:cs typeface="Times New Roman" panose="02020603050405020304" pitchFamily="18" charset="0"/>
              </a:rPr>
              <a:t>Data Dictionary, Queries, Documentation </a:t>
            </a:r>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Moulya Reddygari Bhupal: </a:t>
            </a:r>
            <a:r>
              <a:rPr lang="en-IN" sz="2400" dirty="0" smtClean="0">
                <a:latin typeface="Times New Roman" panose="02020603050405020304" pitchFamily="18" charset="0"/>
                <a:cs typeface="Times New Roman" panose="02020603050405020304" pitchFamily="18" charset="0"/>
              </a:rPr>
              <a:t>User Requirements, Business Rules and Queries</a:t>
            </a:r>
            <a:endParaRPr lang="en-IN" sz="2400" dirty="0">
              <a:latin typeface="Times New Roman" panose="02020603050405020304" pitchFamily="18" charset="0"/>
              <a:cs typeface="Times New Roman" panose="02020603050405020304" pitchFamily="18" charset="0"/>
            </a:endParaRPr>
          </a:p>
          <a:p>
            <a:r>
              <a:rPr lang="en-IN" sz="2400" dirty="0" err="1">
                <a:latin typeface="Times New Roman" panose="02020603050405020304" pitchFamily="18" charset="0"/>
                <a:cs typeface="Times New Roman" panose="02020603050405020304" pitchFamily="18" charset="0"/>
              </a:rPr>
              <a:t>Venkata</a:t>
            </a:r>
            <a:r>
              <a:rPr lang="en-IN" sz="2400" dirty="0">
                <a:latin typeface="Times New Roman" panose="02020603050405020304" pitchFamily="18" charset="0"/>
                <a:cs typeface="Times New Roman" panose="02020603050405020304" pitchFamily="18" charset="0"/>
              </a:rPr>
              <a:t> Naga </a:t>
            </a:r>
            <a:r>
              <a:rPr lang="en-IN" sz="2400" dirty="0" err="1">
                <a:latin typeface="Times New Roman" panose="02020603050405020304" pitchFamily="18" charset="0"/>
                <a:cs typeface="Times New Roman" panose="02020603050405020304" pitchFamily="18" charset="0"/>
              </a:rPr>
              <a:t>Triveni</a:t>
            </a:r>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Bottu</a:t>
            </a:r>
            <a:r>
              <a:rPr lang="en-IN" sz="2400" dirty="0">
                <a:latin typeface="Times New Roman" panose="02020603050405020304" pitchFamily="18" charset="0"/>
                <a:cs typeface="Times New Roman" panose="02020603050405020304" pitchFamily="18" charset="0"/>
              </a:rPr>
              <a:t>: </a:t>
            </a:r>
            <a:r>
              <a:rPr lang="en-IN" sz="2400" dirty="0" smtClean="0">
                <a:latin typeface="Times New Roman" panose="02020603050405020304" pitchFamily="18" charset="0"/>
                <a:cs typeface="Times New Roman" panose="02020603050405020304" pitchFamily="18" charset="0"/>
              </a:rPr>
              <a:t>Objective, Scope, and Table creation</a:t>
            </a:r>
            <a:endParaRPr lang="en-IN" sz="2400" dirty="0">
              <a:latin typeface="Times New Roman" panose="02020603050405020304" pitchFamily="18" charset="0"/>
              <a:cs typeface="Times New Roman" panose="02020603050405020304" pitchFamily="18" charset="0"/>
            </a:endParaRPr>
          </a:p>
          <a:p>
            <a:r>
              <a:rPr lang="en-IN" sz="2400" dirty="0" err="1">
                <a:latin typeface="Times New Roman" panose="02020603050405020304" pitchFamily="18" charset="0"/>
                <a:cs typeface="Times New Roman" panose="02020603050405020304" pitchFamily="18" charset="0"/>
              </a:rPr>
              <a:t>Tejaswi</a:t>
            </a:r>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Gummadi</a:t>
            </a:r>
            <a:r>
              <a:rPr lang="en-IN" sz="2400" dirty="0">
                <a:latin typeface="Times New Roman" panose="02020603050405020304" pitchFamily="18" charset="0"/>
                <a:cs typeface="Times New Roman" panose="02020603050405020304" pitchFamily="18" charset="0"/>
              </a:rPr>
              <a:t>: </a:t>
            </a:r>
            <a:r>
              <a:rPr lang="en-IN" sz="2400" dirty="0" smtClean="0">
                <a:latin typeface="Times New Roman" panose="02020603050405020304" pitchFamily="18" charset="0"/>
                <a:cs typeface="Times New Roman" panose="02020603050405020304" pitchFamily="18" charset="0"/>
              </a:rPr>
              <a:t>ERD Diagram and Documentation</a:t>
            </a:r>
            <a:endParaRPr lang="en-IN" sz="2400" dirty="0">
              <a:latin typeface="Times New Roman" panose="02020603050405020304" pitchFamily="18" charset="0"/>
              <a:cs typeface="Times New Roman" panose="02020603050405020304" pitchFamily="18" charset="0"/>
            </a:endParaRPr>
          </a:p>
          <a:p>
            <a:r>
              <a:rPr lang="en-IN" sz="2400" dirty="0" err="1">
                <a:latin typeface="Times New Roman" panose="02020603050405020304" pitchFamily="18" charset="0"/>
                <a:cs typeface="Times New Roman" panose="02020603050405020304" pitchFamily="18" charset="0"/>
              </a:rPr>
              <a:t>Sushmitha</a:t>
            </a:r>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Gangadari</a:t>
            </a:r>
            <a:r>
              <a:rPr lang="en-IN" sz="2400" dirty="0" smtClean="0">
                <a:latin typeface="Times New Roman" panose="02020603050405020304" pitchFamily="18" charset="0"/>
                <a:cs typeface="Times New Roman" panose="02020603050405020304" pitchFamily="18" charset="0"/>
              </a:rPr>
              <a:t>: Tables creation and Queries</a:t>
            </a:r>
            <a:endParaRPr lang="en-IN" sz="2400" dirty="0"/>
          </a:p>
        </p:txBody>
      </p:sp>
    </p:spTree>
    <p:extLst>
      <p:ext uri="{BB962C8B-B14F-4D97-AF65-F5344CB8AC3E}">
        <p14:creationId xmlns:p14="http://schemas.microsoft.com/office/powerpoint/2010/main" val="8654816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2768DCD-B824-413A-B330-8D57ADB3724C}"/>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ame 10">
            <a:extLst>
              <a:ext uri="{FF2B5EF4-FFF2-40B4-BE49-F238E27FC236}">
                <a16:creationId xmlns:a16="http://schemas.microsoft.com/office/drawing/2014/main" id="{61DF3E2F-0A88-4C55-8678-0764BF7339D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frame">
            <a:avLst>
              <a:gd name="adj1" fmla="val 7164"/>
            </a:avLst>
          </a:prstGeom>
          <a:gradFill flip="none" rotWithShape="1">
            <a:gsLst>
              <a:gs pos="0">
                <a:schemeClr val="accent2">
                  <a:alpha val="40000"/>
                </a:schemeClr>
              </a:gs>
              <a:gs pos="100000">
                <a:schemeClr val="accent1">
                  <a:alpha val="4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9394C23-662D-9067-AAF1-E65F980932FC}"/>
              </a:ext>
            </a:extLst>
          </p:cNvPr>
          <p:cNvSpPr>
            <a:spLocks noGrp="1"/>
          </p:cNvSpPr>
          <p:nvPr>
            <p:ph type="title"/>
          </p:nvPr>
        </p:nvSpPr>
        <p:spPr>
          <a:xfrm>
            <a:off x="838201" y="609600"/>
            <a:ext cx="3200400" cy="5567363"/>
          </a:xfrm>
        </p:spPr>
        <p:txBody>
          <a:bodyPr anchor="ctr">
            <a:normAutofit/>
          </a:bodyPr>
          <a:lstStyle/>
          <a:p>
            <a:r>
              <a:rPr lang="en-US" sz="4400" b="1" kern="100" dirty="0">
                <a:gradFill flip="none" rotWithShape="1">
                  <a:gsLst>
                    <a:gs pos="0">
                      <a:schemeClr val="accent5">
                        <a:alpha val="70000"/>
                      </a:schemeClr>
                    </a:gs>
                    <a:gs pos="100000">
                      <a:schemeClr val="accent1">
                        <a:alpha val="70000"/>
                      </a:schemeClr>
                    </a:gs>
                  </a:gsLst>
                  <a:lin ang="0" scaled="1"/>
                  <a:tileRect/>
                </a:gradFill>
                <a:effectLst/>
                <a:latin typeface="Times New Roman" panose="02020603050405020304" pitchFamily="18" charset="0"/>
                <a:ea typeface="Times New Roman" panose="02020603050405020304" pitchFamily="18" charset="0"/>
                <a:cs typeface="Times New Roman" panose="02020603050405020304" pitchFamily="18" charset="0"/>
              </a:rPr>
              <a:t>Objective</a:t>
            </a:r>
            <a:endParaRPr lang="en-US" sz="4400" dirty="0">
              <a:gradFill flip="none" rotWithShape="1">
                <a:gsLst>
                  <a:gs pos="0">
                    <a:schemeClr val="accent5">
                      <a:alpha val="70000"/>
                    </a:schemeClr>
                  </a:gs>
                  <a:gs pos="100000">
                    <a:schemeClr val="accent1">
                      <a:alpha val="70000"/>
                    </a:schemeClr>
                  </a:gs>
                </a:gsLst>
                <a:lin ang="0" scaled="1"/>
                <a:tileRect/>
              </a:gradFill>
              <a:latin typeface="Times New Roman" panose="02020603050405020304" pitchFamily="18" charset="0"/>
              <a:cs typeface="Times New Roman" panose="02020603050405020304" pitchFamily="18" charset="0"/>
            </a:endParaRPr>
          </a:p>
        </p:txBody>
      </p:sp>
      <p:graphicFrame>
        <p:nvGraphicFramePr>
          <p:cNvPr id="5" name="Content Placeholder 2">
            <a:extLst>
              <a:ext uri="{FF2B5EF4-FFF2-40B4-BE49-F238E27FC236}">
                <a16:creationId xmlns:a16="http://schemas.microsoft.com/office/drawing/2014/main" id="{1CD77D20-E053-3AA0-2BF8-E4F479D314CD}"/>
              </a:ext>
            </a:extLst>
          </p:cNvPr>
          <p:cNvGraphicFramePr>
            <a:graphicFrameLocks noGrp="1"/>
          </p:cNvGraphicFramePr>
          <p:nvPr>
            <p:ph idx="1"/>
            <p:extLst>
              <p:ext uri="{D42A27DB-BD31-4B8C-83A1-F6EECF244321}">
                <p14:modId xmlns:p14="http://schemas.microsoft.com/office/powerpoint/2010/main" val="687029555"/>
              </p:ext>
            </p:extLst>
          </p:nvPr>
        </p:nvGraphicFramePr>
        <p:xfrm>
          <a:off x="4293704" y="609600"/>
          <a:ext cx="7060095" cy="55673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03880205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9878FE-5C88-9D8A-F2B9-BC040C651F02}"/>
              </a:ext>
            </a:extLst>
          </p:cNvPr>
          <p:cNvSpPr>
            <a:spLocks noGrp="1"/>
          </p:cNvSpPr>
          <p:nvPr>
            <p:ph type="title"/>
          </p:nvPr>
        </p:nvSpPr>
        <p:spPr>
          <a:xfrm>
            <a:off x="838200" y="681037"/>
            <a:ext cx="10515600" cy="701993"/>
          </a:xfrm>
        </p:spPr>
        <p:txBody>
          <a:bodyPr>
            <a:normAutofit fontScale="90000"/>
          </a:bodyPr>
          <a:lstStyle/>
          <a:p>
            <a:r>
              <a:rPr lang="en-US" dirty="0" smtClean="0">
                <a:latin typeface="Times New Roman" panose="02020603050405020304" pitchFamily="18" charset="0"/>
                <a:cs typeface="Times New Roman" panose="02020603050405020304" pitchFamily="18" charset="0"/>
              </a:rPr>
              <a:t>Scope</a:t>
            </a:r>
            <a:endParaRPr lang="en-US" dirty="0">
              <a:latin typeface="Times New Roman" panose="02020603050405020304" pitchFamily="18" charset="0"/>
              <a:cs typeface="Times New Roman" panose="02020603050405020304" pitchFamily="18" charset="0"/>
            </a:endParaRPr>
          </a:p>
        </p:txBody>
      </p:sp>
      <p:graphicFrame>
        <p:nvGraphicFramePr>
          <p:cNvPr id="5" name="Content Placeholder 2">
            <a:extLst>
              <a:ext uri="{FF2B5EF4-FFF2-40B4-BE49-F238E27FC236}">
                <a16:creationId xmlns:a16="http://schemas.microsoft.com/office/drawing/2014/main" id="{0731F99F-A0FD-93EF-DF15-7A63102A8645}"/>
              </a:ext>
            </a:extLst>
          </p:cNvPr>
          <p:cNvGraphicFramePr>
            <a:graphicFrameLocks noGrp="1"/>
          </p:cNvGraphicFramePr>
          <p:nvPr>
            <p:ph idx="1"/>
            <p:extLst>
              <p:ext uri="{D42A27DB-BD31-4B8C-83A1-F6EECF244321}">
                <p14:modId xmlns:p14="http://schemas.microsoft.com/office/powerpoint/2010/main" val="2414512488"/>
              </p:ext>
            </p:extLst>
          </p:nvPr>
        </p:nvGraphicFramePr>
        <p:xfrm>
          <a:off x="838200" y="1524000"/>
          <a:ext cx="10515600" cy="4652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8389146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9B36E71-93BD-4984-AC9C-CC9FB9CC06D6}"/>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ame 19">
            <a:extLst>
              <a:ext uri="{FF2B5EF4-FFF2-40B4-BE49-F238E27FC236}">
                <a16:creationId xmlns:a16="http://schemas.microsoft.com/office/drawing/2014/main" id="{1566AC62-7AC7-4ED5-A03D-E28AC560E482}"/>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frame">
            <a:avLst>
              <a:gd name="adj1" fmla="val 7164"/>
            </a:avLst>
          </a:prstGeom>
          <a:gradFill flip="none" rotWithShape="1">
            <a:gsLst>
              <a:gs pos="0">
                <a:schemeClr val="accent2">
                  <a:alpha val="40000"/>
                </a:schemeClr>
              </a:gs>
              <a:gs pos="100000">
                <a:schemeClr val="accent1">
                  <a:alpha val="4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327BFC9-D711-ECF6-7241-010344353FD4}"/>
              </a:ext>
            </a:extLst>
          </p:cNvPr>
          <p:cNvSpPr>
            <a:spLocks noGrp="1"/>
          </p:cNvSpPr>
          <p:nvPr>
            <p:ph type="title"/>
          </p:nvPr>
        </p:nvSpPr>
        <p:spPr>
          <a:xfrm>
            <a:off x="608920" y="574223"/>
            <a:ext cx="5116285" cy="786492"/>
          </a:xfrm>
        </p:spPr>
        <p:txBody>
          <a:bodyPr anchor="ctr">
            <a:normAutofit/>
          </a:bodyPr>
          <a:lstStyle/>
          <a:p>
            <a:r>
              <a:rPr lang="en-US" sz="4400" b="1" kern="100" dirty="0">
                <a:gradFill flip="none" rotWithShape="1">
                  <a:gsLst>
                    <a:gs pos="0">
                      <a:schemeClr val="accent5">
                        <a:alpha val="70000"/>
                      </a:schemeClr>
                    </a:gs>
                    <a:gs pos="100000">
                      <a:schemeClr val="accent1">
                        <a:alpha val="70000"/>
                      </a:schemeClr>
                    </a:gs>
                  </a:gsLst>
                  <a:lin ang="0" scaled="1"/>
                  <a:tileRect/>
                </a:gradFill>
                <a:effectLst/>
                <a:latin typeface="Times New Roman" panose="02020603050405020304" pitchFamily="18" charset="0"/>
                <a:ea typeface="Times New Roman" panose="02020603050405020304" pitchFamily="18" charset="0"/>
                <a:cs typeface="Times New Roman" panose="02020603050405020304" pitchFamily="18" charset="0"/>
              </a:rPr>
              <a:t>Key Functionalities</a:t>
            </a:r>
            <a:endParaRPr lang="en-US" sz="4400" dirty="0">
              <a:gradFill flip="none" rotWithShape="1">
                <a:gsLst>
                  <a:gs pos="0">
                    <a:schemeClr val="accent5">
                      <a:alpha val="70000"/>
                    </a:schemeClr>
                  </a:gs>
                  <a:gs pos="100000">
                    <a:schemeClr val="accent1">
                      <a:alpha val="70000"/>
                    </a:schemeClr>
                  </a:gs>
                </a:gsLst>
                <a:lin ang="0" scaled="1"/>
                <a:tileRect/>
              </a:gradFill>
              <a:latin typeface="Times New Roman" panose="02020603050405020304" pitchFamily="18" charset="0"/>
              <a:cs typeface="Times New Roman" panose="02020603050405020304" pitchFamily="18" charset="0"/>
            </a:endParaRPr>
          </a:p>
        </p:txBody>
      </p:sp>
      <p:sp>
        <p:nvSpPr>
          <p:cNvPr id="21" name="Content Placeholder 2">
            <a:extLst>
              <a:ext uri="{FF2B5EF4-FFF2-40B4-BE49-F238E27FC236}">
                <a16:creationId xmlns:a16="http://schemas.microsoft.com/office/drawing/2014/main" id="{6D5273D9-EB3C-7536-78A3-A1244C6FB337}"/>
              </a:ext>
            </a:extLst>
          </p:cNvPr>
          <p:cNvSpPr>
            <a:spLocks noGrp="1"/>
          </p:cNvSpPr>
          <p:nvPr>
            <p:ph idx="1"/>
          </p:nvPr>
        </p:nvSpPr>
        <p:spPr>
          <a:xfrm>
            <a:off x="608920" y="1382487"/>
            <a:ext cx="11038794" cy="4901290"/>
          </a:xfrm>
        </p:spPr>
        <p:txBody>
          <a:bodyPr anchor="ctr">
            <a:normAutofit/>
          </a:bodyPr>
          <a:lstStyle/>
          <a:p>
            <a:pPr marL="342900" marR="0" lvl="0" indent="-342900">
              <a:lnSpc>
                <a:spcPct val="100000"/>
              </a:lnSpc>
              <a:spcAft>
                <a:spcPts val="800"/>
              </a:spcAft>
              <a:buClrTx/>
              <a:buFont typeface="+mj-lt"/>
              <a:buAutoNum type="arabicPeriod"/>
              <a:tabLst>
                <a:tab pos="228600" algn="l"/>
              </a:tabLst>
            </a:pPr>
            <a:r>
              <a:rPr lang="en-US" sz="1500" b="1" kern="100" dirty="0">
                <a:solidFill>
                  <a:schemeClr val="tx1">
                    <a:lumMod val="95000"/>
                    <a:lumOff val="5000"/>
                    <a:alpha val="60000"/>
                  </a:schemeClr>
                </a:solidFill>
                <a:effectLst/>
                <a:latin typeface="Times New Roman" panose="02020603050405020304" pitchFamily="18" charset="0"/>
                <a:ea typeface="Aptos" panose="020B0004020202020204" pitchFamily="34" charset="0"/>
                <a:cs typeface="Times New Roman" panose="02020603050405020304" pitchFamily="18" charset="0"/>
              </a:rPr>
              <a:t>Employee Management</a:t>
            </a:r>
            <a:r>
              <a:rPr lang="en-US" sz="1500" kern="100" dirty="0">
                <a:solidFill>
                  <a:schemeClr val="tx1">
                    <a:lumMod val="95000"/>
                    <a:lumOff val="5000"/>
                    <a:alpha val="60000"/>
                  </a:schemeClr>
                </a:solidFill>
                <a:effectLst/>
                <a:latin typeface="Times New Roman" panose="02020603050405020304" pitchFamily="18" charset="0"/>
                <a:ea typeface="Aptos" panose="020B0004020202020204" pitchFamily="34" charset="0"/>
                <a:cs typeface="Times New Roman" panose="02020603050405020304" pitchFamily="18" charset="0"/>
              </a:rPr>
              <a:t>: Storing detailed employee information, including roles and classifications.</a:t>
            </a:r>
          </a:p>
          <a:p>
            <a:pPr marL="342900" marR="0" lvl="0" indent="-342900">
              <a:lnSpc>
                <a:spcPct val="100000"/>
              </a:lnSpc>
              <a:spcAft>
                <a:spcPts val="800"/>
              </a:spcAft>
              <a:buClrTx/>
              <a:buFont typeface="+mj-lt"/>
              <a:buAutoNum type="arabicPeriod"/>
              <a:tabLst>
                <a:tab pos="228600" algn="l"/>
              </a:tabLst>
            </a:pPr>
            <a:r>
              <a:rPr lang="en-US" sz="1500" b="1" kern="100" dirty="0">
                <a:solidFill>
                  <a:schemeClr val="tx1">
                    <a:lumMod val="95000"/>
                    <a:lumOff val="5000"/>
                    <a:alpha val="60000"/>
                  </a:schemeClr>
                </a:solidFill>
                <a:effectLst/>
                <a:latin typeface="Times New Roman" panose="02020603050405020304" pitchFamily="18" charset="0"/>
                <a:ea typeface="Aptos" panose="020B0004020202020204" pitchFamily="34" charset="0"/>
                <a:cs typeface="Times New Roman" panose="02020603050405020304" pitchFamily="18" charset="0"/>
              </a:rPr>
              <a:t>Event Coordination</a:t>
            </a:r>
            <a:r>
              <a:rPr lang="en-US" sz="1500" kern="100" dirty="0">
                <a:solidFill>
                  <a:schemeClr val="tx1">
                    <a:lumMod val="95000"/>
                    <a:lumOff val="5000"/>
                    <a:alpha val="60000"/>
                  </a:schemeClr>
                </a:solidFill>
                <a:effectLst/>
                <a:latin typeface="Times New Roman" panose="02020603050405020304" pitchFamily="18" charset="0"/>
                <a:ea typeface="Aptos" panose="020B0004020202020204" pitchFamily="34" charset="0"/>
                <a:cs typeface="Times New Roman" panose="02020603050405020304" pitchFamily="18" charset="0"/>
              </a:rPr>
              <a:t>: Planning and tracking events, including the location, and required staff.</a:t>
            </a:r>
          </a:p>
          <a:p>
            <a:pPr marL="342900" marR="0" lvl="0" indent="-342900">
              <a:lnSpc>
                <a:spcPct val="100000"/>
              </a:lnSpc>
              <a:spcAft>
                <a:spcPts val="800"/>
              </a:spcAft>
              <a:buClrTx/>
              <a:buFont typeface="+mj-lt"/>
              <a:buAutoNum type="arabicPeriod"/>
              <a:tabLst>
                <a:tab pos="228600" algn="l"/>
              </a:tabLst>
            </a:pPr>
            <a:r>
              <a:rPr lang="en-US" sz="1500" b="1" kern="100" dirty="0">
                <a:solidFill>
                  <a:schemeClr val="tx1">
                    <a:lumMod val="95000"/>
                    <a:lumOff val="5000"/>
                    <a:alpha val="60000"/>
                  </a:schemeClr>
                </a:solidFill>
                <a:effectLst/>
                <a:latin typeface="Times New Roman" panose="02020603050405020304" pitchFamily="18" charset="0"/>
                <a:ea typeface="Aptos" panose="020B0004020202020204" pitchFamily="34" charset="0"/>
                <a:cs typeface="Times New Roman" panose="02020603050405020304" pitchFamily="18" charset="0"/>
              </a:rPr>
              <a:t>Menu and Food Inventory Management</a:t>
            </a:r>
            <a:r>
              <a:rPr lang="en-US" sz="1500" kern="100" dirty="0">
                <a:solidFill>
                  <a:schemeClr val="tx1">
                    <a:lumMod val="95000"/>
                    <a:lumOff val="5000"/>
                    <a:alpha val="60000"/>
                  </a:schemeClr>
                </a:solidFill>
                <a:effectLst/>
                <a:latin typeface="Times New Roman" panose="02020603050405020304" pitchFamily="18" charset="0"/>
                <a:ea typeface="Aptos" panose="020B0004020202020204" pitchFamily="34" charset="0"/>
                <a:cs typeface="Times New Roman" panose="02020603050405020304" pitchFamily="18" charset="0"/>
              </a:rPr>
              <a:t>: Organizing food supply for events and daily café deliveries.</a:t>
            </a:r>
          </a:p>
          <a:p>
            <a:pPr marL="342900" marR="0" lvl="0" indent="-342900">
              <a:lnSpc>
                <a:spcPct val="100000"/>
              </a:lnSpc>
              <a:spcAft>
                <a:spcPts val="800"/>
              </a:spcAft>
              <a:buClrTx/>
              <a:buFont typeface="+mj-lt"/>
              <a:buAutoNum type="arabicPeriod"/>
              <a:tabLst>
                <a:tab pos="228600" algn="l"/>
              </a:tabLst>
            </a:pPr>
            <a:r>
              <a:rPr lang="en-US" sz="1500" b="1" kern="100" dirty="0">
                <a:solidFill>
                  <a:schemeClr val="tx1">
                    <a:lumMod val="95000"/>
                    <a:lumOff val="5000"/>
                    <a:alpha val="60000"/>
                  </a:schemeClr>
                </a:solidFill>
                <a:effectLst/>
                <a:latin typeface="Times New Roman" panose="02020603050405020304" pitchFamily="18" charset="0"/>
                <a:ea typeface="Aptos" panose="020B0004020202020204" pitchFamily="34" charset="0"/>
                <a:cs typeface="Times New Roman" panose="02020603050405020304" pitchFamily="18" charset="0"/>
              </a:rPr>
              <a:t>Event-Employee Mapping</a:t>
            </a:r>
            <a:r>
              <a:rPr lang="en-US" sz="1500" kern="100" dirty="0">
                <a:solidFill>
                  <a:schemeClr val="tx1">
                    <a:lumMod val="95000"/>
                    <a:lumOff val="5000"/>
                    <a:alpha val="60000"/>
                  </a:schemeClr>
                </a:solidFill>
                <a:effectLst/>
                <a:latin typeface="Times New Roman" panose="02020603050405020304" pitchFamily="18" charset="0"/>
                <a:ea typeface="Aptos" panose="020B0004020202020204" pitchFamily="34" charset="0"/>
                <a:cs typeface="Times New Roman" panose="02020603050405020304" pitchFamily="18" charset="0"/>
              </a:rPr>
              <a:t>: Assigning employees to events based on requirements and availability.</a:t>
            </a:r>
          </a:p>
          <a:p>
            <a:pPr marL="342900" marR="0" lvl="0" indent="-342900">
              <a:lnSpc>
                <a:spcPct val="100000"/>
              </a:lnSpc>
              <a:spcAft>
                <a:spcPts val="800"/>
              </a:spcAft>
              <a:buClrTx/>
              <a:buFont typeface="+mj-lt"/>
              <a:buAutoNum type="arabicPeriod"/>
              <a:tabLst>
                <a:tab pos="228600" algn="l"/>
              </a:tabLst>
            </a:pPr>
            <a:r>
              <a:rPr lang="en-US" sz="1500" b="1" kern="100" dirty="0">
                <a:solidFill>
                  <a:schemeClr val="tx1">
                    <a:lumMod val="95000"/>
                    <a:lumOff val="5000"/>
                    <a:alpha val="60000"/>
                  </a:schemeClr>
                </a:solidFill>
                <a:effectLst/>
                <a:latin typeface="Times New Roman" panose="02020603050405020304" pitchFamily="18" charset="0"/>
                <a:ea typeface="Aptos" panose="020B0004020202020204" pitchFamily="34" charset="0"/>
                <a:cs typeface="Times New Roman" panose="02020603050405020304" pitchFamily="18" charset="0"/>
              </a:rPr>
              <a:t>Location Tracking</a:t>
            </a:r>
            <a:r>
              <a:rPr lang="en-US" sz="1500" kern="100" dirty="0">
                <a:solidFill>
                  <a:schemeClr val="tx1">
                    <a:lumMod val="95000"/>
                    <a:lumOff val="5000"/>
                    <a:alpha val="60000"/>
                  </a:schemeClr>
                </a:solidFill>
                <a:effectLst/>
                <a:latin typeface="Times New Roman" panose="02020603050405020304" pitchFamily="18" charset="0"/>
                <a:ea typeface="Aptos" panose="020B0004020202020204" pitchFamily="34" charset="0"/>
                <a:cs typeface="Times New Roman" panose="02020603050405020304" pitchFamily="18" charset="0"/>
              </a:rPr>
              <a:t>: Managing events across different university venues.</a:t>
            </a:r>
          </a:p>
          <a:p>
            <a:pPr marL="0" marR="0" indent="0">
              <a:lnSpc>
                <a:spcPct val="100000"/>
              </a:lnSpc>
              <a:spcAft>
                <a:spcPts val="800"/>
              </a:spcAft>
              <a:buNone/>
            </a:pPr>
            <a:r>
              <a:rPr lang="en-US" sz="1500" kern="100" dirty="0">
                <a:solidFill>
                  <a:schemeClr val="tx1">
                    <a:lumMod val="95000"/>
                    <a:lumOff val="5000"/>
                    <a:alpha val="60000"/>
                  </a:schemeClr>
                </a:solidFill>
                <a:effectLst/>
                <a:latin typeface="Times New Roman" panose="02020603050405020304" pitchFamily="18" charset="0"/>
                <a:ea typeface="Aptos" panose="020B0004020202020204" pitchFamily="34" charset="0"/>
                <a:cs typeface="Times New Roman" panose="02020603050405020304" pitchFamily="18" charset="0"/>
              </a:rPr>
              <a:t>The database is designed as an enterprise-level system, supporting the entire company's operational needs and facilitating the smooth coordination of various tasks across departments.</a:t>
            </a:r>
          </a:p>
          <a:p>
            <a:pPr>
              <a:lnSpc>
                <a:spcPct val="100000"/>
              </a:lnSpc>
            </a:pPr>
            <a:endParaRPr lang="en-US" sz="1500" dirty="0">
              <a:solidFill>
                <a:schemeClr val="tx2">
                  <a:alpha val="60000"/>
                </a:schemeClr>
              </a:solidFill>
            </a:endParaRPr>
          </a:p>
        </p:txBody>
      </p:sp>
    </p:spTree>
    <p:extLst>
      <p:ext uri="{BB962C8B-B14F-4D97-AF65-F5344CB8AC3E}">
        <p14:creationId xmlns:p14="http://schemas.microsoft.com/office/powerpoint/2010/main" val="345704863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19B36E71-93BD-4984-AC9C-CC9FB9CC06D6}"/>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3A767031-C99F-4567-B7D9-353331C7790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64"/>
            <a:ext cx="12188952" cy="6858000"/>
          </a:xfrm>
          <a:prstGeom prst="rect">
            <a:avLst/>
          </a:prstGeom>
          <a:gradFill flip="none" rotWithShape="1">
            <a:gsLst>
              <a:gs pos="0">
                <a:schemeClr val="accent2">
                  <a:alpha val="60000"/>
                </a:schemeClr>
              </a:gs>
              <a:gs pos="100000">
                <a:schemeClr val="accent1">
                  <a:alpha val="6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63FEDEE9-12A6-4011-A532-8071D6086BF8}"/>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63"/>
            <a:ext cx="12188952" cy="6858000"/>
          </a:xfrm>
          <a:prstGeom prst="rect">
            <a:avLst/>
          </a:prstGeom>
          <a:solidFill>
            <a:schemeClr val="bg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Oval 24">
            <a:extLst>
              <a:ext uri="{FF2B5EF4-FFF2-40B4-BE49-F238E27FC236}">
                <a16:creationId xmlns:a16="http://schemas.microsoft.com/office/drawing/2014/main" id="{57C37CE9-19CE-49DF-A887-2214EBB1F09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2743200" y="0"/>
            <a:ext cx="6857999" cy="6857998"/>
          </a:xfrm>
          <a:prstGeom prst="ellipse">
            <a:avLst/>
          </a:prstGeom>
          <a:gradFill>
            <a:gsLst>
              <a:gs pos="0">
                <a:schemeClr val="accent1">
                  <a:lumMod val="20000"/>
                  <a:lumOff val="80000"/>
                  <a:alpha val="40000"/>
                </a:schemeClr>
              </a:gs>
              <a:gs pos="100000">
                <a:schemeClr val="accent1">
                  <a:alpha val="40000"/>
                </a:schemeClr>
              </a:gs>
            </a:gsLst>
            <a:lin ang="2700000" scaled="1"/>
          </a:gradFill>
          <a:ln>
            <a:noFill/>
          </a:ln>
          <a:effectLst>
            <a:softEdge rad="520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Oval 26">
            <a:extLst>
              <a:ext uri="{FF2B5EF4-FFF2-40B4-BE49-F238E27FC236}">
                <a16:creationId xmlns:a16="http://schemas.microsoft.com/office/drawing/2014/main" id="{7EF84E8E-7E93-4DEE-BCFB-2AE29098B5C3}"/>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73990" y="1194074"/>
            <a:ext cx="5589934" cy="5737916"/>
          </a:xfrm>
          <a:prstGeom prst="ellipse">
            <a:avLst/>
          </a:prstGeom>
          <a:gradFill>
            <a:gsLst>
              <a:gs pos="0">
                <a:schemeClr val="accent1">
                  <a:alpha val="40000"/>
                </a:schemeClr>
              </a:gs>
              <a:gs pos="100000">
                <a:schemeClr val="accent5">
                  <a:alpha val="20000"/>
                </a:schemeClr>
              </a:gs>
            </a:gsLst>
            <a:lin ang="2700000" scaled="1"/>
          </a:gradFill>
          <a:ln>
            <a:noFill/>
          </a:ln>
          <a:effectLst>
            <a:softEdge rad="952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DDAE318-5A74-D926-76C4-04143989D7EF}"/>
              </a:ext>
            </a:extLst>
          </p:cNvPr>
          <p:cNvSpPr>
            <a:spLocks noGrp="1"/>
          </p:cNvSpPr>
          <p:nvPr>
            <p:ph type="title"/>
          </p:nvPr>
        </p:nvSpPr>
        <p:spPr>
          <a:xfrm>
            <a:off x="582385" y="326571"/>
            <a:ext cx="9018814" cy="991962"/>
          </a:xfrm>
        </p:spPr>
        <p:txBody>
          <a:bodyPr anchor="ctr">
            <a:normAutofit/>
          </a:bodyPr>
          <a:lstStyle/>
          <a:p>
            <a:r>
              <a:rPr lang="en-US" sz="4400" b="1" kern="100" dirty="0">
                <a:solidFill>
                  <a:srgbClr val="FFFFFF"/>
                </a:solidFill>
                <a:effectLst/>
                <a:latin typeface="Times New Roman" panose="02020603050405020304" pitchFamily="18" charset="0"/>
                <a:ea typeface="Times New Roman" panose="02020603050405020304" pitchFamily="18" charset="0"/>
                <a:cs typeface="Times New Roman" panose="02020603050405020304" pitchFamily="18" charset="0"/>
              </a:rPr>
              <a:t>User Requirements</a:t>
            </a:r>
            <a:endParaRPr lang="en-US" sz="4400" dirty="0">
              <a:solidFill>
                <a:srgbClr val="FFFFFF"/>
              </a:solidFill>
              <a:latin typeface="Times New Roman" panose="02020603050405020304" pitchFamily="18" charset="0"/>
              <a:cs typeface="Times New Roman" panose="02020603050405020304" pitchFamily="18" charset="0"/>
            </a:endParaRPr>
          </a:p>
        </p:txBody>
      </p:sp>
      <p:sp>
        <p:nvSpPr>
          <p:cNvPr id="29" name="Oval 28">
            <a:extLst>
              <a:ext uri="{FF2B5EF4-FFF2-40B4-BE49-F238E27FC236}">
                <a16:creationId xmlns:a16="http://schemas.microsoft.com/office/drawing/2014/main" id="{9046502B-E9B6-4225-B8EE-BC5D644686B0}"/>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6439622" y="194269"/>
            <a:ext cx="5760743" cy="5737917"/>
          </a:xfrm>
          <a:prstGeom prst="ellipse">
            <a:avLst/>
          </a:prstGeom>
          <a:gradFill>
            <a:gsLst>
              <a:gs pos="0">
                <a:schemeClr val="accent1">
                  <a:alpha val="20000"/>
                </a:schemeClr>
              </a:gs>
              <a:gs pos="100000">
                <a:schemeClr val="accent5">
                  <a:alpha val="40000"/>
                </a:schemeClr>
              </a:gs>
            </a:gsLst>
            <a:lin ang="2700000" scaled="1"/>
          </a:gradFill>
          <a:ln>
            <a:noFill/>
          </a:ln>
          <a:effectLst>
            <a:softEdge rad="10033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A389B33E-F8D9-696A-7661-6EBF3F2FF748}"/>
              </a:ext>
            </a:extLst>
          </p:cNvPr>
          <p:cNvSpPr>
            <a:spLocks noGrp="1"/>
          </p:cNvSpPr>
          <p:nvPr>
            <p:ph idx="1"/>
          </p:nvPr>
        </p:nvSpPr>
        <p:spPr>
          <a:xfrm>
            <a:off x="234043" y="1431473"/>
            <a:ext cx="10771414" cy="5143500"/>
          </a:xfrm>
        </p:spPr>
        <p:txBody>
          <a:bodyPr anchor="ctr">
            <a:normAutofit/>
          </a:bodyPr>
          <a:lstStyle/>
          <a:p>
            <a:pPr marL="342900" marR="0" lvl="0" indent="-342900">
              <a:lnSpc>
                <a:spcPct val="100000"/>
              </a:lnSpc>
              <a:buFont typeface="+mj-lt"/>
              <a:buAutoNum type="arabicPeriod"/>
            </a:pPr>
            <a:r>
              <a:rPr lang="en-US" sz="1600" kern="100" dirty="0">
                <a:solidFill>
                  <a:srgbClr val="FFFFFF"/>
                </a:solidFill>
                <a:effectLst/>
                <a:latin typeface="Times New Roman" panose="02020603050405020304" pitchFamily="18" charset="0"/>
                <a:ea typeface="Aptos" panose="020B0004020202020204" pitchFamily="34" charset="0"/>
                <a:cs typeface="Times New Roman" panose="02020603050405020304" pitchFamily="18" charset="0"/>
              </a:rPr>
              <a:t>The system must notify managers first about any new events. Based on the event type, the manager must be able to assign supervisors to oversee the event.</a:t>
            </a:r>
          </a:p>
          <a:p>
            <a:pPr marL="342900" marR="0" lvl="0" indent="-342900">
              <a:lnSpc>
                <a:spcPct val="100000"/>
              </a:lnSpc>
              <a:buFont typeface="+mj-lt"/>
              <a:buAutoNum type="arabicPeriod"/>
            </a:pPr>
            <a:r>
              <a:rPr lang="en-US" sz="1600" kern="100" dirty="0">
                <a:solidFill>
                  <a:srgbClr val="FFFFFF"/>
                </a:solidFill>
                <a:effectLst/>
                <a:latin typeface="Times New Roman" panose="02020603050405020304" pitchFamily="18" charset="0"/>
                <a:ea typeface="Aptos" panose="020B0004020202020204" pitchFamily="34" charset="0"/>
                <a:cs typeface="Times New Roman" panose="02020603050405020304" pitchFamily="18" charset="0"/>
              </a:rPr>
              <a:t>The system must allow managers to select and allocate event locations based on the event’s type and specific requirements.</a:t>
            </a:r>
          </a:p>
          <a:p>
            <a:pPr marL="342900" marR="0" lvl="0" indent="-342900">
              <a:lnSpc>
                <a:spcPct val="100000"/>
              </a:lnSpc>
              <a:buFont typeface="+mj-lt"/>
              <a:buAutoNum type="arabicPeriod"/>
            </a:pPr>
            <a:r>
              <a:rPr lang="en-US" sz="1600" kern="100" dirty="0">
                <a:solidFill>
                  <a:srgbClr val="FFFFFF"/>
                </a:solidFill>
                <a:effectLst/>
                <a:latin typeface="Times New Roman" panose="02020603050405020304" pitchFamily="18" charset="0"/>
                <a:ea typeface="Aptos" panose="020B0004020202020204" pitchFamily="34" charset="0"/>
                <a:cs typeface="Times New Roman" panose="02020603050405020304" pitchFamily="18" charset="0"/>
              </a:rPr>
              <a:t>The system should enable supervisors to assign specific tasks or duties to employees working at the event.</a:t>
            </a:r>
          </a:p>
          <a:p>
            <a:pPr marL="342900" marR="0" lvl="0" indent="-342900">
              <a:lnSpc>
                <a:spcPct val="100000"/>
              </a:lnSpc>
              <a:buFont typeface="+mj-lt"/>
              <a:buAutoNum type="arabicPeriod"/>
            </a:pPr>
            <a:r>
              <a:rPr lang="en-US" sz="1600" kern="100" dirty="0" smtClean="0">
                <a:solidFill>
                  <a:srgbClr val="FFFFFF"/>
                </a:solidFill>
                <a:effectLst/>
                <a:latin typeface="Times New Roman" panose="02020603050405020304" pitchFamily="18" charset="0"/>
                <a:ea typeface="Aptos" panose="020B0004020202020204" pitchFamily="34" charset="0"/>
                <a:cs typeface="Times New Roman" panose="02020603050405020304" pitchFamily="18" charset="0"/>
              </a:rPr>
              <a:t>Supervisors must be able to select employees for specific events through the system.</a:t>
            </a:r>
            <a:endParaRPr lang="en-US" sz="1600" kern="100" dirty="0">
              <a:solidFill>
                <a:srgbClr val="FFFFFF"/>
              </a:solidFill>
              <a:effectLst/>
              <a:latin typeface="Times New Roman" panose="02020603050405020304" pitchFamily="18" charset="0"/>
              <a:ea typeface="Aptos" panose="020B0004020202020204" pitchFamily="34" charset="0"/>
              <a:cs typeface="Times New Roman" panose="02020603050405020304" pitchFamily="18" charset="0"/>
            </a:endParaRPr>
          </a:p>
          <a:p>
            <a:pPr marL="342900" marR="0" lvl="0" indent="-342900">
              <a:lnSpc>
                <a:spcPct val="100000"/>
              </a:lnSpc>
              <a:buFont typeface="+mj-lt"/>
              <a:buAutoNum type="arabicPeriod"/>
            </a:pPr>
            <a:r>
              <a:rPr lang="en-US" sz="1600" kern="100" dirty="0">
                <a:solidFill>
                  <a:srgbClr val="FFFFFF"/>
                </a:solidFill>
                <a:effectLst/>
                <a:latin typeface="Times New Roman" panose="02020603050405020304" pitchFamily="18" charset="0"/>
                <a:ea typeface="Aptos" panose="020B0004020202020204" pitchFamily="34" charset="0"/>
                <a:cs typeface="Times New Roman" panose="02020603050405020304" pitchFamily="18" charset="0"/>
              </a:rPr>
              <a:t>The system must enable managers to allocate work shift-related coupons to employees</a:t>
            </a:r>
            <a:r>
              <a:rPr lang="en-US" sz="1600" kern="100" dirty="0" smtClean="0">
                <a:solidFill>
                  <a:srgbClr val="FFFFFF"/>
                </a:solidFill>
                <a:effectLst/>
                <a:latin typeface="Times New Roman" panose="02020603050405020304" pitchFamily="18" charset="0"/>
                <a:ea typeface="Aptos" panose="020B0004020202020204" pitchFamily="34" charset="0"/>
                <a:cs typeface="Times New Roman" panose="02020603050405020304" pitchFamily="18" charset="0"/>
              </a:rPr>
              <a:t>.</a:t>
            </a:r>
            <a:endParaRPr lang="en-US" sz="1600" kern="100" dirty="0">
              <a:solidFill>
                <a:srgbClr val="FFFFFF"/>
              </a:solidFill>
              <a:effectLst/>
              <a:latin typeface="Times New Roman" panose="02020603050405020304" pitchFamily="18" charset="0"/>
              <a:ea typeface="Aptos" panose="020B0004020202020204" pitchFamily="34" charset="0"/>
              <a:cs typeface="Times New Roman" panose="02020603050405020304" pitchFamily="18" charset="0"/>
            </a:endParaRPr>
          </a:p>
          <a:p>
            <a:pPr marL="342900" marR="0" lvl="0" indent="-342900">
              <a:lnSpc>
                <a:spcPct val="100000"/>
              </a:lnSpc>
              <a:buFont typeface="+mj-lt"/>
              <a:buAutoNum type="arabicPeriod"/>
            </a:pPr>
            <a:r>
              <a:rPr lang="en-US" sz="1600" kern="100" dirty="0">
                <a:solidFill>
                  <a:srgbClr val="FFFFFF"/>
                </a:solidFill>
                <a:effectLst/>
                <a:latin typeface="Times New Roman" panose="02020603050405020304" pitchFamily="18" charset="0"/>
                <a:ea typeface="Aptos" panose="020B0004020202020204" pitchFamily="34" charset="0"/>
                <a:cs typeface="Times New Roman" panose="02020603050405020304" pitchFamily="18" charset="0"/>
              </a:rPr>
              <a:t>Historical tracking and reporting for analysis of events and employee performance.</a:t>
            </a:r>
          </a:p>
          <a:p>
            <a:pPr marL="342900" marR="0" lvl="0" indent="-342900">
              <a:lnSpc>
                <a:spcPct val="100000"/>
              </a:lnSpc>
              <a:buFont typeface="+mj-lt"/>
              <a:buAutoNum type="arabicPeriod"/>
            </a:pPr>
            <a:r>
              <a:rPr lang="en-US" sz="1600" kern="100" dirty="0">
                <a:solidFill>
                  <a:srgbClr val="FFFFFF"/>
                </a:solidFill>
                <a:effectLst/>
                <a:latin typeface="Times New Roman" panose="02020603050405020304" pitchFamily="18" charset="0"/>
                <a:ea typeface="Aptos" panose="020B0004020202020204" pitchFamily="34" charset="0"/>
                <a:cs typeface="Times New Roman" panose="02020603050405020304" pitchFamily="18" charset="0"/>
              </a:rPr>
              <a:t>Multi-user access (Managers and Supervisors) to ensure concurrent use.</a:t>
            </a:r>
          </a:p>
          <a:p>
            <a:pPr marL="342900" marR="0" lvl="0" indent="-342900">
              <a:lnSpc>
                <a:spcPct val="100000"/>
              </a:lnSpc>
              <a:buFont typeface="+mj-lt"/>
              <a:buAutoNum type="arabicPeriod"/>
            </a:pPr>
            <a:r>
              <a:rPr lang="en-US" sz="1600" kern="100" dirty="0">
                <a:solidFill>
                  <a:srgbClr val="FFFFFF"/>
                </a:solidFill>
                <a:effectLst/>
                <a:latin typeface="Times New Roman" panose="02020603050405020304" pitchFamily="18" charset="0"/>
                <a:ea typeface="Aptos" panose="020B0004020202020204" pitchFamily="34" charset="0"/>
                <a:cs typeface="Times New Roman" panose="02020603050405020304" pitchFamily="18" charset="0"/>
              </a:rPr>
              <a:t>Table/field-level security for sensitive data</a:t>
            </a:r>
            <a:r>
              <a:rPr lang="en-US" sz="1600" kern="100" dirty="0" smtClean="0">
                <a:solidFill>
                  <a:srgbClr val="FFFFFF"/>
                </a:solidFill>
                <a:effectLst/>
                <a:latin typeface="Times New Roman" panose="02020603050405020304" pitchFamily="18" charset="0"/>
                <a:ea typeface="Aptos" panose="020B0004020202020204" pitchFamily="34" charset="0"/>
                <a:cs typeface="Times New Roman" panose="02020603050405020304" pitchFamily="18" charset="0"/>
              </a:rPr>
              <a:t>.</a:t>
            </a:r>
            <a:endParaRPr lang="en-US" sz="1600" kern="100" dirty="0">
              <a:solidFill>
                <a:srgbClr val="FFFFFF"/>
              </a:solidFill>
              <a:effectLst/>
              <a:latin typeface="Times New Roman" panose="02020603050405020304" pitchFamily="18" charset="0"/>
              <a:ea typeface="Aptos" panose="020B0004020202020204" pitchFamily="34" charset="0"/>
              <a:cs typeface="Times New Roman" panose="02020603050405020304" pitchFamily="18" charset="0"/>
            </a:endParaRPr>
          </a:p>
          <a:p>
            <a:pPr marL="342900" marR="0" lvl="0" indent="-342900">
              <a:lnSpc>
                <a:spcPct val="100000"/>
              </a:lnSpc>
              <a:buFont typeface="+mj-lt"/>
              <a:buAutoNum type="arabicPeriod"/>
            </a:pPr>
            <a:r>
              <a:rPr lang="en-US" sz="1600" kern="100" dirty="0">
                <a:solidFill>
                  <a:srgbClr val="FFFFFF"/>
                </a:solidFill>
                <a:effectLst/>
                <a:latin typeface="Times New Roman" panose="02020603050405020304" pitchFamily="18" charset="0"/>
                <a:ea typeface="Aptos" panose="020B0004020202020204" pitchFamily="34" charset="0"/>
                <a:cs typeface="Times New Roman" panose="02020603050405020304" pitchFamily="18" charset="0"/>
              </a:rPr>
              <a:t>Scalability for </a:t>
            </a:r>
            <a:r>
              <a:rPr lang="en-US" sz="1600" kern="100" dirty="0" smtClean="0">
                <a:solidFill>
                  <a:srgbClr val="FFFFFF"/>
                </a:solidFill>
                <a:effectLst/>
                <a:latin typeface="Times New Roman" panose="02020603050405020304" pitchFamily="18" charset="0"/>
                <a:ea typeface="Aptos" panose="020B0004020202020204" pitchFamily="34" charset="0"/>
                <a:cs typeface="Times New Roman" panose="02020603050405020304" pitchFamily="18" charset="0"/>
              </a:rPr>
              <a:t>future growth in operations.</a:t>
            </a:r>
            <a:endParaRPr lang="en-US" sz="1600" kern="100" dirty="0" smtClean="0">
              <a:solidFill>
                <a:srgbClr val="FFFFFF"/>
              </a:solidFill>
              <a:effectLst/>
              <a:latin typeface="Aptos" panose="020B0004020202020204" pitchFamily="34" charset="0"/>
              <a:ea typeface="Aptos" panose="020B0004020202020204" pitchFamily="34" charset="0"/>
              <a:cs typeface="Gautami" panose="020B0502040204020203" pitchFamily="34" charset="0"/>
            </a:endParaRPr>
          </a:p>
          <a:p>
            <a:pPr>
              <a:lnSpc>
                <a:spcPct val="100000"/>
              </a:lnSpc>
            </a:pPr>
            <a:endParaRPr lang="en-US" sz="1100" dirty="0">
              <a:solidFill>
                <a:srgbClr val="FFFFFF"/>
              </a:solidFill>
            </a:endParaRPr>
          </a:p>
        </p:txBody>
      </p:sp>
    </p:spTree>
    <p:extLst>
      <p:ext uri="{BB962C8B-B14F-4D97-AF65-F5344CB8AC3E}">
        <p14:creationId xmlns:p14="http://schemas.microsoft.com/office/powerpoint/2010/main" val="354223008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32768DCD-B824-413A-B330-8D57ADB3724C}"/>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ame 18">
            <a:extLst>
              <a:ext uri="{FF2B5EF4-FFF2-40B4-BE49-F238E27FC236}">
                <a16:creationId xmlns:a16="http://schemas.microsoft.com/office/drawing/2014/main" id="{61DF3E2F-0A88-4C55-8678-0764BF7339D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frame">
            <a:avLst>
              <a:gd name="adj1" fmla="val 7164"/>
            </a:avLst>
          </a:prstGeom>
          <a:gradFill flip="none" rotWithShape="1">
            <a:gsLst>
              <a:gs pos="0">
                <a:schemeClr val="accent2">
                  <a:alpha val="40000"/>
                </a:schemeClr>
              </a:gs>
              <a:gs pos="100000">
                <a:schemeClr val="accent1">
                  <a:alpha val="4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8F50546-C586-589C-1C18-45BAD13774F9}"/>
              </a:ext>
            </a:extLst>
          </p:cNvPr>
          <p:cNvSpPr>
            <a:spLocks noGrp="1"/>
          </p:cNvSpPr>
          <p:nvPr>
            <p:ph type="title"/>
          </p:nvPr>
        </p:nvSpPr>
        <p:spPr>
          <a:xfrm>
            <a:off x="838201" y="609600"/>
            <a:ext cx="2536370" cy="5567363"/>
          </a:xfrm>
        </p:spPr>
        <p:txBody>
          <a:bodyPr anchor="ctr">
            <a:normAutofit/>
          </a:bodyPr>
          <a:lstStyle/>
          <a:p>
            <a:r>
              <a:rPr lang="en-US" sz="4000" b="1" kern="100" dirty="0">
                <a:gradFill flip="none" rotWithShape="1">
                  <a:gsLst>
                    <a:gs pos="0">
                      <a:schemeClr val="accent5">
                        <a:alpha val="70000"/>
                      </a:schemeClr>
                    </a:gs>
                    <a:gs pos="100000">
                      <a:schemeClr val="accent1">
                        <a:alpha val="70000"/>
                      </a:schemeClr>
                    </a:gs>
                  </a:gsLst>
                  <a:lin ang="0" scaled="1"/>
                  <a:tileRect/>
                </a:gradFill>
                <a:effectLst/>
                <a:latin typeface="Times New Roman" panose="02020603050405020304" pitchFamily="18" charset="0"/>
                <a:ea typeface="Times New Roman" panose="02020603050405020304" pitchFamily="18" charset="0"/>
                <a:cs typeface="Times New Roman" panose="02020603050405020304" pitchFamily="18" charset="0"/>
              </a:rPr>
              <a:t>Business Rules</a:t>
            </a:r>
            <a:endParaRPr lang="en-US" sz="4000" dirty="0">
              <a:gradFill flip="none" rotWithShape="1">
                <a:gsLst>
                  <a:gs pos="0">
                    <a:schemeClr val="accent5">
                      <a:alpha val="70000"/>
                    </a:schemeClr>
                  </a:gs>
                  <a:gs pos="100000">
                    <a:schemeClr val="accent1">
                      <a:alpha val="70000"/>
                    </a:schemeClr>
                  </a:gs>
                </a:gsLst>
                <a:lin ang="0" scaled="1"/>
                <a:tileRect/>
              </a:gradFill>
              <a:latin typeface="Times New Roman" panose="02020603050405020304" pitchFamily="18" charset="0"/>
              <a:cs typeface="Times New Roman" panose="02020603050405020304" pitchFamily="18" charset="0"/>
            </a:endParaRPr>
          </a:p>
        </p:txBody>
      </p:sp>
      <p:graphicFrame>
        <p:nvGraphicFramePr>
          <p:cNvPr id="5" name="Content Placeholder 2">
            <a:extLst>
              <a:ext uri="{FF2B5EF4-FFF2-40B4-BE49-F238E27FC236}">
                <a16:creationId xmlns:a16="http://schemas.microsoft.com/office/drawing/2014/main" id="{C06F179A-3B08-B872-0C0C-DF2955E9906B}"/>
              </a:ext>
            </a:extLst>
          </p:cNvPr>
          <p:cNvGraphicFramePr>
            <a:graphicFrameLocks noGrp="1"/>
          </p:cNvGraphicFramePr>
          <p:nvPr>
            <p:ph idx="1"/>
            <p:extLst>
              <p:ext uri="{D42A27DB-BD31-4B8C-83A1-F6EECF244321}">
                <p14:modId xmlns:p14="http://schemas.microsoft.com/office/powerpoint/2010/main" val="4062432967"/>
              </p:ext>
            </p:extLst>
          </p:nvPr>
        </p:nvGraphicFramePr>
        <p:xfrm>
          <a:off x="3298371" y="609600"/>
          <a:ext cx="8273142" cy="55673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12499184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Frame 9">
            <a:extLst>
              <a:ext uri="{FF2B5EF4-FFF2-40B4-BE49-F238E27FC236}">
                <a16:creationId xmlns:a16="http://schemas.microsoft.com/office/drawing/2014/main" id="{DD7EAFE6-2BB9-41FB-9CF4-588CFC708774}"/>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frame">
            <a:avLst>
              <a:gd name="adj1" fmla="val 7164"/>
            </a:avLst>
          </a:prstGeom>
          <a:gradFill flip="none" rotWithShape="1">
            <a:gsLst>
              <a:gs pos="0">
                <a:schemeClr val="accent2">
                  <a:alpha val="40000"/>
                </a:schemeClr>
              </a:gs>
              <a:gs pos="100000">
                <a:schemeClr val="accent1">
                  <a:alpha val="4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2" name="Rectangle 11">
            <a:extLst>
              <a:ext uri="{FF2B5EF4-FFF2-40B4-BE49-F238E27FC236}">
                <a16:creationId xmlns:a16="http://schemas.microsoft.com/office/drawing/2014/main" id="{610334BF-0422-4A9A-BE46-AEB8C348BAC4}"/>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C98F2823-0279-49D8-928D-754B222533EF}"/>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64"/>
            <a:ext cx="12188952" cy="6858000"/>
          </a:xfrm>
          <a:prstGeom prst="rect">
            <a:avLst/>
          </a:prstGeom>
          <a:gradFill flip="none" rotWithShape="1">
            <a:gsLst>
              <a:gs pos="0">
                <a:schemeClr val="accent2">
                  <a:alpha val="60000"/>
                </a:schemeClr>
              </a:gs>
              <a:gs pos="100000">
                <a:schemeClr val="accent1">
                  <a:alpha val="6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02E45E95-311C-41C7-A882-6E43F0806865}"/>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63"/>
            <a:ext cx="12188952" cy="6858000"/>
          </a:xfrm>
          <a:prstGeom prst="rect">
            <a:avLst/>
          </a:prstGeom>
          <a:solidFill>
            <a:schemeClr val="bg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Oval 17">
            <a:extLst>
              <a:ext uri="{FF2B5EF4-FFF2-40B4-BE49-F238E27FC236}">
                <a16:creationId xmlns:a16="http://schemas.microsoft.com/office/drawing/2014/main" id="{B7299D5D-ECC5-41EB-B830-C3A35FB35516}"/>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2537516" y="0"/>
            <a:ext cx="6857999" cy="6857998"/>
          </a:xfrm>
          <a:prstGeom prst="ellipse">
            <a:avLst/>
          </a:prstGeom>
          <a:gradFill>
            <a:gsLst>
              <a:gs pos="0">
                <a:schemeClr val="accent1">
                  <a:lumMod val="20000"/>
                  <a:lumOff val="80000"/>
                  <a:alpha val="40000"/>
                </a:schemeClr>
              </a:gs>
              <a:gs pos="100000">
                <a:schemeClr val="accent1">
                  <a:alpha val="40000"/>
                </a:schemeClr>
              </a:gs>
            </a:gsLst>
            <a:lin ang="2700000" scaled="1"/>
          </a:gradFill>
          <a:ln>
            <a:noFill/>
          </a:ln>
          <a:effectLst>
            <a:softEdge rad="520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Oval 19">
            <a:extLst>
              <a:ext uri="{FF2B5EF4-FFF2-40B4-BE49-F238E27FC236}">
                <a16:creationId xmlns:a16="http://schemas.microsoft.com/office/drawing/2014/main" id="{88C91735-5EFE-44D1-8CC6-FDF0D11B6F5D}"/>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73990" y="1194074"/>
            <a:ext cx="5589934" cy="5737916"/>
          </a:xfrm>
          <a:prstGeom prst="ellipse">
            <a:avLst/>
          </a:prstGeom>
          <a:gradFill>
            <a:gsLst>
              <a:gs pos="0">
                <a:schemeClr val="accent1">
                  <a:alpha val="40000"/>
                </a:schemeClr>
              </a:gs>
              <a:gs pos="100000">
                <a:schemeClr val="accent5">
                  <a:alpha val="20000"/>
                </a:schemeClr>
              </a:gs>
            </a:gsLst>
            <a:lin ang="2700000" scaled="1"/>
          </a:gradFill>
          <a:ln>
            <a:noFill/>
          </a:ln>
          <a:effectLst>
            <a:softEdge rad="952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Oval 21">
            <a:extLst>
              <a:ext uri="{FF2B5EF4-FFF2-40B4-BE49-F238E27FC236}">
                <a16:creationId xmlns:a16="http://schemas.microsoft.com/office/drawing/2014/main" id="{D33F926C-2613-475D-AEE4-CD7D87D3BA2D}"/>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6439622" y="194269"/>
            <a:ext cx="5760743" cy="5737917"/>
          </a:xfrm>
          <a:prstGeom prst="ellipse">
            <a:avLst/>
          </a:prstGeom>
          <a:gradFill>
            <a:gsLst>
              <a:gs pos="0">
                <a:schemeClr val="accent1">
                  <a:alpha val="20000"/>
                </a:schemeClr>
              </a:gs>
              <a:gs pos="100000">
                <a:schemeClr val="accent5">
                  <a:alpha val="40000"/>
                </a:schemeClr>
              </a:gs>
            </a:gsLst>
            <a:lin ang="2700000" scaled="1"/>
          </a:gradFill>
          <a:ln>
            <a:noFill/>
          </a:ln>
          <a:effectLst>
            <a:softEdge rad="10033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F70BA33-9288-E815-10F3-2D411305A80D}"/>
              </a:ext>
            </a:extLst>
          </p:cNvPr>
          <p:cNvSpPr>
            <a:spLocks noGrp="1"/>
          </p:cNvSpPr>
          <p:nvPr>
            <p:ph type="title"/>
          </p:nvPr>
        </p:nvSpPr>
        <p:spPr>
          <a:xfrm>
            <a:off x="281476" y="2797628"/>
            <a:ext cx="1523999" cy="1049792"/>
          </a:xfrm>
        </p:spPr>
        <p:txBody>
          <a:bodyPr vert="horz" lIns="91440" tIns="45720" rIns="91440" bIns="45720" rtlCol="0" anchor="b">
            <a:normAutofit fontScale="90000"/>
          </a:bodyPr>
          <a:lstStyle/>
          <a:p>
            <a:r>
              <a:rPr lang="en-US" sz="5400" dirty="0">
                <a:solidFill>
                  <a:srgbClr val="FFFFFF"/>
                </a:solidFill>
                <a:latin typeface="Times New Roman" panose="02020603050405020304" pitchFamily="18" charset="0"/>
                <a:cs typeface="Times New Roman" panose="02020603050405020304" pitchFamily="18" charset="0"/>
              </a:rPr>
              <a:t>ERD</a:t>
            </a:r>
          </a:p>
        </p:txBody>
      </p:sp>
      <p:pic>
        <p:nvPicPr>
          <p:cNvPr id="5" name="Picture 4" descr="A diagram of a computer code&#10;&#10;Description automatically generated with medium confidence">
            <a:extLst>
              <a:ext uri="{FF2B5EF4-FFF2-40B4-BE49-F238E27FC236}">
                <a16:creationId xmlns:a16="http://schemas.microsoft.com/office/drawing/2014/main" id="{AFA90133-AE4B-2FB2-02C4-4651242B7CFC}"/>
              </a:ext>
            </a:extLst>
          </p:cNvPr>
          <p:cNvPicPr>
            <a:picLocks noChangeAspect="1"/>
          </p:cNvPicPr>
          <p:nvPr/>
        </p:nvPicPr>
        <p:blipFill>
          <a:blip r:embed="rId2">
            <a:alphaModFix amt="80000"/>
            <a:extLst>
              <a:ext uri="{28A0092B-C50C-407E-A947-70E740481C1C}">
                <a14:useLocalDpi xmlns:a14="http://schemas.microsoft.com/office/drawing/2010/main" val="0"/>
              </a:ext>
            </a:extLst>
          </a:blip>
          <a:stretch>
            <a:fillRect/>
          </a:stretch>
        </p:blipFill>
        <p:spPr>
          <a:xfrm>
            <a:off x="1807031" y="216802"/>
            <a:ext cx="9904557" cy="6579333"/>
          </a:xfrm>
          <a:prstGeom prst="rect">
            <a:avLst/>
          </a:prstGeom>
        </p:spPr>
      </p:pic>
    </p:spTree>
    <p:extLst>
      <p:ext uri="{BB962C8B-B14F-4D97-AF65-F5344CB8AC3E}">
        <p14:creationId xmlns:p14="http://schemas.microsoft.com/office/powerpoint/2010/main" val="347990487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2768DCD-B824-413A-B330-8D57ADB3724C}"/>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76A7AA4-B070-E155-1330-CC195421606B}"/>
              </a:ext>
            </a:extLst>
          </p:cNvPr>
          <p:cNvSpPr>
            <a:spLocks noGrp="1"/>
          </p:cNvSpPr>
          <p:nvPr>
            <p:ph type="title"/>
          </p:nvPr>
        </p:nvSpPr>
        <p:spPr>
          <a:xfrm>
            <a:off x="108856" y="34320"/>
            <a:ext cx="10406743" cy="685800"/>
          </a:xfrm>
        </p:spPr>
        <p:txBody>
          <a:bodyPr anchor="ctr">
            <a:normAutofit fontScale="90000"/>
          </a:bodyPr>
          <a:lstStyle/>
          <a:p>
            <a:r>
              <a:rPr lang="en-US" sz="4400" dirty="0">
                <a:gradFill flip="none" rotWithShape="1">
                  <a:gsLst>
                    <a:gs pos="0">
                      <a:schemeClr val="accent5">
                        <a:alpha val="70000"/>
                      </a:schemeClr>
                    </a:gs>
                    <a:gs pos="100000">
                      <a:schemeClr val="accent1">
                        <a:alpha val="70000"/>
                      </a:schemeClr>
                    </a:gs>
                  </a:gsLst>
                  <a:lin ang="0" scaled="1"/>
                  <a:tileRect/>
                </a:gradFill>
                <a:latin typeface="Times New Roman" panose="02020603050405020304" pitchFamily="18" charset="0"/>
                <a:cs typeface="Times New Roman" panose="02020603050405020304" pitchFamily="18" charset="0"/>
              </a:rPr>
              <a:t>Data Dictionary – Employee Table</a:t>
            </a:r>
          </a:p>
        </p:txBody>
      </p:sp>
      <p:graphicFrame>
        <p:nvGraphicFramePr>
          <p:cNvPr id="4" name="Content Placeholder 3">
            <a:extLst>
              <a:ext uri="{FF2B5EF4-FFF2-40B4-BE49-F238E27FC236}">
                <a16:creationId xmlns:a16="http://schemas.microsoft.com/office/drawing/2014/main" id="{E96314A4-4991-07B0-4348-03A88433A947}"/>
              </a:ext>
            </a:extLst>
          </p:cNvPr>
          <p:cNvGraphicFramePr>
            <a:graphicFrameLocks noGrp="1"/>
          </p:cNvGraphicFramePr>
          <p:nvPr>
            <p:ph idx="1"/>
            <p:extLst>
              <p:ext uri="{D42A27DB-BD31-4B8C-83A1-F6EECF244321}">
                <p14:modId xmlns:p14="http://schemas.microsoft.com/office/powerpoint/2010/main" val="2209022673"/>
              </p:ext>
            </p:extLst>
          </p:nvPr>
        </p:nvGraphicFramePr>
        <p:xfrm>
          <a:off x="108857" y="754440"/>
          <a:ext cx="11593286" cy="5726340"/>
        </p:xfrm>
        <a:graphic>
          <a:graphicData uri="http://schemas.openxmlformats.org/drawingml/2006/table">
            <a:tbl>
              <a:tblPr firstRow="1" firstCol="1" bandRow="1">
                <a:tableStyleId>{5C22544A-7EE6-4342-B048-85BDC9FD1C3A}</a:tableStyleId>
              </a:tblPr>
              <a:tblGrid>
                <a:gridCol w="1232657">
                  <a:extLst>
                    <a:ext uri="{9D8B030D-6E8A-4147-A177-3AD203B41FA5}">
                      <a16:colId xmlns:a16="http://schemas.microsoft.com/office/drawing/2014/main" val="2816195081"/>
                    </a:ext>
                  </a:extLst>
                </a:gridCol>
                <a:gridCol w="2447131">
                  <a:extLst>
                    <a:ext uri="{9D8B030D-6E8A-4147-A177-3AD203B41FA5}">
                      <a16:colId xmlns:a16="http://schemas.microsoft.com/office/drawing/2014/main" val="3497888802"/>
                    </a:ext>
                  </a:extLst>
                </a:gridCol>
                <a:gridCol w="1194990">
                  <a:extLst>
                    <a:ext uri="{9D8B030D-6E8A-4147-A177-3AD203B41FA5}">
                      <a16:colId xmlns:a16="http://schemas.microsoft.com/office/drawing/2014/main" val="2145628537"/>
                    </a:ext>
                  </a:extLst>
                </a:gridCol>
                <a:gridCol w="1194990">
                  <a:extLst>
                    <a:ext uri="{9D8B030D-6E8A-4147-A177-3AD203B41FA5}">
                      <a16:colId xmlns:a16="http://schemas.microsoft.com/office/drawing/2014/main" val="2580326272"/>
                    </a:ext>
                  </a:extLst>
                </a:gridCol>
                <a:gridCol w="838548">
                  <a:extLst>
                    <a:ext uri="{9D8B030D-6E8A-4147-A177-3AD203B41FA5}">
                      <a16:colId xmlns:a16="http://schemas.microsoft.com/office/drawing/2014/main" val="123472133"/>
                    </a:ext>
                  </a:extLst>
                </a:gridCol>
                <a:gridCol w="1132775">
                  <a:extLst>
                    <a:ext uri="{9D8B030D-6E8A-4147-A177-3AD203B41FA5}">
                      <a16:colId xmlns:a16="http://schemas.microsoft.com/office/drawing/2014/main" val="1018365673"/>
                    </a:ext>
                  </a:extLst>
                </a:gridCol>
                <a:gridCol w="1064472">
                  <a:extLst>
                    <a:ext uri="{9D8B030D-6E8A-4147-A177-3AD203B41FA5}">
                      <a16:colId xmlns:a16="http://schemas.microsoft.com/office/drawing/2014/main" val="3003438254"/>
                    </a:ext>
                  </a:extLst>
                </a:gridCol>
                <a:gridCol w="1194990">
                  <a:extLst>
                    <a:ext uri="{9D8B030D-6E8A-4147-A177-3AD203B41FA5}">
                      <a16:colId xmlns:a16="http://schemas.microsoft.com/office/drawing/2014/main" val="299002416"/>
                    </a:ext>
                  </a:extLst>
                </a:gridCol>
                <a:gridCol w="1292733">
                  <a:extLst>
                    <a:ext uri="{9D8B030D-6E8A-4147-A177-3AD203B41FA5}">
                      <a16:colId xmlns:a16="http://schemas.microsoft.com/office/drawing/2014/main" val="1711788364"/>
                    </a:ext>
                  </a:extLst>
                </a:gridCol>
              </a:tblGrid>
              <a:tr h="381756">
                <a:tc>
                  <a:txBody>
                    <a:bodyPr/>
                    <a:lstStyle/>
                    <a:p>
                      <a:pPr marL="0" marR="0" algn="ctr">
                        <a:lnSpc>
                          <a:spcPct val="107000"/>
                        </a:lnSpc>
                        <a:spcAft>
                          <a:spcPts val="800"/>
                        </a:spcAft>
                      </a:pPr>
                      <a:r>
                        <a:rPr lang="en-US" sz="900" kern="0">
                          <a:effectLst/>
                        </a:rPr>
                        <a:t>Attribute Name</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8836" marR="8836" marT="8836" marB="8836" anchor="ctr"/>
                </a:tc>
                <a:tc>
                  <a:txBody>
                    <a:bodyPr/>
                    <a:lstStyle/>
                    <a:p>
                      <a:pPr marL="0" marR="0" algn="ctr">
                        <a:lnSpc>
                          <a:spcPct val="107000"/>
                        </a:lnSpc>
                        <a:spcAft>
                          <a:spcPts val="800"/>
                        </a:spcAft>
                      </a:pPr>
                      <a:r>
                        <a:rPr lang="en-US" sz="900" kern="0">
                          <a:effectLst/>
                        </a:rPr>
                        <a:t>Contents</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8836" marR="8836" marT="8836" marB="8836" anchor="ctr"/>
                </a:tc>
                <a:tc>
                  <a:txBody>
                    <a:bodyPr/>
                    <a:lstStyle/>
                    <a:p>
                      <a:pPr marL="0" marR="0" algn="ctr">
                        <a:lnSpc>
                          <a:spcPct val="107000"/>
                        </a:lnSpc>
                        <a:spcAft>
                          <a:spcPts val="800"/>
                        </a:spcAft>
                      </a:pPr>
                      <a:r>
                        <a:rPr lang="en-US" sz="900" kern="0" dirty="0">
                          <a:effectLst/>
                        </a:rPr>
                        <a:t>Data Type</a:t>
                      </a:r>
                      <a:endParaRPr lang="en-US" sz="1100" kern="100" dirty="0">
                        <a:effectLst/>
                        <a:latin typeface="Aptos" panose="020B0004020202020204" pitchFamily="34" charset="0"/>
                        <a:ea typeface="Aptos" panose="020B0004020202020204" pitchFamily="34" charset="0"/>
                        <a:cs typeface="Gautami" panose="020B0502040204020203" pitchFamily="34" charset="0"/>
                      </a:endParaRPr>
                    </a:p>
                  </a:txBody>
                  <a:tcPr marL="8836" marR="8836" marT="8836" marB="8836" anchor="ctr"/>
                </a:tc>
                <a:tc>
                  <a:txBody>
                    <a:bodyPr/>
                    <a:lstStyle/>
                    <a:p>
                      <a:pPr marL="0" marR="0" algn="ctr">
                        <a:lnSpc>
                          <a:spcPct val="107000"/>
                        </a:lnSpc>
                        <a:spcAft>
                          <a:spcPts val="800"/>
                        </a:spcAft>
                      </a:pPr>
                      <a:r>
                        <a:rPr lang="en-US" sz="900" kern="0">
                          <a:effectLst/>
                        </a:rPr>
                        <a:t>Format</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8836" marR="8836" marT="8836" marB="8836" anchor="ctr"/>
                </a:tc>
                <a:tc>
                  <a:txBody>
                    <a:bodyPr/>
                    <a:lstStyle/>
                    <a:p>
                      <a:pPr marL="0" marR="0" algn="ctr">
                        <a:lnSpc>
                          <a:spcPct val="107000"/>
                        </a:lnSpc>
                        <a:spcAft>
                          <a:spcPts val="800"/>
                        </a:spcAft>
                      </a:pPr>
                      <a:r>
                        <a:rPr lang="en-US" sz="900" kern="0">
                          <a:effectLst/>
                        </a:rPr>
                        <a:t>Range</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8836" marR="8836" marT="8836" marB="8836" anchor="ctr"/>
                </a:tc>
                <a:tc>
                  <a:txBody>
                    <a:bodyPr/>
                    <a:lstStyle/>
                    <a:p>
                      <a:pPr marL="0" marR="0" algn="ctr">
                        <a:lnSpc>
                          <a:spcPct val="107000"/>
                        </a:lnSpc>
                        <a:spcAft>
                          <a:spcPts val="800"/>
                        </a:spcAft>
                      </a:pPr>
                      <a:r>
                        <a:rPr lang="en-US" sz="900" kern="0">
                          <a:effectLst/>
                        </a:rPr>
                        <a:t>Required</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8836" marR="8836" marT="8836" marB="8836" anchor="ctr"/>
                </a:tc>
                <a:tc>
                  <a:txBody>
                    <a:bodyPr/>
                    <a:lstStyle/>
                    <a:p>
                      <a:pPr marL="0" marR="0" algn="ctr">
                        <a:lnSpc>
                          <a:spcPct val="107000"/>
                        </a:lnSpc>
                        <a:spcAft>
                          <a:spcPts val="800"/>
                        </a:spcAft>
                      </a:pPr>
                      <a:r>
                        <a:rPr lang="en-US" sz="900" kern="0">
                          <a:effectLst/>
                        </a:rPr>
                        <a:t>PK or FK</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8836" marR="8836" marT="8836" marB="8836" anchor="ctr"/>
                </a:tc>
                <a:tc>
                  <a:txBody>
                    <a:bodyPr/>
                    <a:lstStyle/>
                    <a:p>
                      <a:pPr marL="0" marR="0" algn="ctr">
                        <a:lnSpc>
                          <a:spcPct val="107000"/>
                        </a:lnSpc>
                        <a:spcAft>
                          <a:spcPts val="800"/>
                        </a:spcAft>
                      </a:pPr>
                      <a:r>
                        <a:rPr lang="en-US" sz="900" kern="0">
                          <a:effectLst/>
                        </a:rPr>
                        <a:t>FK Reference</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8836" marR="8836" marT="8836" marB="8836" anchor="ctr"/>
                </a:tc>
                <a:tc>
                  <a:txBody>
                    <a:bodyPr/>
                    <a:lstStyle/>
                    <a:p>
                      <a:pPr marL="0" marR="0" algn="ctr">
                        <a:lnSpc>
                          <a:spcPct val="107000"/>
                        </a:lnSpc>
                        <a:spcAft>
                          <a:spcPts val="800"/>
                        </a:spcAft>
                      </a:pPr>
                      <a:r>
                        <a:rPr lang="en-US" sz="900" kern="0">
                          <a:effectLst/>
                        </a:rPr>
                        <a:t>Sample Data</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8836" marR="8836" marT="8836" marB="8836" anchor="ctr"/>
                </a:tc>
                <a:extLst>
                  <a:ext uri="{0D108BD9-81ED-4DB2-BD59-A6C34878D82A}">
                    <a16:rowId xmlns:a16="http://schemas.microsoft.com/office/drawing/2014/main" val="1984066177"/>
                  </a:ext>
                </a:extLst>
              </a:tr>
              <a:tr h="381756">
                <a:tc>
                  <a:txBody>
                    <a:bodyPr/>
                    <a:lstStyle/>
                    <a:p>
                      <a:pPr marL="0" marR="0">
                        <a:lnSpc>
                          <a:spcPct val="107000"/>
                        </a:lnSpc>
                        <a:spcAft>
                          <a:spcPts val="800"/>
                        </a:spcAft>
                      </a:pPr>
                      <a:r>
                        <a:rPr lang="en-US" sz="900" kern="0">
                          <a:effectLst/>
                        </a:rPr>
                        <a:t>employeeID</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8836" marR="8836" marT="8836" marB="8836" anchor="ctr"/>
                </a:tc>
                <a:tc>
                  <a:txBody>
                    <a:bodyPr/>
                    <a:lstStyle/>
                    <a:p>
                      <a:pPr marL="0" marR="0">
                        <a:lnSpc>
                          <a:spcPct val="107000"/>
                        </a:lnSpc>
                        <a:spcAft>
                          <a:spcPts val="800"/>
                        </a:spcAft>
                      </a:pPr>
                      <a:r>
                        <a:rPr lang="en-US" sz="900" kern="0">
                          <a:effectLst/>
                        </a:rPr>
                        <a:t>Unique identifier for the employee</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8836" marR="8836" marT="8836" marB="8836" anchor="ctr"/>
                </a:tc>
                <a:tc>
                  <a:txBody>
                    <a:bodyPr/>
                    <a:lstStyle/>
                    <a:p>
                      <a:pPr marL="0" marR="0">
                        <a:lnSpc>
                          <a:spcPct val="107000"/>
                        </a:lnSpc>
                        <a:spcAft>
                          <a:spcPts val="800"/>
                        </a:spcAft>
                      </a:pPr>
                      <a:r>
                        <a:rPr lang="en-US" sz="900" kern="0">
                          <a:effectLst/>
                        </a:rPr>
                        <a:t>INT</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8836" marR="8836" marT="8836" marB="8836" anchor="ctr"/>
                </a:tc>
                <a:tc>
                  <a:txBody>
                    <a:bodyPr/>
                    <a:lstStyle/>
                    <a:p>
                      <a:pPr marL="0" marR="0">
                        <a:lnSpc>
                          <a:spcPct val="107000"/>
                        </a:lnSpc>
                        <a:spcAft>
                          <a:spcPts val="800"/>
                        </a:spcAft>
                      </a:pPr>
                      <a:r>
                        <a:rPr lang="en-US" sz="900" kern="0">
                          <a:effectLst/>
                        </a:rPr>
                        <a:t>N/A</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8836" marR="8836" marT="8836" marB="8836" anchor="ctr"/>
                </a:tc>
                <a:tc>
                  <a:txBody>
                    <a:bodyPr/>
                    <a:lstStyle/>
                    <a:p>
                      <a:pPr marL="0" marR="0">
                        <a:lnSpc>
                          <a:spcPct val="107000"/>
                        </a:lnSpc>
                        <a:spcAft>
                          <a:spcPts val="800"/>
                        </a:spcAft>
                      </a:pPr>
                      <a:r>
                        <a:rPr lang="en-US" sz="900" kern="0">
                          <a:effectLst/>
                        </a:rPr>
                        <a:t>N/A</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8836" marR="8836" marT="8836" marB="8836" anchor="ctr"/>
                </a:tc>
                <a:tc>
                  <a:txBody>
                    <a:bodyPr/>
                    <a:lstStyle/>
                    <a:p>
                      <a:pPr marL="0" marR="0">
                        <a:lnSpc>
                          <a:spcPct val="107000"/>
                        </a:lnSpc>
                        <a:spcAft>
                          <a:spcPts val="800"/>
                        </a:spcAft>
                      </a:pPr>
                      <a:r>
                        <a:rPr lang="en-US" sz="900" kern="0">
                          <a:effectLst/>
                        </a:rPr>
                        <a:t>Y</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8836" marR="8836" marT="8836" marB="8836" anchor="ctr"/>
                </a:tc>
                <a:tc>
                  <a:txBody>
                    <a:bodyPr/>
                    <a:lstStyle/>
                    <a:p>
                      <a:pPr marL="0" marR="0">
                        <a:lnSpc>
                          <a:spcPct val="107000"/>
                        </a:lnSpc>
                        <a:spcAft>
                          <a:spcPts val="800"/>
                        </a:spcAft>
                      </a:pPr>
                      <a:r>
                        <a:rPr lang="en-US" sz="900" kern="0">
                          <a:effectLst/>
                        </a:rPr>
                        <a:t>PK</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8836" marR="8836" marT="8836" marB="8836" anchor="ctr"/>
                </a:tc>
                <a:tc>
                  <a:txBody>
                    <a:bodyPr/>
                    <a:lstStyle/>
                    <a:p>
                      <a:pPr marL="0" marR="0">
                        <a:lnSpc>
                          <a:spcPct val="107000"/>
                        </a:lnSpc>
                        <a:spcAft>
                          <a:spcPts val="800"/>
                        </a:spcAft>
                      </a:pPr>
                      <a:r>
                        <a:rPr lang="en-US" sz="900" kern="0">
                          <a:effectLst/>
                        </a:rPr>
                        <a:t>N/A</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8836" marR="8836" marT="8836" marB="8836" anchor="ctr"/>
                </a:tc>
                <a:tc>
                  <a:txBody>
                    <a:bodyPr/>
                    <a:lstStyle/>
                    <a:p>
                      <a:pPr marL="0" marR="0">
                        <a:lnSpc>
                          <a:spcPct val="107000"/>
                        </a:lnSpc>
                        <a:spcAft>
                          <a:spcPts val="800"/>
                        </a:spcAft>
                      </a:pPr>
                      <a:r>
                        <a:rPr lang="en-US" sz="900" kern="0">
                          <a:effectLst/>
                        </a:rPr>
                        <a:t>2001</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8836" marR="8836" marT="8836" marB="8836" anchor="ctr"/>
                </a:tc>
                <a:extLst>
                  <a:ext uri="{0D108BD9-81ED-4DB2-BD59-A6C34878D82A}">
                    <a16:rowId xmlns:a16="http://schemas.microsoft.com/office/drawing/2014/main" val="1633536671"/>
                  </a:ext>
                </a:extLst>
              </a:tr>
              <a:tr h="381756">
                <a:tc>
                  <a:txBody>
                    <a:bodyPr/>
                    <a:lstStyle/>
                    <a:p>
                      <a:pPr marL="0" marR="0">
                        <a:lnSpc>
                          <a:spcPct val="107000"/>
                        </a:lnSpc>
                        <a:spcAft>
                          <a:spcPts val="800"/>
                        </a:spcAft>
                      </a:pPr>
                      <a:r>
                        <a:rPr lang="en-US" sz="900" kern="0">
                          <a:effectLst/>
                        </a:rPr>
                        <a:t>emailID</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8836" marR="8836" marT="8836" marB="8836" anchor="ctr"/>
                </a:tc>
                <a:tc>
                  <a:txBody>
                    <a:bodyPr/>
                    <a:lstStyle/>
                    <a:p>
                      <a:pPr marL="0" marR="0">
                        <a:lnSpc>
                          <a:spcPct val="107000"/>
                        </a:lnSpc>
                        <a:spcAft>
                          <a:spcPts val="800"/>
                        </a:spcAft>
                      </a:pPr>
                      <a:r>
                        <a:rPr lang="en-US" sz="900" kern="0">
                          <a:effectLst/>
                        </a:rPr>
                        <a:t>Employee's email address</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8836" marR="8836" marT="8836" marB="8836" anchor="ctr"/>
                </a:tc>
                <a:tc>
                  <a:txBody>
                    <a:bodyPr/>
                    <a:lstStyle/>
                    <a:p>
                      <a:pPr marL="0" marR="0">
                        <a:lnSpc>
                          <a:spcPct val="107000"/>
                        </a:lnSpc>
                        <a:spcAft>
                          <a:spcPts val="800"/>
                        </a:spcAft>
                      </a:pPr>
                      <a:r>
                        <a:rPr lang="en-US" sz="900" kern="0">
                          <a:effectLst/>
                        </a:rPr>
                        <a:t>VARCHAR(50)</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8836" marR="8836" marT="8836" marB="8836" anchor="ctr"/>
                </a:tc>
                <a:tc>
                  <a:txBody>
                    <a:bodyPr/>
                    <a:lstStyle/>
                    <a:p>
                      <a:pPr marL="0" marR="0">
                        <a:lnSpc>
                          <a:spcPct val="107000"/>
                        </a:lnSpc>
                        <a:spcAft>
                          <a:spcPts val="800"/>
                        </a:spcAft>
                      </a:pPr>
                      <a:r>
                        <a:rPr lang="en-US" sz="900" kern="0">
                          <a:effectLst/>
                        </a:rPr>
                        <a:t>Xxxxx@xxxx.xx</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8836" marR="8836" marT="8836" marB="8836" anchor="ctr"/>
                </a:tc>
                <a:tc>
                  <a:txBody>
                    <a:bodyPr/>
                    <a:lstStyle/>
                    <a:p>
                      <a:pPr marL="0" marR="0">
                        <a:lnSpc>
                          <a:spcPct val="107000"/>
                        </a:lnSpc>
                        <a:spcAft>
                          <a:spcPts val="800"/>
                        </a:spcAft>
                      </a:pPr>
                      <a:r>
                        <a:rPr lang="en-US" sz="900" kern="0">
                          <a:effectLst/>
                        </a:rPr>
                        <a:t>N/A</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8836" marR="8836" marT="8836" marB="8836" anchor="ctr"/>
                </a:tc>
                <a:tc>
                  <a:txBody>
                    <a:bodyPr/>
                    <a:lstStyle/>
                    <a:p>
                      <a:pPr marL="0" marR="0">
                        <a:lnSpc>
                          <a:spcPct val="107000"/>
                        </a:lnSpc>
                        <a:spcAft>
                          <a:spcPts val="800"/>
                        </a:spcAft>
                      </a:pPr>
                      <a:r>
                        <a:rPr lang="en-US" sz="900" kern="0">
                          <a:effectLst/>
                        </a:rPr>
                        <a:t>Y</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8836" marR="8836" marT="8836" marB="8836" anchor="ctr"/>
                </a:tc>
                <a:tc>
                  <a:txBody>
                    <a:bodyPr/>
                    <a:lstStyle/>
                    <a:p>
                      <a:pPr marL="0" marR="0">
                        <a:lnSpc>
                          <a:spcPct val="107000"/>
                        </a:lnSpc>
                        <a:spcAft>
                          <a:spcPts val="800"/>
                        </a:spcAft>
                      </a:pPr>
                      <a:r>
                        <a:rPr lang="en-US" sz="900" kern="0">
                          <a:effectLst/>
                        </a:rPr>
                        <a:t>N/A</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8836" marR="8836" marT="8836" marB="8836" anchor="ctr"/>
                </a:tc>
                <a:tc>
                  <a:txBody>
                    <a:bodyPr/>
                    <a:lstStyle/>
                    <a:p>
                      <a:pPr marL="0" marR="0">
                        <a:lnSpc>
                          <a:spcPct val="107000"/>
                        </a:lnSpc>
                        <a:spcAft>
                          <a:spcPts val="800"/>
                        </a:spcAft>
                      </a:pPr>
                      <a:r>
                        <a:rPr lang="en-US" sz="900" kern="0">
                          <a:effectLst/>
                        </a:rPr>
                        <a:t>N/A</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8836" marR="8836" marT="8836" marB="8836" anchor="ctr"/>
                </a:tc>
                <a:tc>
                  <a:txBody>
                    <a:bodyPr/>
                    <a:lstStyle/>
                    <a:p>
                      <a:pPr marL="0" marR="0">
                        <a:lnSpc>
                          <a:spcPct val="107000"/>
                        </a:lnSpc>
                        <a:spcAft>
                          <a:spcPts val="800"/>
                        </a:spcAft>
                      </a:pPr>
                      <a:r>
                        <a:rPr lang="en-US" sz="900" kern="0">
                          <a:effectLst/>
                        </a:rPr>
                        <a:t>john.doe@univ.com</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8836" marR="8836" marT="8836" marB="8836" anchor="ctr"/>
                </a:tc>
                <a:extLst>
                  <a:ext uri="{0D108BD9-81ED-4DB2-BD59-A6C34878D82A}">
                    <a16:rowId xmlns:a16="http://schemas.microsoft.com/office/drawing/2014/main" val="356582406"/>
                  </a:ext>
                </a:extLst>
              </a:tr>
              <a:tr h="381756">
                <a:tc>
                  <a:txBody>
                    <a:bodyPr/>
                    <a:lstStyle/>
                    <a:p>
                      <a:pPr marL="0" marR="0">
                        <a:lnSpc>
                          <a:spcPct val="107000"/>
                        </a:lnSpc>
                        <a:spcAft>
                          <a:spcPts val="800"/>
                        </a:spcAft>
                      </a:pPr>
                      <a:r>
                        <a:rPr lang="en-US" sz="900" kern="0">
                          <a:effectLst/>
                        </a:rPr>
                        <a:t>firstName</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8836" marR="8836" marT="8836" marB="8836" anchor="ctr"/>
                </a:tc>
                <a:tc>
                  <a:txBody>
                    <a:bodyPr/>
                    <a:lstStyle/>
                    <a:p>
                      <a:pPr marL="0" marR="0">
                        <a:lnSpc>
                          <a:spcPct val="107000"/>
                        </a:lnSpc>
                        <a:spcAft>
                          <a:spcPts val="800"/>
                        </a:spcAft>
                      </a:pPr>
                      <a:r>
                        <a:rPr lang="en-US" sz="900" kern="0">
                          <a:effectLst/>
                        </a:rPr>
                        <a:t>Employee's first name</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8836" marR="8836" marT="8836" marB="8836" anchor="ctr"/>
                </a:tc>
                <a:tc>
                  <a:txBody>
                    <a:bodyPr/>
                    <a:lstStyle/>
                    <a:p>
                      <a:pPr marL="0" marR="0">
                        <a:lnSpc>
                          <a:spcPct val="107000"/>
                        </a:lnSpc>
                        <a:spcAft>
                          <a:spcPts val="800"/>
                        </a:spcAft>
                      </a:pPr>
                      <a:r>
                        <a:rPr lang="en-US" sz="900" kern="0">
                          <a:effectLst/>
                        </a:rPr>
                        <a:t>VARCHAR(45)</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8836" marR="8836" marT="8836" marB="8836" anchor="ctr"/>
                </a:tc>
                <a:tc>
                  <a:txBody>
                    <a:bodyPr/>
                    <a:lstStyle/>
                    <a:p>
                      <a:pPr marL="0" marR="0">
                        <a:lnSpc>
                          <a:spcPct val="107000"/>
                        </a:lnSpc>
                        <a:spcAft>
                          <a:spcPts val="800"/>
                        </a:spcAft>
                      </a:pPr>
                      <a:r>
                        <a:rPr lang="en-US" sz="900" kern="0">
                          <a:effectLst/>
                        </a:rPr>
                        <a:t>Xxxxxxxxxxx</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8836" marR="8836" marT="8836" marB="8836" anchor="ctr"/>
                </a:tc>
                <a:tc>
                  <a:txBody>
                    <a:bodyPr/>
                    <a:lstStyle/>
                    <a:p>
                      <a:pPr marL="0" marR="0">
                        <a:lnSpc>
                          <a:spcPct val="107000"/>
                        </a:lnSpc>
                        <a:spcAft>
                          <a:spcPts val="800"/>
                        </a:spcAft>
                      </a:pPr>
                      <a:r>
                        <a:rPr lang="en-US" sz="900" kern="0">
                          <a:effectLst/>
                        </a:rPr>
                        <a:t>N/A</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8836" marR="8836" marT="8836" marB="8836" anchor="ctr"/>
                </a:tc>
                <a:tc>
                  <a:txBody>
                    <a:bodyPr/>
                    <a:lstStyle/>
                    <a:p>
                      <a:pPr marL="0" marR="0">
                        <a:lnSpc>
                          <a:spcPct val="107000"/>
                        </a:lnSpc>
                        <a:spcAft>
                          <a:spcPts val="800"/>
                        </a:spcAft>
                      </a:pPr>
                      <a:r>
                        <a:rPr lang="en-US" sz="900" kern="0">
                          <a:effectLst/>
                        </a:rPr>
                        <a:t>Y</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8836" marR="8836" marT="8836" marB="8836" anchor="ctr"/>
                </a:tc>
                <a:tc>
                  <a:txBody>
                    <a:bodyPr/>
                    <a:lstStyle/>
                    <a:p>
                      <a:pPr marL="0" marR="0">
                        <a:lnSpc>
                          <a:spcPct val="107000"/>
                        </a:lnSpc>
                        <a:spcAft>
                          <a:spcPts val="800"/>
                        </a:spcAft>
                      </a:pPr>
                      <a:r>
                        <a:rPr lang="en-US" sz="900" kern="0">
                          <a:effectLst/>
                        </a:rPr>
                        <a:t>N/A</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8836" marR="8836" marT="8836" marB="8836" anchor="ctr"/>
                </a:tc>
                <a:tc>
                  <a:txBody>
                    <a:bodyPr/>
                    <a:lstStyle/>
                    <a:p>
                      <a:pPr marL="0" marR="0">
                        <a:lnSpc>
                          <a:spcPct val="107000"/>
                        </a:lnSpc>
                        <a:spcAft>
                          <a:spcPts val="800"/>
                        </a:spcAft>
                      </a:pPr>
                      <a:r>
                        <a:rPr lang="en-US" sz="900" kern="0">
                          <a:effectLst/>
                        </a:rPr>
                        <a:t>N/A</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8836" marR="8836" marT="8836" marB="8836" anchor="ctr"/>
                </a:tc>
                <a:tc>
                  <a:txBody>
                    <a:bodyPr/>
                    <a:lstStyle/>
                    <a:p>
                      <a:pPr marL="0" marR="0">
                        <a:lnSpc>
                          <a:spcPct val="107000"/>
                        </a:lnSpc>
                        <a:spcAft>
                          <a:spcPts val="800"/>
                        </a:spcAft>
                      </a:pPr>
                      <a:r>
                        <a:rPr lang="en-US" sz="900" kern="0">
                          <a:effectLst/>
                        </a:rPr>
                        <a:t>John</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8836" marR="8836" marT="8836" marB="8836" anchor="ctr"/>
                </a:tc>
                <a:extLst>
                  <a:ext uri="{0D108BD9-81ED-4DB2-BD59-A6C34878D82A}">
                    <a16:rowId xmlns:a16="http://schemas.microsoft.com/office/drawing/2014/main" val="4016845467"/>
                  </a:ext>
                </a:extLst>
              </a:tr>
              <a:tr h="381756">
                <a:tc>
                  <a:txBody>
                    <a:bodyPr/>
                    <a:lstStyle/>
                    <a:p>
                      <a:pPr marL="0" marR="0">
                        <a:lnSpc>
                          <a:spcPct val="107000"/>
                        </a:lnSpc>
                        <a:spcAft>
                          <a:spcPts val="800"/>
                        </a:spcAft>
                      </a:pPr>
                      <a:r>
                        <a:rPr lang="en-US" sz="900" kern="0">
                          <a:effectLst/>
                        </a:rPr>
                        <a:t>middleName</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8836" marR="8836" marT="8836" marB="8836" anchor="ctr"/>
                </a:tc>
                <a:tc>
                  <a:txBody>
                    <a:bodyPr/>
                    <a:lstStyle/>
                    <a:p>
                      <a:pPr marL="0" marR="0">
                        <a:lnSpc>
                          <a:spcPct val="107000"/>
                        </a:lnSpc>
                        <a:spcAft>
                          <a:spcPts val="800"/>
                        </a:spcAft>
                      </a:pPr>
                      <a:r>
                        <a:rPr lang="en-US" sz="900" kern="0">
                          <a:effectLst/>
                        </a:rPr>
                        <a:t>Employee's middle name</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8836" marR="8836" marT="8836" marB="8836" anchor="ctr"/>
                </a:tc>
                <a:tc>
                  <a:txBody>
                    <a:bodyPr/>
                    <a:lstStyle/>
                    <a:p>
                      <a:pPr marL="0" marR="0">
                        <a:lnSpc>
                          <a:spcPct val="107000"/>
                        </a:lnSpc>
                        <a:spcAft>
                          <a:spcPts val="800"/>
                        </a:spcAft>
                      </a:pPr>
                      <a:r>
                        <a:rPr lang="en-US" sz="900" kern="0">
                          <a:effectLst/>
                        </a:rPr>
                        <a:t>VARCHAR(45)</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8836" marR="8836" marT="8836" marB="8836" anchor="ctr"/>
                </a:tc>
                <a:tc>
                  <a:txBody>
                    <a:bodyPr/>
                    <a:lstStyle/>
                    <a:p>
                      <a:pPr marL="0" marR="0">
                        <a:lnSpc>
                          <a:spcPct val="107000"/>
                        </a:lnSpc>
                        <a:spcAft>
                          <a:spcPts val="800"/>
                        </a:spcAft>
                      </a:pPr>
                      <a:r>
                        <a:rPr lang="en-US" sz="900" kern="0">
                          <a:effectLst/>
                        </a:rPr>
                        <a:t>Xxxxxxxxxxx</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8836" marR="8836" marT="8836" marB="8836" anchor="ctr"/>
                </a:tc>
                <a:tc>
                  <a:txBody>
                    <a:bodyPr/>
                    <a:lstStyle/>
                    <a:p>
                      <a:pPr marL="0" marR="0">
                        <a:lnSpc>
                          <a:spcPct val="107000"/>
                        </a:lnSpc>
                        <a:spcAft>
                          <a:spcPts val="800"/>
                        </a:spcAft>
                      </a:pPr>
                      <a:r>
                        <a:rPr lang="en-US" sz="900" kern="0">
                          <a:effectLst/>
                        </a:rPr>
                        <a:t>N/A</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8836" marR="8836" marT="8836" marB="8836" anchor="ctr"/>
                </a:tc>
                <a:tc>
                  <a:txBody>
                    <a:bodyPr/>
                    <a:lstStyle/>
                    <a:p>
                      <a:pPr marL="0" marR="0">
                        <a:lnSpc>
                          <a:spcPct val="107000"/>
                        </a:lnSpc>
                        <a:spcAft>
                          <a:spcPts val="800"/>
                        </a:spcAft>
                      </a:pPr>
                      <a:r>
                        <a:rPr lang="en-US" sz="900" kern="0">
                          <a:effectLst/>
                        </a:rPr>
                        <a:t>N</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8836" marR="8836" marT="8836" marB="8836" anchor="ctr"/>
                </a:tc>
                <a:tc>
                  <a:txBody>
                    <a:bodyPr/>
                    <a:lstStyle/>
                    <a:p>
                      <a:pPr marL="0" marR="0">
                        <a:lnSpc>
                          <a:spcPct val="107000"/>
                        </a:lnSpc>
                        <a:spcAft>
                          <a:spcPts val="800"/>
                        </a:spcAft>
                      </a:pPr>
                      <a:r>
                        <a:rPr lang="en-US" sz="900" kern="0">
                          <a:effectLst/>
                        </a:rPr>
                        <a:t>N/A</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8836" marR="8836" marT="8836" marB="8836" anchor="ctr"/>
                </a:tc>
                <a:tc>
                  <a:txBody>
                    <a:bodyPr/>
                    <a:lstStyle/>
                    <a:p>
                      <a:pPr marL="0" marR="0">
                        <a:lnSpc>
                          <a:spcPct val="107000"/>
                        </a:lnSpc>
                        <a:spcAft>
                          <a:spcPts val="800"/>
                        </a:spcAft>
                      </a:pPr>
                      <a:r>
                        <a:rPr lang="en-US" sz="900" kern="0">
                          <a:effectLst/>
                        </a:rPr>
                        <a:t>N/A</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8836" marR="8836" marT="8836" marB="8836" anchor="ctr"/>
                </a:tc>
                <a:tc>
                  <a:txBody>
                    <a:bodyPr/>
                    <a:lstStyle/>
                    <a:p>
                      <a:pPr marL="0" marR="0">
                        <a:lnSpc>
                          <a:spcPct val="107000"/>
                        </a:lnSpc>
                        <a:spcAft>
                          <a:spcPts val="800"/>
                        </a:spcAft>
                      </a:pPr>
                      <a:r>
                        <a:rPr lang="en-US" sz="900" kern="0">
                          <a:effectLst/>
                        </a:rPr>
                        <a:t>David</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8836" marR="8836" marT="8836" marB="8836" anchor="ctr"/>
                </a:tc>
                <a:extLst>
                  <a:ext uri="{0D108BD9-81ED-4DB2-BD59-A6C34878D82A}">
                    <a16:rowId xmlns:a16="http://schemas.microsoft.com/office/drawing/2014/main" val="915903179"/>
                  </a:ext>
                </a:extLst>
              </a:tr>
              <a:tr h="381756">
                <a:tc>
                  <a:txBody>
                    <a:bodyPr/>
                    <a:lstStyle/>
                    <a:p>
                      <a:pPr marL="0" marR="0">
                        <a:lnSpc>
                          <a:spcPct val="107000"/>
                        </a:lnSpc>
                        <a:spcAft>
                          <a:spcPts val="800"/>
                        </a:spcAft>
                      </a:pPr>
                      <a:r>
                        <a:rPr lang="en-US" sz="900" kern="0">
                          <a:effectLst/>
                        </a:rPr>
                        <a:t>lastName</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8836" marR="8836" marT="8836" marB="8836" anchor="ctr"/>
                </a:tc>
                <a:tc>
                  <a:txBody>
                    <a:bodyPr/>
                    <a:lstStyle/>
                    <a:p>
                      <a:pPr marL="0" marR="0">
                        <a:lnSpc>
                          <a:spcPct val="107000"/>
                        </a:lnSpc>
                        <a:spcAft>
                          <a:spcPts val="800"/>
                        </a:spcAft>
                      </a:pPr>
                      <a:r>
                        <a:rPr lang="en-US" sz="900" kern="0">
                          <a:effectLst/>
                        </a:rPr>
                        <a:t>Employee's last name</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8836" marR="8836" marT="8836" marB="8836" anchor="ctr"/>
                </a:tc>
                <a:tc>
                  <a:txBody>
                    <a:bodyPr/>
                    <a:lstStyle/>
                    <a:p>
                      <a:pPr marL="0" marR="0">
                        <a:lnSpc>
                          <a:spcPct val="107000"/>
                        </a:lnSpc>
                        <a:spcAft>
                          <a:spcPts val="800"/>
                        </a:spcAft>
                      </a:pPr>
                      <a:r>
                        <a:rPr lang="en-US" sz="900" kern="0">
                          <a:effectLst/>
                        </a:rPr>
                        <a:t>VARCHAR(45)</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8836" marR="8836" marT="8836" marB="8836" anchor="ctr"/>
                </a:tc>
                <a:tc>
                  <a:txBody>
                    <a:bodyPr/>
                    <a:lstStyle/>
                    <a:p>
                      <a:pPr marL="0" marR="0">
                        <a:lnSpc>
                          <a:spcPct val="107000"/>
                        </a:lnSpc>
                        <a:spcAft>
                          <a:spcPts val="800"/>
                        </a:spcAft>
                      </a:pPr>
                      <a:r>
                        <a:rPr lang="en-US" sz="900" kern="0">
                          <a:effectLst/>
                        </a:rPr>
                        <a:t>Xxxxxxxxxxx</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8836" marR="8836" marT="8836" marB="8836" anchor="ctr"/>
                </a:tc>
                <a:tc>
                  <a:txBody>
                    <a:bodyPr/>
                    <a:lstStyle/>
                    <a:p>
                      <a:pPr marL="0" marR="0">
                        <a:lnSpc>
                          <a:spcPct val="107000"/>
                        </a:lnSpc>
                        <a:spcAft>
                          <a:spcPts val="800"/>
                        </a:spcAft>
                      </a:pPr>
                      <a:r>
                        <a:rPr lang="en-US" sz="900" kern="0">
                          <a:effectLst/>
                        </a:rPr>
                        <a:t>N/A</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8836" marR="8836" marT="8836" marB="8836" anchor="ctr"/>
                </a:tc>
                <a:tc>
                  <a:txBody>
                    <a:bodyPr/>
                    <a:lstStyle/>
                    <a:p>
                      <a:pPr marL="0" marR="0">
                        <a:lnSpc>
                          <a:spcPct val="107000"/>
                        </a:lnSpc>
                        <a:spcAft>
                          <a:spcPts val="800"/>
                        </a:spcAft>
                      </a:pPr>
                      <a:r>
                        <a:rPr lang="en-US" sz="900" kern="0">
                          <a:effectLst/>
                        </a:rPr>
                        <a:t>Y</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8836" marR="8836" marT="8836" marB="8836" anchor="ctr"/>
                </a:tc>
                <a:tc>
                  <a:txBody>
                    <a:bodyPr/>
                    <a:lstStyle/>
                    <a:p>
                      <a:pPr marL="0" marR="0">
                        <a:lnSpc>
                          <a:spcPct val="107000"/>
                        </a:lnSpc>
                        <a:spcAft>
                          <a:spcPts val="800"/>
                        </a:spcAft>
                      </a:pPr>
                      <a:r>
                        <a:rPr lang="en-US" sz="900" kern="0">
                          <a:effectLst/>
                        </a:rPr>
                        <a:t>N/A</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8836" marR="8836" marT="8836" marB="8836" anchor="ctr"/>
                </a:tc>
                <a:tc>
                  <a:txBody>
                    <a:bodyPr/>
                    <a:lstStyle/>
                    <a:p>
                      <a:pPr marL="0" marR="0">
                        <a:lnSpc>
                          <a:spcPct val="107000"/>
                        </a:lnSpc>
                        <a:spcAft>
                          <a:spcPts val="800"/>
                        </a:spcAft>
                      </a:pPr>
                      <a:r>
                        <a:rPr lang="en-US" sz="900" kern="0">
                          <a:effectLst/>
                        </a:rPr>
                        <a:t>N/A</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8836" marR="8836" marT="8836" marB="8836" anchor="ctr"/>
                </a:tc>
                <a:tc>
                  <a:txBody>
                    <a:bodyPr/>
                    <a:lstStyle/>
                    <a:p>
                      <a:pPr marL="0" marR="0">
                        <a:lnSpc>
                          <a:spcPct val="107000"/>
                        </a:lnSpc>
                        <a:spcAft>
                          <a:spcPts val="800"/>
                        </a:spcAft>
                      </a:pPr>
                      <a:r>
                        <a:rPr lang="en-US" sz="900" kern="0">
                          <a:effectLst/>
                        </a:rPr>
                        <a:t>Doe</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8836" marR="8836" marT="8836" marB="8836" anchor="ctr"/>
                </a:tc>
                <a:extLst>
                  <a:ext uri="{0D108BD9-81ED-4DB2-BD59-A6C34878D82A}">
                    <a16:rowId xmlns:a16="http://schemas.microsoft.com/office/drawing/2014/main" val="3437257514"/>
                  </a:ext>
                </a:extLst>
              </a:tr>
              <a:tr h="381756">
                <a:tc>
                  <a:txBody>
                    <a:bodyPr/>
                    <a:lstStyle/>
                    <a:p>
                      <a:pPr marL="0" marR="0">
                        <a:lnSpc>
                          <a:spcPct val="107000"/>
                        </a:lnSpc>
                        <a:spcAft>
                          <a:spcPts val="800"/>
                        </a:spcAft>
                      </a:pPr>
                      <a:r>
                        <a:rPr lang="en-US" sz="900" kern="0">
                          <a:effectLst/>
                        </a:rPr>
                        <a:t>phoneNum</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8836" marR="8836" marT="8836" marB="8836" anchor="ctr"/>
                </a:tc>
                <a:tc>
                  <a:txBody>
                    <a:bodyPr/>
                    <a:lstStyle/>
                    <a:p>
                      <a:pPr marL="0" marR="0">
                        <a:lnSpc>
                          <a:spcPct val="107000"/>
                        </a:lnSpc>
                        <a:spcAft>
                          <a:spcPts val="800"/>
                        </a:spcAft>
                      </a:pPr>
                      <a:r>
                        <a:rPr lang="en-US" sz="900" kern="0" dirty="0">
                          <a:effectLst/>
                        </a:rPr>
                        <a:t>Employee's phone number</a:t>
                      </a:r>
                      <a:endParaRPr lang="en-US" sz="1100" kern="100" dirty="0">
                        <a:effectLst/>
                        <a:latin typeface="Aptos" panose="020B0004020202020204" pitchFamily="34" charset="0"/>
                        <a:ea typeface="Aptos" panose="020B0004020202020204" pitchFamily="34" charset="0"/>
                        <a:cs typeface="Gautami" panose="020B0502040204020203" pitchFamily="34" charset="0"/>
                      </a:endParaRPr>
                    </a:p>
                  </a:txBody>
                  <a:tcPr marL="8836" marR="8836" marT="8836" marB="8836" anchor="ctr"/>
                </a:tc>
                <a:tc>
                  <a:txBody>
                    <a:bodyPr/>
                    <a:lstStyle/>
                    <a:p>
                      <a:pPr marL="0" marR="0">
                        <a:lnSpc>
                          <a:spcPct val="107000"/>
                        </a:lnSpc>
                        <a:spcAft>
                          <a:spcPts val="800"/>
                        </a:spcAft>
                      </a:pPr>
                      <a:r>
                        <a:rPr lang="en-US" sz="900" kern="0">
                          <a:effectLst/>
                        </a:rPr>
                        <a:t>VARCHAR(15)</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8836" marR="8836" marT="8836" marB="8836" anchor="ctr"/>
                </a:tc>
                <a:tc>
                  <a:txBody>
                    <a:bodyPr/>
                    <a:lstStyle/>
                    <a:p>
                      <a:pPr marL="0" marR="0">
                        <a:lnSpc>
                          <a:spcPct val="107000"/>
                        </a:lnSpc>
                        <a:spcAft>
                          <a:spcPts val="800"/>
                        </a:spcAft>
                      </a:pPr>
                      <a:r>
                        <a:rPr lang="en-US" sz="900" kern="0">
                          <a:effectLst/>
                        </a:rPr>
                        <a:t>Xxxxxxxxxx</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8836" marR="8836" marT="8836" marB="8836" anchor="ctr"/>
                </a:tc>
                <a:tc>
                  <a:txBody>
                    <a:bodyPr/>
                    <a:lstStyle/>
                    <a:p>
                      <a:pPr marL="0" marR="0">
                        <a:lnSpc>
                          <a:spcPct val="107000"/>
                        </a:lnSpc>
                        <a:spcAft>
                          <a:spcPts val="800"/>
                        </a:spcAft>
                      </a:pPr>
                      <a:r>
                        <a:rPr lang="en-US" sz="900" kern="0">
                          <a:effectLst/>
                        </a:rPr>
                        <a:t>N/A</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8836" marR="8836" marT="8836" marB="8836" anchor="ctr"/>
                </a:tc>
                <a:tc>
                  <a:txBody>
                    <a:bodyPr/>
                    <a:lstStyle/>
                    <a:p>
                      <a:pPr marL="0" marR="0">
                        <a:lnSpc>
                          <a:spcPct val="107000"/>
                        </a:lnSpc>
                        <a:spcAft>
                          <a:spcPts val="800"/>
                        </a:spcAft>
                      </a:pPr>
                      <a:r>
                        <a:rPr lang="en-US" sz="900" kern="0">
                          <a:effectLst/>
                        </a:rPr>
                        <a:t>Y</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8836" marR="8836" marT="8836" marB="8836" anchor="ctr"/>
                </a:tc>
                <a:tc>
                  <a:txBody>
                    <a:bodyPr/>
                    <a:lstStyle/>
                    <a:p>
                      <a:pPr marL="0" marR="0">
                        <a:lnSpc>
                          <a:spcPct val="107000"/>
                        </a:lnSpc>
                        <a:spcAft>
                          <a:spcPts val="800"/>
                        </a:spcAft>
                      </a:pPr>
                      <a:r>
                        <a:rPr lang="en-US" sz="900" kern="0">
                          <a:effectLst/>
                        </a:rPr>
                        <a:t>N/A</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8836" marR="8836" marT="8836" marB="8836" anchor="ctr"/>
                </a:tc>
                <a:tc>
                  <a:txBody>
                    <a:bodyPr/>
                    <a:lstStyle/>
                    <a:p>
                      <a:pPr marL="0" marR="0">
                        <a:lnSpc>
                          <a:spcPct val="107000"/>
                        </a:lnSpc>
                        <a:spcAft>
                          <a:spcPts val="800"/>
                        </a:spcAft>
                      </a:pPr>
                      <a:r>
                        <a:rPr lang="en-US" sz="900" kern="0">
                          <a:effectLst/>
                        </a:rPr>
                        <a:t>N/A</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8836" marR="8836" marT="8836" marB="8836" anchor="ctr"/>
                </a:tc>
                <a:tc>
                  <a:txBody>
                    <a:bodyPr/>
                    <a:lstStyle/>
                    <a:p>
                      <a:pPr marL="0" marR="0">
                        <a:lnSpc>
                          <a:spcPct val="107000"/>
                        </a:lnSpc>
                        <a:spcAft>
                          <a:spcPts val="800"/>
                        </a:spcAft>
                      </a:pPr>
                      <a:r>
                        <a:rPr lang="en-US" sz="900" kern="0">
                          <a:effectLst/>
                        </a:rPr>
                        <a:t>1234567890</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8836" marR="8836" marT="8836" marB="8836" anchor="ctr"/>
                </a:tc>
                <a:extLst>
                  <a:ext uri="{0D108BD9-81ED-4DB2-BD59-A6C34878D82A}">
                    <a16:rowId xmlns:a16="http://schemas.microsoft.com/office/drawing/2014/main" val="4116324679"/>
                  </a:ext>
                </a:extLst>
              </a:tr>
              <a:tr h="381756">
                <a:tc>
                  <a:txBody>
                    <a:bodyPr/>
                    <a:lstStyle/>
                    <a:p>
                      <a:pPr marL="0" marR="0">
                        <a:lnSpc>
                          <a:spcPct val="107000"/>
                        </a:lnSpc>
                        <a:spcAft>
                          <a:spcPts val="800"/>
                        </a:spcAft>
                      </a:pPr>
                      <a:r>
                        <a:rPr lang="en-US" sz="900" kern="0">
                          <a:effectLst/>
                        </a:rPr>
                        <a:t>aptNum</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8836" marR="8836" marT="8836" marB="8836" anchor="ctr"/>
                </a:tc>
                <a:tc>
                  <a:txBody>
                    <a:bodyPr/>
                    <a:lstStyle/>
                    <a:p>
                      <a:pPr marL="0" marR="0">
                        <a:lnSpc>
                          <a:spcPct val="107000"/>
                        </a:lnSpc>
                        <a:spcAft>
                          <a:spcPts val="800"/>
                        </a:spcAft>
                      </a:pPr>
                      <a:r>
                        <a:rPr lang="en-US" sz="900" kern="0">
                          <a:effectLst/>
                        </a:rPr>
                        <a:t>Employee's apartment number</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8836" marR="8836" marT="8836" marB="8836" anchor="ctr"/>
                </a:tc>
                <a:tc>
                  <a:txBody>
                    <a:bodyPr/>
                    <a:lstStyle/>
                    <a:p>
                      <a:pPr marL="0" marR="0">
                        <a:lnSpc>
                          <a:spcPct val="107000"/>
                        </a:lnSpc>
                        <a:spcAft>
                          <a:spcPts val="800"/>
                        </a:spcAft>
                      </a:pPr>
                      <a:r>
                        <a:rPr lang="en-US" sz="900" kern="0">
                          <a:effectLst/>
                        </a:rPr>
                        <a:t>VARCHAR(15)</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8836" marR="8836" marT="8836" marB="8836" anchor="ctr"/>
                </a:tc>
                <a:tc>
                  <a:txBody>
                    <a:bodyPr/>
                    <a:lstStyle/>
                    <a:p>
                      <a:pPr marL="0" marR="0">
                        <a:lnSpc>
                          <a:spcPct val="107000"/>
                        </a:lnSpc>
                        <a:spcAft>
                          <a:spcPts val="800"/>
                        </a:spcAft>
                      </a:pPr>
                      <a:r>
                        <a:rPr lang="en-US" sz="900" kern="0">
                          <a:effectLst/>
                        </a:rPr>
                        <a:t>Xxxxxxxxxxx</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8836" marR="8836" marT="8836" marB="8836" anchor="ctr"/>
                </a:tc>
                <a:tc>
                  <a:txBody>
                    <a:bodyPr/>
                    <a:lstStyle/>
                    <a:p>
                      <a:pPr marL="0" marR="0">
                        <a:lnSpc>
                          <a:spcPct val="107000"/>
                        </a:lnSpc>
                        <a:spcAft>
                          <a:spcPts val="800"/>
                        </a:spcAft>
                      </a:pPr>
                      <a:r>
                        <a:rPr lang="en-US" sz="900" kern="0">
                          <a:effectLst/>
                        </a:rPr>
                        <a:t>N/A</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8836" marR="8836" marT="8836" marB="8836" anchor="ctr"/>
                </a:tc>
                <a:tc>
                  <a:txBody>
                    <a:bodyPr/>
                    <a:lstStyle/>
                    <a:p>
                      <a:pPr marL="0" marR="0">
                        <a:lnSpc>
                          <a:spcPct val="107000"/>
                        </a:lnSpc>
                        <a:spcAft>
                          <a:spcPts val="800"/>
                        </a:spcAft>
                      </a:pPr>
                      <a:r>
                        <a:rPr lang="en-US" sz="900" kern="0">
                          <a:effectLst/>
                        </a:rPr>
                        <a:t>N</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8836" marR="8836" marT="8836" marB="8836" anchor="ctr"/>
                </a:tc>
                <a:tc>
                  <a:txBody>
                    <a:bodyPr/>
                    <a:lstStyle/>
                    <a:p>
                      <a:pPr marL="0" marR="0">
                        <a:lnSpc>
                          <a:spcPct val="107000"/>
                        </a:lnSpc>
                        <a:spcAft>
                          <a:spcPts val="800"/>
                        </a:spcAft>
                      </a:pPr>
                      <a:r>
                        <a:rPr lang="en-US" sz="900" kern="0">
                          <a:effectLst/>
                        </a:rPr>
                        <a:t>N/A</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8836" marR="8836" marT="8836" marB="8836" anchor="ctr"/>
                </a:tc>
                <a:tc>
                  <a:txBody>
                    <a:bodyPr/>
                    <a:lstStyle/>
                    <a:p>
                      <a:pPr marL="0" marR="0">
                        <a:lnSpc>
                          <a:spcPct val="107000"/>
                        </a:lnSpc>
                        <a:spcAft>
                          <a:spcPts val="800"/>
                        </a:spcAft>
                      </a:pPr>
                      <a:r>
                        <a:rPr lang="en-US" sz="900" kern="0">
                          <a:effectLst/>
                        </a:rPr>
                        <a:t>N/A</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8836" marR="8836" marT="8836" marB="8836" anchor="ctr"/>
                </a:tc>
                <a:tc>
                  <a:txBody>
                    <a:bodyPr/>
                    <a:lstStyle/>
                    <a:p>
                      <a:pPr marL="0" marR="0">
                        <a:lnSpc>
                          <a:spcPct val="107000"/>
                        </a:lnSpc>
                        <a:spcAft>
                          <a:spcPts val="800"/>
                        </a:spcAft>
                      </a:pPr>
                      <a:r>
                        <a:rPr lang="en-US" sz="900" kern="0">
                          <a:effectLst/>
                        </a:rPr>
                        <a:t>12B</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8836" marR="8836" marT="8836" marB="8836" anchor="ctr"/>
                </a:tc>
                <a:extLst>
                  <a:ext uri="{0D108BD9-81ED-4DB2-BD59-A6C34878D82A}">
                    <a16:rowId xmlns:a16="http://schemas.microsoft.com/office/drawing/2014/main" val="737880316"/>
                  </a:ext>
                </a:extLst>
              </a:tr>
              <a:tr h="381756">
                <a:tc>
                  <a:txBody>
                    <a:bodyPr/>
                    <a:lstStyle/>
                    <a:p>
                      <a:pPr marL="0" marR="0">
                        <a:lnSpc>
                          <a:spcPct val="107000"/>
                        </a:lnSpc>
                        <a:spcAft>
                          <a:spcPts val="800"/>
                        </a:spcAft>
                      </a:pPr>
                      <a:r>
                        <a:rPr lang="en-US" sz="900" kern="0">
                          <a:effectLst/>
                        </a:rPr>
                        <a:t>streetName</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8836" marR="8836" marT="8836" marB="8836" anchor="ctr"/>
                </a:tc>
                <a:tc>
                  <a:txBody>
                    <a:bodyPr/>
                    <a:lstStyle/>
                    <a:p>
                      <a:pPr marL="0" marR="0">
                        <a:lnSpc>
                          <a:spcPct val="107000"/>
                        </a:lnSpc>
                        <a:spcAft>
                          <a:spcPts val="800"/>
                        </a:spcAft>
                      </a:pPr>
                      <a:r>
                        <a:rPr lang="en-US" sz="900" kern="0">
                          <a:effectLst/>
                        </a:rPr>
                        <a:t>Employee's street name</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8836" marR="8836" marT="8836" marB="8836" anchor="ctr"/>
                </a:tc>
                <a:tc>
                  <a:txBody>
                    <a:bodyPr/>
                    <a:lstStyle/>
                    <a:p>
                      <a:pPr marL="0" marR="0">
                        <a:lnSpc>
                          <a:spcPct val="107000"/>
                        </a:lnSpc>
                        <a:spcAft>
                          <a:spcPts val="800"/>
                        </a:spcAft>
                      </a:pPr>
                      <a:r>
                        <a:rPr lang="en-US" sz="900" kern="0">
                          <a:effectLst/>
                        </a:rPr>
                        <a:t>VARCHAR(45)</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8836" marR="8836" marT="8836" marB="8836" anchor="ctr"/>
                </a:tc>
                <a:tc>
                  <a:txBody>
                    <a:bodyPr/>
                    <a:lstStyle/>
                    <a:p>
                      <a:pPr marL="0" marR="0">
                        <a:lnSpc>
                          <a:spcPct val="107000"/>
                        </a:lnSpc>
                        <a:spcAft>
                          <a:spcPts val="800"/>
                        </a:spcAft>
                      </a:pPr>
                      <a:r>
                        <a:rPr lang="en-US" sz="900" kern="0">
                          <a:effectLst/>
                        </a:rPr>
                        <a:t>Xxxxxxxxxxx</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8836" marR="8836" marT="8836" marB="8836" anchor="ctr"/>
                </a:tc>
                <a:tc>
                  <a:txBody>
                    <a:bodyPr/>
                    <a:lstStyle/>
                    <a:p>
                      <a:pPr marL="0" marR="0">
                        <a:lnSpc>
                          <a:spcPct val="107000"/>
                        </a:lnSpc>
                        <a:spcAft>
                          <a:spcPts val="800"/>
                        </a:spcAft>
                      </a:pPr>
                      <a:r>
                        <a:rPr lang="en-US" sz="900" kern="0">
                          <a:effectLst/>
                        </a:rPr>
                        <a:t>N/A</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8836" marR="8836" marT="8836" marB="8836" anchor="ctr"/>
                </a:tc>
                <a:tc>
                  <a:txBody>
                    <a:bodyPr/>
                    <a:lstStyle/>
                    <a:p>
                      <a:pPr marL="0" marR="0">
                        <a:lnSpc>
                          <a:spcPct val="107000"/>
                        </a:lnSpc>
                        <a:spcAft>
                          <a:spcPts val="800"/>
                        </a:spcAft>
                      </a:pPr>
                      <a:r>
                        <a:rPr lang="en-US" sz="900" kern="0">
                          <a:effectLst/>
                        </a:rPr>
                        <a:t>Y</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8836" marR="8836" marT="8836" marB="8836" anchor="ctr"/>
                </a:tc>
                <a:tc>
                  <a:txBody>
                    <a:bodyPr/>
                    <a:lstStyle/>
                    <a:p>
                      <a:pPr marL="0" marR="0">
                        <a:lnSpc>
                          <a:spcPct val="107000"/>
                        </a:lnSpc>
                        <a:spcAft>
                          <a:spcPts val="800"/>
                        </a:spcAft>
                      </a:pPr>
                      <a:r>
                        <a:rPr lang="en-US" sz="900" kern="0">
                          <a:effectLst/>
                        </a:rPr>
                        <a:t>N/A</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8836" marR="8836" marT="8836" marB="8836" anchor="ctr"/>
                </a:tc>
                <a:tc>
                  <a:txBody>
                    <a:bodyPr/>
                    <a:lstStyle/>
                    <a:p>
                      <a:pPr marL="0" marR="0">
                        <a:lnSpc>
                          <a:spcPct val="107000"/>
                        </a:lnSpc>
                        <a:spcAft>
                          <a:spcPts val="800"/>
                        </a:spcAft>
                      </a:pPr>
                      <a:r>
                        <a:rPr lang="en-US" sz="900" kern="0">
                          <a:effectLst/>
                        </a:rPr>
                        <a:t>N/A</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8836" marR="8836" marT="8836" marB="8836" anchor="ctr"/>
                </a:tc>
                <a:tc>
                  <a:txBody>
                    <a:bodyPr/>
                    <a:lstStyle/>
                    <a:p>
                      <a:pPr marL="0" marR="0">
                        <a:lnSpc>
                          <a:spcPct val="107000"/>
                        </a:lnSpc>
                        <a:spcAft>
                          <a:spcPts val="800"/>
                        </a:spcAft>
                      </a:pPr>
                      <a:r>
                        <a:rPr lang="en-US" sz="900" kern="0">
                          <a:effectLst/>
                        </a:rPr>
                        <a:t>Main Street</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8836" marR="8836" marT="8836" marB="8836" anchor="ctr"/>
                </a:tc>
                <a:extLst>
                  <a:ext uri="{0D108BD9-81ED-4DB2-BD59-A6C34878D82A}">
                    <a16:rowId xmlns:a16="http://schemas.microsoft.com/office/drawing/2014/main" val="716457966"/>
                  </a:ext>
                </a:extLst>
              </a:tr>
              <a:tr h="381756">
                <a:tc>
                  <a:txBody>
                    <a:bodyPr/>
                    <a:lstStyle/>
                    <a:p>
                      <a:pPr marL="0" marR="0">
                        <a:lnSpc>
                          <a:spcPct val="107000"/>
                        </a:lnSpc>
                        <a:spcAft>
                          <a:spcPts val="800"/>
                        </a:spcAft>
                      </a:pPr>
                      <a:r>
                        <a:rPr lang="en-US" sz="900" kern="0">
                          <a:effectLst/>
                        </a:rPr>
                        <a:t>city</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8836" marR="8836" marT="8836" marB="8836" anchor="ctr"/>
                </a:tc>
                <a:tc>
                  <a:txBody>
                    <a:bodyPr/>
                    <a:lstStyle/>
                    <a:p>
                      <a:pPr marL="0" marR="0">
                        <a:lnSpc>
                          <a:spcPct val="107000"/>
                        </a:lnSpc>
                        <a:spcAft>
                          <a:spcPts val="800"/>
                        </a:spcAft>
                      </a:pPr>
                      <a:r>
                        <a:rPr lang="en-US" sz="900" kern="0">
                          <a:effectLst/>
                        </a:rPr>
                        <a:t>Employee's city</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8836" marR="8836" marT="8836" marB="8836" anchor="ctr"/>
                </a:tc>
                <a:tc>
                  <a:txBody>
                    <a:bodyPr/>
                    <a:lstStyle/>
                    <a:p>
                      <a:pPr marL="0" marR="0">
                        <a:lnSpc>
                          <a:spcPct val="107000"/>
                        </a:lnSpc>
                        <a:spcAft>
                          <a:spcPts val="800"/>
                        </a:spcAft>
                      </a:pPr>
                      <a:r>
                        <a:rPr lang="en-US" sz="900" kern="0">
                          <a:effectLst/>
                        </a:rPr>
                        <a:t>VARCHAR(30)</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8836" marR="8836" marT="8836" marB="8836" anchor="ctr"/>
                </a:tc>
                <a:tc>
                  <a:txBody>
                    <a:bodyPr/>
                    <a:lstStyle/>
                    <a:p>
                      <a:pPr marL="0" marR="0">
                        <a:lnSpc>
                          <a:spcPct val="107000"/>
                        </a:lnSpc>
                        <a:spcAft>
                          <a:spcPts val="800"/>
                        </a:spcAft>
                      </a:pPr>
                      <a:r>
                        <a:rPr lang="en-US" sz="900" kern="0">
                          <a:effectLst/>
                        </a:rPr>
                        <a:t>Xxxxxxxxxxx</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8836" marR="8836" marT="8836" marB="8836" anchor="ctr"/>
                </a:tc>
                <a:tc>
                  <a:txBody>
                    <a:bodyPr/>
                    <a:lstStyle/>
                    <a:p>
                      <a:pPr marL="0" marR="0">
                        <a:lnSpc>
                          <a:spcPct val="107000"/>
                        </a:lnSpc>
                        <a:spcAft>
                          <a:spcPts val="800"/>
                        </a:spcAft>
                      </a:pPr>
                      <a:r>
                        <a:rPr lang="en-US" sz="900" kern="0">
                          <a:effectLst/>
                        </a:rPr>
                        <a:t>N/A</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8836" marR="8836" marT="8836" marB="8836" anchor="ctr"/>
                </a:tc>
                <a:tc>
                  <a:txBody>
                    <a:bodyPr/>
                    <a:lstStyle/>
                    <a:p>
                      <a:pPr marL="0" marR="0">
                        <a:lnSpc>
                          <a:spcPct val="107000"/>
                        </a:lnSpc>
                        <a:spcAft>
                          <a:spcPts val="800"/>
                        </a:spcAft>
                      </a:pPr>
                      <a:r>
                        <a:rPr lang="en-US" sz="900" kern="0">
                          <a:effectLst/>
                        </a:rPr>
                        <a:t>Y</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8836" marR="8836" marT="8836" marB="8836" anchor="ctr"/>
                </a:tc>
                <a:tc>
                  <a:txBody>
                    <a:bodyPr/>
                    <a:lstStyle/>
                    <a:p>
                      <a:pPr marL="0" marR="0">
                        <a:lnSpc>
                          <a:spcPct val="107000"/>
                        </a:lnSpc>
                        <a:spcAft>
                          <a:spcPts val="800"/>
                        </a:spcAft>
                      </a:pPr>
                      <a:r>
                        <a:rPr lang="en-US" sz="900" kern="0">
                          <a:effectLst/>
                        </a:rPr>
                        <a:t>N/A</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8836" marR="8836" marT="8836" marB="8836" anchor="ctr"/>
                </a:tc>
                <a:tc>
                  <a:txBody>
                    <a:bodyPr/>
                    <a:lstStyle/>
                    <a:p>
                      <a:pPr marL="0" marR="0">
                        <a:lnSpc>
                          <a:spcPct val="107000"/>
                        </a:lnSpc>
                        <a:spcAft>
                          <a:spcPts val="800"/>
                        </a:spcAft>
                      </a:pPr>
                      <a:r>
                        <a:rPr lang="en-US" sz="900" kern="0">
                          <a:effectLst/>
                        </a:rPr>
                        <a:t>N/A</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8836" marR="8836" marT="8836" marB="8836" anchor="ctr"/>
                </a:tc>
                <a:tc>
                  <a:txBody>
                    <a:bodyPr/>
                    <a:lstStyle/>
                    <a:p>
                      <a:pPr marL="0" marR="0">
                        <a:lnSpc>
                          <a:spcPct val="107000"/>
                        </a:lnSpc>
                        <a:spcAft>
                          <a:spcPts val="800"/>
                        </a:spcAft>
                      </a:pPr>
                      <a:r>
                        <a:rPr lang="en-US" sz="900" kern="0">
                          <a:effectLst/>
                        </a:rPr>
                        <a:t>CityA</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8836" marR="8836" marT="8836" marB="8836" anchor="ctr"/>
                </a:tc>
                <a:extLst>
                  <a:ext uri="{0D108BD9-81ED-4DB2-BD59-A6C34878D82A}">
                    <a16:rowId xmlns:a16="http://schemas.microsoft.com/office/drawing/2014/main" val="1497319105"/>
                  </a:ext>
                </a:extLst>
              </a:tr>
              <a:tr h="381756">
                <a:tc>
                  <a:txBody>
                    <a:bodyPr/>
                    <a:lstStyle/>
                    <a:p>
                      <a:pPr marL="0" marR="0">
                        <a:lnSpc>
                          <a:spcPct val="107000"/>
                        </a:lnSpc>
                        <a:spcAft>
                          <a:spcPts val="800"/>
                        </a:spcAft>
                      </a:pPr>
                      <a:r>
                        <a:rPr lang="en-US" sz="900" kern="0">
                          <a:effectLst/>
                        </a:rPr>
                        <a:t>state</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8836" marR="8836" marT="8836" marB="8836" anchor="ctr"/>
                </a:tc>
                <a:tc>
                  <a:txBody>
                    <a:bodyPr/>
                    <a:lstStyle/>
                    <a:p>
                      <a:pPr marL="0" marR="0">
                        <a:lnSpc>
                          <a:spcPct val="107000"/>
                        </a:lnSpc>
                        <a:spcAft>
                          <a:spcPts val="800"/>
                        </a:spcAft>
                      </a:pPr>
                      <a:r>
                        <a:rPr lang="en-US" sz="900" kern="0">
                          <a:effectLst/>
                        </a:rPr>
                        <a:t>Employee's state</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8836" marR="8836" marT="8836" marB="8836" anchor="ctr"/>
                </a:tc>
                <a:tc>
                  <a:txBody>
                    <a:bodyPr/>
                    <a:lstStyle/>
                    <a:p>
                      <a:pPr marL="0" marR="0">
                        <a:lnSpc>
                          <a:spcPct val="107000"/>
                        </a:lnSpc>
                        <a:spcAft>
                          <a:spcPts val="800"/>
                        </a:spcAft>
                      </a:pPr>
                      <a:r>
                        <a:rPr lang="en-US" sz="900" kern="0">
                          <a:effectLst/>
                        </a:rPr>
                        <a:t>VARCHAR(30)</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8836" marR="8836" marT="8836" marB="8836" anchor="ctr"/>
                </a:tc>
                <a:tc>
                  <a:txBody>
                    <a:bodyPr/>
                    <a:lstStyle/>
                    <a:p>
                      <a:pPr marL="0" marR="0">
                        <a:lnSpc>
                          <a:spcPct val="107000"/>
                        </a:lnSpc>
                        <a:spcAft>
                          <a:spcPts val="800"/>
                        </a:spcAft>
                      </a:pPr>
                      <a:r>
                        <a:rPr lang="en-US" sz="900" kern="0">
                          <a:effectLst/>
                        </a:rPr>
                        <a:t>Xxxxxxxxxxx</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8836" marR="8836" marT="8836" marB="8836" anchor="ctr"/>
                </a:tc>
                <a:tc>
                  <a:txBody>
                    <a:bodyPr/>
                    <a:lstStyle/>
                    <a:p>
                      <a:pPr marL="0" marR="0">
                        <a:lnSpc>
                          <a:spcPct val="107000"/>
                        </a:lnSpc>
                        <a:spcAft>
                          <a:spcPts val="800"/>
                        </a:spcAft>
                      </a:pPr>
                      <a:r>
                        <a:rPr lang="en-US" sz="900" kern="0">
                          <a:effectLst/>
                        </a:rPr>
                        <a:t>N/A</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8836" marR="8836" marT="8836" marB="8836" anchor="ctr"/>
                </a:tc>
                <a:tc>
                  <a:txBody>
                    <a:bodyPr/>
                    <a:lstStyle/>
                    <a:p>
                      <a:pPr marL="0" marR="0">
                        <a:lnSpc>
                          <a:spcPct val="107000"/>
                        </a:lnSpc>
                        <a:spcAft>
                          <a:spcPts val="800"/>
                        </a:spcAft>
                      </a:pPr>
                      <a:r>
                        <a:rPr lang="en-US" sz="900" kern="0">
                          <a:effectLst/>
                        </a:rPr>
                        <a:t>Y</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8836" marR="8836" marT="8836" marB="8836" anchor="ctr"/>
                </a:tc>
                <a:tc>
                  <a:txBody>
                    <a:bodyPr/>
                    <a:lstStyle/>
                    <a:p>
                      <a:pPr marL="0" marR="0">
                        <a:lnSpc>
                          <a:spcPct val="107000"/>
                        </a:lnSpc>
                        <a:spcAft>
                          <a:spcPts val="800"/>
                        </a:spcAft>
                      </a:pPr>
                      <a:r>
                        <a:rPr lang="en-US" sz="900" kern="0">
                          <a:effectLst/>
                        </a:rPr>
                        <a:t>N/A</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8836" marR="8836" marT="8836" marB="8836" anchor="ctr"/>
                </a:tc>
                <a:tc>
                  <a:txBody>
                    <a:bodyPr/>
                    <a:lstStyle/>
                    <a:p>
                      <a:pPr marL="0" marR="0">
                        <a:lnSpc>
                          <a:spcPct val="107000"/>
                        </a:lnSpc>
                        <a:spcAft>
                          <a:spcPts val="800"/>
                        </a:spcAft>
                      </a:pPr>
                      <a:r>
                        <a:rPr lang="en-US" sz="900" kern="0">
                          <a:effectLst/>
                        </a:rPr>
                        <a:t>N/A</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8836" marR="8836" marT="8836" marB="8836" anchor="ctr"/>
                </a:tc>
                <a:tc>
                  <a:txBody>
                    <a:bodyPr/>
                    <a:lstStyle/>
                    <a:p>
                      <a:pPr marL="0" marR="0">
                        <a:lnSpc>
                          <a:spcPct val="107000"/>
                        </a:lnSpc>
                        <a:spcAft>
                          <a:spcPts val="800"/>
                        </a:spcAft>
                      </a:pPr>
                      <a:r>
                        <a:rPr lang="en-US" sz="900" kern="0">
                          <a:effectLst/>
                        </a:rPr>
                        <a:t>StateA</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8836" marR="8836" marT="8836" marB="8836" anchor="ctr"/>
                </a:tc>
                <a:extLst>
                  <a:ext uri="{0D108BD9-81ED-4DB2-BD59-A6C34878D82A}">
                    <a16:rowId xmlns:a16="http://schemas.microsoft.com/office/drawing/2014/main" val="2452699349"/>
                  </a:ext>
                </a:extLst>
              </a:tr>
              <a:tr h="381756">
                <a:tc>
                  <a:txBody>
                    <a:bodyPr/>
                    <a:lstStyle/>
                    <a:p>
                      <a:pPr marL="0" marR="0">
                        <a:lnSpc>
                          <a:spcPct val="107000"/>
                        </a:lnSpc>
                        <a:spcAft>
                          <a:spcPts val="800"/>
                        </a:spcAft>
                      </a:pPr>
                      <a:r>
                        <a:rPr lang="en-US" sz="900" kern="0">
                          <a:effectLst/>
                        </a:rPr>
                        <a:t>pincode</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8836" marR="8836" marT="8836" marB="8836" anchor="ctr"/>
                </a:tc>
                <a:tc>
                  <a:txBody>
                    <a:bodyPr/>
                    <a:lstStyle/>
                    <a:p>
                      <a:pPr marL="0" marR="0">
                        <a:lnSpc>
                          <a:spcPct val="107000"/>
                        </a:lnSpc>
                        <a:spcAft>
                          <a:spcPts val="800"/>
                        </a:spcAft>
                      </a:pPr>
                      <a:r>
                        <a:rPr lang="en-US" sz="900" kern="0">
                          <a:effectLst/>
                        </a:rPr>
                        <a:t>Postal code of employee's address</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8836" marR="8836" marT="8836" marB="8836" anchor="ctr"/>
                </a:tc>
                <a:tc>
                  <a:txBody>
                    <a:bodyPr/>
                    <a:lstStyle/>
                    <a:p>
                      <a:pPr marL="0" marR="0">
                        <a:lnSpc>
                          <a:spcPct val="107000"/>
                        </a:lnSpc>
                        <a:spcAft>
                          <a:spcPts val="800"/>
                        </a:spcAft>
                      </a:pPr>
                      <a:r>
                        <a:rPr lang="en-US" sz="900" kern="0" dirty="0">
                          <a:effectLst/>
                        </a:rPr>
                        <a:t>INT</a:t>
                      </a:r>
                      <a:endParaRPr lang="en-US" sz="1100" kern="100" dirty="0">
                        <a:effectLst/>
                        <a:latin typeface="Aptos" panose="020B0004020202020204" pitchFamily="34" charset="0"/>
                        <a:ea typeface="Aptos" panose="020B0004020202020204" pitchFamily="34" charset="0"/>
                        <a:cs typeface="Gautami" panose="020B0502040204020203" pitchFamily="34" charset="0"/>
                      </a:endParaRPr>
                    </a:p>
                  </a:txBody>
                  <a:tcPr marL="8836" marR="8836" marT="8836" marB="8836" anchor="ctr"/>
                </a:tc>
                <a:tc>
                  <a:txBody>
                    <a:bodyPr/>
                    <a:lstStyle/>
                    <a:p>
                      <a:pPr marL="0" marR="0">
                        <a:lnSpc>
                          <a:spcPct val="107000"/>
                        </a:lnSpc>
                        <a:spcAft>
                          <a:spcPts val="800"/>
                        </a:spcAft>
                      </a:pPr>
                      <a:r>
                        <a:rPr lang="en-US" sz="900" kern="0">
                          <a:effectLst/>
                        </a:rPr>
                        <a:t>Xxxxx</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8836" marR="8836" marT="8836" marB="8836" anchor="ctr"/>
                </a:tc>
                <a:tc>
                  <a:txBody>
                    <a:bodyPr/>
                    <a:lstStyle/>
                    <a:p>
                      <a:pPr marL="0" marR="0">
                        <a:lnSpc>
                          <a:spcPct val="107000"/>
                        </a:lnSpc>
                        <a:spcAft>
                          <a:spcPts val="800"/>
                        </a:spcAft>
                      </a:pPr>
                      <a:r>
                        <a:rPr lang="en-US" sz="900" kern="0">
                          <a:effectLst/>
                        </a:rPr>
                        <a:t>N/A</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8836" marR="8836" marT="8836" marB="8836" anchor="ctr"/>
                </a:tc>
                <a:tc>
                  <a:txBody>
                    <a:bodyPr/>
                    <a:lstStyle/>
                    <a:p>
                      <a:pPr marL="0" marR="0">
                        <a:lnSpc>
                          <a:spcPct val="107000"/>
                        </a:lnSpc>
                        <a:spcAft>
                          <a:spcPts val="800"/>
                        </a:spcAft>
                      </a:pPr>
                      <a:r>
                        <a:rPr lang="en-US" sz="900" kern="0">
                          <a:effectLst/>
                        </a:rPr>
                        <a:t>Y</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8836" marR="8836" marT="8836" marB="8836" anchor="ctr"/>
                </a:tc>
                <a:tc>
                  <a:txBody>
                    <a:bodyPr/>
                    <a:lstStyle/>
                    <a:p>
                      <a:pPr marL="0" marR="0">
                        <a:lnSpc>
                          <a:spcPct val="107000"/>
                        </a:lnSpc>
                        <a:spcAft>
                          <a:spcPts val="800"/>
                        </a:spcAft>
                      </a:pPr>
                      <a:r>
                        <a:rPr lang="en-US" sz="900" kern="0">
                          <a:effectLst/>
                        </a:rPr>
                        <a:t>N/A</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8836" marR="8836" marT="8836" marB="8836" anchor="ctr"/>
                </a:tc>
                <a:tc>
                  <a:txBody>
                    <a:bodyPr/>
                    <a:lstStyle/>
                    <a:p>
                      <a:pPr marL="0" marR="0">
                        <a:lnSpc>
                          <a:spcPct val="107000"/>
                        </a:lnSpc>
                        <a:spcAft>
                          <a:spcPts val="800"/>
                        </a:spcAft>
                      </a:pPr>
                      <a:r>
                        <a:rPr lang="en-US" sz="900" kern="0">
                          <a:effectLst/>
                        </a:rPr>
                        <a:t>N/A</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8836" marR="8836" marT="8836" marB="8836" anchor="ctr"/>
                </a:tc>
                <a:tc>
                  <a:txBody>
                    <a:bodyPr/>
                    <a:lstStyle/>
                    <a:p>
                      <a:pPr marL="0" marR="0">
                        <a:lnSpc>
                          <a:spcPct val="107000"/>
                        </a:lnSpc>
                        <a:spcAft>
                          <a:spcPts val="800"/>
                        </a:spcAft>
                      </a:pPr>
                      <a:r>
                        <a:rPr lang="en-US" sz="900" kern="0">
                          <a:effectLst/>
                        </a:rPr>
                        <a:t>54321</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8836" marR="8836" marT="8836" marB="8836" anchor="ctr"/>
                </a:tc>
                <a:extLst>
                  <a:ext uri="{0D108BD9-81ED-4DB2-BD59-A6C34878D82A}">
                    <a16:rowId xmlns:a16="http://schemas.microsoft.com/office/drawing/2014/main" val="1216081121"/>
                  </a:ext>
                </a:extLst>
              </a:tr>
              <a:tr h="381756">
                <a:tc>
                  <a:txBody>
                    <a:bodyPr/>
                    <a:lstStyle/>
                    <a:p>
                      <a:pPr marL="0" marR="0">
                        <a:lnSpc>
                          <a:spcPct val="107000"/>
                        </a:lnSpc>
                        <a:spcAft>
                          <a:spcPts val="800"/>
                        </a:spcAft>
                      </a:pPr>
                      <a:r>
                        <a:rPr lang="en-US" sz="900" kern="0">
                          <a:effectLst/>
                        </a:rPr>
                        <a:t>gender</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8836" marR="8836" marT="8836" marB="8836" anchor="ctr"/>
                </a:tc>
                <a:tc>
                  <a:txBody>
                    <a:bodyPr/>
                    <a:lstStyle/>
                    <a:p>
                      <a:pPr marL="0" marR="0">
                        <a:lnSpc>
                          <a:spcPct val="107000"/>
                        </a:lnSpc>
                        <a:spcAft>
                          <a:spcPts val="800"/>
                        </a:spcAft>
                      </a:pPr>
                      <a:r>
                        <a:rPr lang="en-US" sz="900" kern="0">
                          <a:effectLst/>
                        </a:rPr>
                        <a:t>Employee's gender</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8836" marR="8836" marT="8836" marB="8836" anchor="ctr"/>
                </a:tc>
                <a:tc>
                  <a:txBody>
                    <a:bodyPr/>
                    <a:lstStyle/>
                    <a:p>
                      <a:pPr marL="0" marR="0">
                        <a:lnSpc>
                          <a:spcPct val="107000"/>
                        </a:lnSpc>
                        <a:spcAft>
                          <a:spcPts val="800"/>
                        </a:spcAft>
                      </a:pPr>
                      <a:r>
                        <a:rPr lang="en-US" sz="900" kern="0">
                          <a:effectLst/>
                        </a:rPr>
                        <a:t>VARCHAR(10)</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8836" marR="8836" marT="8836" marB="8836" anchor="ctr"/>
                </a:tc>
                <a:tc>
                  <a:txBody>
                    <a:bodyPr/>
                    <a:lstStyle/>
                    <a:p>
                      <a:pPr marL="0" marR="0">
                        <a:lnSpc>
                          <a:spcPct val="107000"/>
                        </a:lnSpc>
                        <a:spcAft>
                          <a:spcPts val="800"/>
                        </a:spcAft>
                      </a:pPr>
                      <a:r>
                        <a:rPr lang="en-US" sz="900" kern="0">
                          <a:effectLst/>
                        </a:rPr>
                        <a:t>Xxxxxxxx</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8836" marR="8836" marT="8836" marB="8836" anchor="ctr"/>
                </a:tc>
                <a:tc>
                  <a:txBody>
                    <a:bodyPr/>
                    <a:lstStyle/>
                    <a:p>
                      <a:pPr marL="0" marR="0">
                        <a:lnSpc>
                          <a:spcPct val="107000"/>
                        </a:lnSpc>
                        <a:spcAft>
                          <a:spcPts val="800"/>
                        </a:spcAft>
                      </a:pPr>
                      <a:r>
                        <a:rPr lang="en-US" sz="900" kern="0">
                          <a:effectLst/>
                        </a:rPr>
                        <a:t>N/A</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8836" marR="8836" marT="8836" marB="8836" anchor="ctr"/>
                </a:tc>
                <a:tc>
                  <a:txBody>
                    <a:bodyPr/>
                    <a:lstStyle/>
                    <a:p>
                      <a:pPr marL="0" marR="0">
                        <a:lnSpc>
                          <a:spcPct val="107000"/>
                        </a:lnSpc>
                        <a:spcAft>
                          <a:spcPts val="800"/>
                        </a:spcAft>
                      </a:pPr>
                      <a:r>
                        <a:rPr lang="en-US" sz="900" kern="0">
                          <a:effectLst/>
                        </a:rPr>
                        <a:t>Y</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8836" marR="8836" marT="8836" marB="8836" anchor="ctr"/>
                </a:tc>
                <a:tc>
                  <a:txBody>
                    <a:bodyPr/>
                    <a:lstStyle/>
                    <a:p>
                      <a:pPr marL="0" marR="0">
                        <a:lnSpc>
                          <a:spcPct val="107000"/>
                        </a:lnSpc>
                        <a:spcAft>
                          <a:spcPts val="800"/>
                        </a:spcAft>
                      </a:pPr>
                      <a:r>
                        <a:rPr lang="en-US" sz="900" kern="0" dirty="0">
                          <a:effectLst/>
                        </a:rPr>
                        <a:t>N/A</a:t>
                      </a:r>
                      <a:endParaRPr lang="en-US" sz="1100" kern="100" dirty="0">
                        <a:effectLst/>
                        <a:latin typeface="Aptos" panose="020B0004020202020204" pitchFamily="34" charset="0"/>
                        <a:ea typeface="Aptos" panose="020B0004020202020204" pitchFamily="34" charset="0"/>
                        <a:cs typeface="Gautami" panose="020B0502040204020203" pitchFamily="34" charset="0"/>
                      </a:endParaRPr>
                    </a:p>
                  </a:txBody>
                  <a:tcPr marL="8836" marR="8836" marT="8836" marB="8836" anchor="ctr"/>
                </a:tc>
                <a:tc>
                  <a:txBody>
                    <a:bodyPr/>
                    <a:lstStyle/>
                    <a:p>
                      <a:pPr marL="0" marR="0">
                        <a:lnSpc>
                          <a:spcPct val="107000"/>
                        </a:lnSpc>
                        <a:spcAft>
                          <a:spcPts val="800"/>
                        </a:spcAft>
                      </a:pPr>
                      <a:r>
                        <a:rPr lang="en-US" sz="900" kern="0">
                          <a:effectLst/>
                        </a:rPr>
                        <a:t>N/A</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8836" marR="8836" marT="8836" marB="8836" anchor="ctr"/>
                </a:tc>
                <a:tc>
                  <a:txBody>
                    <a:bodyPr/>
                    <a:lstStyle/>
                    <a:p>
                      <a:pPr marL="0" marR="0">
                        <a:lnSpc>
                          <a:spcPct val="107000"/>
                        </a:lnSpc>
                        <a:spcAft>
                          <a:spcPts val="800"/>
                        </a:spcAft>
                      </a:pPr>
                      <a:r>
                        <a:rPr lang="en-US" sz="900" kern="0">
                          <a:effectLst/>
                        </a:rPr>
                        <a:t>Male</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8836" marR="8836" marT="8836" marB="8836" anchor="ctr"/>
                </a:tc>
                <a:extLst>
                  <a:ext uri="{0D108BD9-81ED-4DB2-BD59-A6C34878D82A}">
                    <a16:rowId xmlns:a16="http://schemas.microsoft.com/office/drawing/2014/main" val="1007170723"/>
                  </a:ext>
                </a:extLst>
              </a:tr>
              <a:tr h="381756">
                <a:tc>
                  <a:txBody>
                    <a:bodyPr/>
                    <a:lstStyle/>
                    <a:p>
                      <a:pPr marL="0" marR="0">
                        <a:lnSpc>
                          <a:spcPct val="107000"/>
                        </a:lnSpc>
                        <a:spcAft>
                          <a:spcPts val="800"/>
                        </a:spcAft>
                      </a:pPr>
                      <a:r>
                        <a:rPr lang="en-US" sz="900" kern="0">
                          <a:effectLst/>
                        </a:rPr>
                        <a:t>employmentType</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8836" marR="8836" marT="8836" marB="8836" anchor="ctr"/>
                </a:tc>
                <a:tc>
                  <a:txBody>
                    <a:bodyPr/>
                    <a:lstStyle/>
                    <a:p>
                      <a:pPr marL="0" marR="0">
                        <a:lnSpc>
                          <a:spcPct val="107000"/>
                        </a:lnSpc>
                        <a:spcAft>
                          <a:spcPts val="800"/>
                        </a:spcAft>
                      </a:pPr>
                      <a:r>
                        <a:rPr lang="en-US" sz="900" kern="0">
                          <a:effectLst/>
                        </a:rPr>
                        <a:t>Employment type (Full-Time/Part-Time)</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8836" marR="8836" marT="8836" marB="8836" anchor="ctr"/>
                </a:tc>
                <a:tc>
                  <a:txBody>
                    <a:bodyPr/>
                    <a:lstStyle/>
                    <a:p>
                      <a:pPr marL="0" marR="0">
                        <a:lnSpc>
                          <a:spcPct val="107000"/>
                        </a:lnSpc>
                        <a:spcAft>
                          <a:spcPts val="800"/>
                        </a:spcAft>
                      </a:pPr>
                      <a:r>
                        <a:rPr lang="en-US" sz="900" kern="0">
                          <a:effectLst/>
                        </a:rPr>
                        <a:t>VARCHAR(30)</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8836" marR="8836" marT="8836" marB="8836" anchor="ctr"/>
                </a:tc>
                <a:tc>
                  <a:txBody>
                    <a:bodyPr/>
                    <a:lstStyle/>
                    <a:p>
                      <a:pPr marL="0" marR="0">
                        <a:lnSpc>
                          <a:spcPct val="107000"/>
                        </a:lnSpc>
                        <a:spcAft>
                          <a:spcPts val="800"/>
                        </a:spcAft>
                      </a:pPr>
                      <a:r>
                        <a:rPr lang="en-US" sz="900" kern="0">
                          <a:effectLst/>
                        </a:rPr>
                        <a:t>Xxxxxxxxxxx</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8836" marR="8836" marT="8836" marB="8836" anchor="ctr"/>
                </a:tc>
                <a:tc>
                  <a:txBody>
                    <a:bodyPr/>
                    <a:lstStyle/>
                    <a:p>
                      <a:pPr marL="0" marR="0">
                        <a:lnSpc>
                          <a:spcPct val="107000"/>
                        </a:lnSpc>
                        <a:spcAft>
                          <a:spcPts val="800"/>
                        </a:spcAft>
                      </a:pPr>
                      <a:r>
                        <a:rPr lang="en-US" sz="900" kern="0">
                          <a:effectLst/>
                        </a:rPr>
                        <a:t>N/A</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8836" marR="8836" marT="8836" marB="8836" anchor="ctr"/>
                </a:tc>
                <a:tc>
                  <a:txBody>
                    <a:bodyPr/>
                    <a:lstStyle/>
                    <a:p>
                      <a:pPr marL="0" marR="0">
                        <a:lnSpc>
                          <a:spcPct val="107000"/>
                        </a:lnSpc>
                        <a:spcAft>
                          <a:spcPts val="800"/>
                        </a:spcAft>
                      </a:pPr>
                      <a:r>
                        <a:rPr lang="en-US" sz="900" kern="0">
                          <a:effectLst/>
                        </a:rPr>
                        <a:t>Y</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8836" marR="8836" marT="8836" marB="8836" anchor="ctr"/>
                </a:tc>
                <a:tc>
                  <a:txBody>
                    <a:bodyPr/>
                    <a:lstStyle/>
                    <a:p>
                      <a:pPr marL="0" marR="0">
                        <a:lnSpc>
                          <a:spcPct val="107000"/>
                        </a:lnSpc>
                        <a:spcAft>
                          <a:spcPts val="800"/>
                        </a:spcAft>
                      </a:pPr>
                      <a:r>
                        <a:rPr lang="en-US" sz="900" kern="0">
                          <a:effectLst/>
                        </a:rPr>
                        <a:t>N/A</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8836" marR="8836" marT="8836" marB="8836" anchor="ctr"/>
                </a:tc>
                <a:tc>
                  <a:txBody>
                    <a:bodyPr/>
                    <a:lstStyle/>
                    <a:p>
                      <a:pPr marL="0" marR="0">
                        <a:lnSpc>
                          <a:spcPct val="107000"/>
                        </a:lnSpc>
                        <a:spcAft>
                          <a:spcPts val="800"/>
                        </a:spcAft>
                      </a:pPr>
                      <a:r>
                        <a:rPr lang="en-US" sz="900" kern="0">
                          <a:effectLst/>
                        </a:rPr>
                        <a:t>N/A</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8836" marR="8836" marT="8836" marB="8836" anchor="ctr"/>
                </a:tc>
                <a:tc>
                  <a:txBody>
                    <a:bodyPr/>
                    <a:lstStyle/>
                    <a:p>
                      <a:pPr marL="0" marR="0">
                        <a:lnSpc>
                          <a:spcPct val="107000"/>
                        </a:lnSpc>
                        <a:spcAft>
                          <a:spcPts val="800"/>
                        </a:spcAft>
                      </a:pPr>
                      <a:r>
                        <a:rPr lang="en-US" sz="900" kern="0">
                          <a:effectLst/>
                        </a:rPr>
                        <a:t>Full-Time</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8836" marR="8836" marT="8836" marB="8836" anchor="ctr"/>
                </a:tc>
                <a:extLst>
                  <a:ext uri="{0D108BD9-81ED-4DB2-BD59-A6C34878D82A}">
                    <a16:rowId xmlns:a16="http://schemas.microsoft.com/office/drawing/2014/main" val="2595077438"/>
                  </a:ext>
                </a:extLst>
              </a:tr>
              <a:tr h="381756">
                <a:tc>
                  <a:txBody>
                    <a:bodyPr/>
                    <a:lstStyle/>
                    <a:p>
                      <a:pPr marL="0" marR="0">
                        <a:lnSpc>
                          <a:spcPct val="107000"/>
                        </a:lnSpc>
                        <a:spcAft>
                          <a:spcPts val="800"/>
                        </a:spcAft>
                      </a:pPr>
                      <a:r>
                        <a:rPr lang="en-US" sz="900" kern="0" dirty="0" err="1">
                          <a:effectLst/>
                        </a:rPr>
                        <a:t>roleID</a:t>
                      </a:r>
                      <a:endParaRPr lang="en-US" sz="1100" kern="100" dirty="0">
                        <a:effectLst/>
                        <a:latin typeface="Aptos" panose="020B0004020202020204" pitchFamily="34" charset="0"/>
                        <a:ea typeface="Aptos" panose="020B0004020202020204" pitchFamily="34" charset="0"/>
                        <a:cs typeface="Gautami" panose="020B0502040204020203" pitchFamily="34" charset="0"/>
                      </a:endParaRPr>
                    </a:p>
                  </a:txBody>
                  <a:tcPr marL="8836" marR="8836" marT="8836" marB="8836" anchor="ctr"/>
                </a:tc>
                <a:tc>
                  <a:txBody>
                    <a:bodyPr/>
                    <a:lstStyle/>
                    <a:p>
                      <a:pPr marL="0" marR="0">
                        <a:lnSpc>
                          <a:spcPct val="107000"/>
                        </a:lnSpc>
                        <a:spcAft>
                          <a:spcPts val="800"/>
                        </a:spcAft>
                      </a:pPr>
                      <a:r>
                        <a:rPr lang="en-US" sz="900" kern="0">
                          <a:effectLst/>
                        </a:rPr>
                        <a:t>Role of the employee</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8836" marR="8836" marT="8836" marB="8836" anchor="ctr"/>
                </a:tc>
                <a:tc>
                  <a:txBody>
                    <a:bodyPr/>
                    <a:lstStyle/>
                    <a:p>
                      <a:pPr marL="0" marR="0">
                        <a:lnSpc>
                          <a:spcPct val="107000"/>
                        </a:lnSpc>
                        <a:spcAft>
                          <a:spcPts val="800"/>
                        </a:spcAft>
                      </a:pPr>
                      <a:r>
                        <a:rPr lang="en-US" sz="900" kern="0" dirty="0">
                          <a:effectLst/>
                        </a:rPr>
                        <a:t>INT</a:t>
                      </a:r>
                      <a:endParaRPr lang="en-US" sz="1100" kern="100" dirty="0">
                        <a:effectLst/>
                        <a:latin typeface="Aptos" panose="020B0004020202020204" pitchFamily="34" charset="0"/>
                        <a:ea typeface="Aptos" panose="020B0004020202020204" pitchFamily="34" charset="0"/>
                        <a:cs typeface="Gautami" panose="020B0502040204020203" pitchFamily="34" charset="0"/>
                      </a:endParaRPr>
                    </a:p>
                  </a:txBody>
                  <a:tcPr marL="8836" marR="8836" marT="8836" marB="8836" anchor="ctr"/>
                </a:tc>
                <a:tc>
                  <a:txBody>
                    <a:bodyPr/>
                    <a:lstStyle/>
                    <a:p>
                      <a:pPr marL="0" marR="0">
                        <a:lnSpc>
                          <a:spcPct val="107000"/>
                        </a:lnSpc>
                        <a:spcAft>
                          <a:spcPts val="800"/>
                        </a:spcAft>
                      </a:pPr>
                      <a:r>
                        <a:rPr lang="en-US" sz="900" kern="0">
                          <a:effectLst/>
                        </a:rPr>
                        <a:t>N/A</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8836" marR="8836" marT="8836" marB="8836" anchor="ctr"/>
                </a:tc>
                <a:tc>
                  <a:txBody>
                    <a:bodyPr/>
                    <a:lstStyle/>
                    <a:p>
                      <a:pPr marL="0" marR="0">
                        <a:lnSpc>
                          <a:spcPct val="107000"/>
                        </a:lnSpc>
                        <a:spcAft>
                          <a:spcPts val="800"/>
                        </a:spcAft>
                      </a:pPr>
                      <a:r>
                        <a:rPr lang="en-US" sz="900" kern="0">
                          <a:effectLst/>
                        </a:rPr>
                        <a:t>N/A</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8836" marR="8836" marT="8836" marB="8836" anchor="ctr"/>
                </a:tc>
                <a:tc>
                  <a:txBody>
                    <a:bodyPr/>
                    <a:lstStyle/>
                    <a:p>
                      <a:pPr marL="0" marR="0">
                        <a:lnSpc>
                          <a:spcPct val="107000"/>
                        </a:lnSpc>
                        <a:spcAft>
                          <a:spcPts val="800"/>
                        </a:spcAft>
                      </a:pPr>
                      <a:r>
                        <a:rPr lang="en-US" sz="900" kern="0">
                          <a:effectLst/>
                        </a:rPr>
                        <a:t>Y</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8836" marR="8836" marT="8836" marB="8836" anchor="ctr"/>
                </a:tc>
                <a:tc>
                  <a:txBody>
                    <a:bodyPr/>
                    <a:lstStyle/>
                    <a:p>
                      <a:pPr marL="0" marR="0">
                        <a:lnSpc>
                          <a:spcPct val="107000"/>
                        </a:lnSpc>
                        <a:spcAft>
                          <a:spcPts val="800"/>
                        </a:spcAft>
                      </a:pPr>
                      <a:r>
                        <a:rPr lang="en-US" sz="900" kern="0">
                          <a:effectLst/>
                        </a:rPr>
                        <a:t>FK</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8836" marR="8836" marT="8836" marB="8836" anchor="ctr"/>
                </a:tc>
                <a:tc>
                  <a:txBody>
                    <a:bodyPr/>
                    <a:lstStyle/>
                    <a:p>
                      <a:pPr marL="0" marR="0">
                        <a:lnSpc>
                          <a:spcPct val="107000"/>
                        </a:lnSpc>
                        <a:spcAft>
                          <a:spcPts val="800"/>
                        </a:spcAft>
                      </a:pPr>
                      <a:r>
                        <a:rPr lang="en-US" sz="900" kern="0">
                          <a:effectLst/>
                        </a:rPr>
                        <a:t>Role(roleID)</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8836" marR="8836" marT="8836" marB="8836" anchor="ctr"/>
                </a:tc>
                <a:tc>
                  <a:txBody>
                    <a:bodyPr/>
                    <a:lstStyle/>
                    <a:p>
                      <a:pPr marL="0" marR="0">
                        <a:lnSpc>
                          <a:spcPct val="107000"/>
                        </a:lnSpc>
                        <a:spcAft>
                          <a:spcPts val="800"/>
                        </a:spcAft>
                      </a:pPr>
                      <a:r>
                        <a:rPr lang="en-US" sz="900" kern="0" dirty="0">
                          <a:effectLst/>
                        </a:rPr>
                        <a:t>1</a:t>
                      </a:r>
                      <a:endParaRPr lang="en-US" sz="1100" kern="100" dirty="0">
                        <a:effectLst/>
                        <a:latin typeface="Aptos" panose="020B0004020202020204" pitchFamily="34" charset="0"/>
                        <a:ea typeface="Aptos" panose="020B0004020202020204" pitchFamily="34" charset="0"/>
                        <a:cs typeface="Gautami" panose="020B0502040204020203" pitchFamily="34" charset="0"/>
                      </a:endParaRPr>
                    </a:p>
                  </a:txBody>
                  <a:tcPr marL="8836" marR="8836" marT="8836" marB="8836" anchor="ctr"/>
                </a:tc>
                <a:extLst>
                  <a:ext uri="{0D108BD9-81ED-4DB2-BD59-A6C34878D82A}">
                    <a16:rowId xmlns:a16="http://schemas.microsoft.com/office/drawing/2014/main" val="2285994325"/>
                  </a:ext>
                </a:extLst>
              </a:tr>
            </a:tbl>
          </a:graphicData>
        </a:graphic>
      </p:graphicFrame>
    </p:spTree>
    <p:extLst>
      <p:ext uri="{BB962C8B-B14F-4D97-AF65-F5344CB8AC3E}">
        <p14:creationId xmlns:p14="http://schemas.microsoft.com/office/powerpoint/2010/main" val="22078350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EBA209F-9E80-B68B-0867-97DE15A93C0B}"/>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CBE6EF9C-080C-29E3-C087-5FD4FD397C18}"/>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67277EA-D16D-4068-8E60-7E936E73EBF4}"/>
              </a:ext>
            </a:extLst>
          </p:cNvPr>
          <p:cNvSpPr>
            <a:spLocks noGrp="1"/>
          </p:cNvSpPr>
          <p:nvPr>
            <p:ph type="title"/>
          </p:nvPr>
        </p:nvSpPr>
        <p:spPr>
          <a:xfrm>
            <a:off x="108856" y="0"/>
            <a:ext cx="10406743" cy="685800"/>
          </a:xfrm>
        </p:spPr>
        <p:txBody>
          <a:bodyPr anchor="ctr">
            <a:normAutofit fontScale="90000"/>
          </a:bodyPr>
          <a:lstStyle/>
          <a:p>
            <a:r>
              <a:rPr lang="en-US" sz="4400" dirty="0">
                <a:gradFill flip="none" rotWithShape="1">
                  <a:gsLst>
                    <a:gs pos="0">
                      <a:schemeClr val="accent5">
                        <a:alpha val="70000"/>
                      </a:schemeClr>
                    </a:gs>
                    <a:gs pos="100000">
                      <a:schemeClr val="accent1">
                        <a:alpha val="70000"/>
                      </a:schemeClr>
                    </a:gs>
                  </a:gsLst>
                  <a:lin ang="0" scaled="1"/>
                  <a:tileRect/>
                </a:gradFill>
                <a:latin typeface="Times New Roman" panose="02020603050405020304" pitchFamily="18" charset="0"/>
                <a:cs typeface="Times New Roman" panose="02020603050405020304" pitchFamily="18" charset="0"/>
              </a:rPr>
              <a:t>Data Dictionary – Role Table</a:t>
            </a:r>
          </a:p>
        </p:txBody>
      </p:sp>
      <p:graphicFrame>
        <p:nvGraphicFramePr>
          <p:cNvPr id="3" name="Table 2">
            <a:extLst>
              <a:ext uri="{FF2B5EF4-FFF2-40B4-BE49-F238E27FC236}">
                <a16:creationId xmlns:a16="http://schemas.microsoft.com/office/drawing/2014/main" id="{8296C6C1-A724-8CAB-B7B1-6446A4937807}"/>
              </a:ext>
            </a:extLst>
          </p:cNvPr>
          <p:cNvGraphicFramePr>
            <a:graphicFrameLocks noGrp="1"/>
          </p:cNvGraphicFramePr>
          <p:nvPr>
            <p:extLst>
              <p:ext uri="{D42A27DB-BD31-4B8C-83A1-F6EECF244321}">
                <p14:modId xmlns:p14="http://schemas.microsoft.com/office/powerpoint/2010/main" val="1639324977"/>
              </p:ext>
            </p:extLst>
          </p:nvPr>
        </p:nvGraphicFramePr>
        <p:xfrm>
          <a:off x="108857" y="805544"/>
          <a:ext cx="11887200" cy="5769426"/>
        </p:xfrm>
        <a:graphic>
          <a:graphicData uri="http://schemas.openxmlformats.org/drawingml/2006/table">
            <a:tbl>
              <a:tblPr firstRow="1" firstCol="1" bandRow="1">
                <a:tableStyleId>{5C22544A-7EE6-4342-B048-85BDC9FD1C3A}</a:tableStyleId>
              </a:tblPr>
              <a:tblGrid>
                <a:gridCol w="1295400">
                  <a:extLst>
                    <a:ext uri="{9D8B030D-6E8A-4147-A177-3AD203B41FA5}">
                      <a16:colId xmlns:a16="http://schemas.microsoft.com/office/drawing/2014/main" val="3043292434"/>
                    </a:ext>
                  </a:extLst>
                </a:gridCol>
                <a:gridCol w="1346200">
                  <a:extLst>
                    <a:ext uri="{9D8B030D-6E8A-4147-A177-3AD203B41FA5}">
                      <a16:colId xmlns:a16="http://schemas.microsoft.com/office/drawing/2014/main" val="671842444"/>
                    </a:ext>
                  </a:extLst>
                </a:gridCol>
                <a:gridCol w="1320800">
                  <a:extLst>
                    <a:ext uri="{9D8B030D-6E8A-4147-A177-3AD203B41FA5}">
                      <a16:colId xmlns:a16="http://schemas.microsoft.com/office/drawing/2014/main" val="2167305530"/>
                    </a:ext>
                  </a:extLst>
                </a:gridCol>
                <a:gridCol w="1320800">
                  <a:extLst>
                    <a:ext uri="{9D8B030D-6E8A-4147-A177-3AD203B41FA5}">
                      <a16:colId xmlns:a16="http://schemas.microsoft.com/office/drawing/2014/main" val="1521855296"/>
                    </a:ext>
                  </a:extLst>
                </a:gridCol>
                <a:gridCol w="1320800">
                  <a:extLst>
                    <a:ext uri="{9D8B030D-6E8A-4147-A177-3AD203B41FA5}">
                      <a16:colId xmlns:a16="http://schemas.microsoft.com/office/drawing/2014/main" val="1360368547"/>
                    </a:ext>
                  </a:extLst>
                </a:gridCol>
                <a:gridCol w="1320800">
                  <a:extLst>
                    <a:ext uri="{9D8B030D-6E8A-4147-A177-3AD203B41FA5}">
                      <a16:colId xmlns:a16="http://schemas.microsoft.com/office/drawing/2014/main" val="13739809"/>
                    </a:ext>
                  </a:extLst>
                </a:gridCol>
                <a:gridCol w="1320800">
                  <a:extLst>
                    <a:ext uri="{9D8B030D-6E8A-4147-A177-3AD203B41FA5}">
                      <a16:colId xmlns:a16="http://schemas.microsoft.com/office/drawing/2014/main" val="3520764332"/>
                    </a:ext>
                  </a:extLst>
                </a:gridCol>
                <a:gridCol w="1320800">
                  <a:extLst>
                    <a:ext uri="{9D8B030D-6E8A-4147-A177-3AD203B41FA5}">
                      <a16:colId xmlns:a16="http://schemas.microsoft.com/office/drawing/2014/main" val="132655076"/>
                    </a:ext>
                  </a:extLst>
                </a:gridCol>
                <a:gridCol w="1320800">
                  <a:extLst>
                    <a:ext uri="{9D8B030D-6E8A-4147-A177-3AD203B41FA5}">
                      <a16:colId xmlns:a16="http://schemas.microsoft.com/office/drawing/2014/main" val="1864633386"/>
                    </a:ext>
                  </a:extLst>
                </a:gridCol>
              </a:tblGrid>
              <a:tr h="536631">
                <a:tc>
                  <a:txBody>
                    <a:bodyPr/>
                    <a:lstStyle/>
                    <a:p>
                      <a:pPr marL="0" marR="0" algn="ctr">
                        <a:lnSpc>
                          <a:spcPct val="107000"/>
                        </a:lnSpc>
                        <a:spcAft>
                          <a:spcPts val="800"/>
                        </a:spcAft>
                      </a:pPr>
                      <a:r>
                        <a:rPr lang="en-US" sz="900" kern="0">
                          <a:effectLst/>
                        </a:rPr>
                        <a:t>Attribute Name</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ctr">
                        <a:lnSpc>
                          <a:spcPct val="107000"/>
                        </a:lnSpc>
                        <a:spcAft>
                          <a:spcPts val="800"/>
                        </a:spcAft>
                      </a:pPr>
                      <a:r>
                        <a:rPr lang="en-US" sz="900" kern="0">
                          <a:effectLst/>
                        </a:rPr>
                        <a:t>Contents</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ctr">
                        <a:lnSpc>
                          <a:spcPct val="107000"/>
                        </a:lnSpc>
                        <a:spcAft>
                          <a:spcPts val="800"/>
                        </a:spcAft>
                      </a:pPr>
                      <a:r>
                        <a:rPr lang="en-US" sz="900" kern="0">
                          <a:effectLst/>
                        </a:rPr>
                        <a:t>Data Type</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ctr">
                        <a:lnSpc>
                          <a:spcPct val="107000"/>
                        </a:lnSpc>
                        <a:spcAft>
                          <a:spcPts val="800"/>
                        </a:spcAft>
                      </a:pPr>
                      <a:r>
                        <a:rPr lang="en-US" sz="900" kern="0">
                          <a:effectLst/>
                        </a:rPr>
                        <a:t>Format</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ctr">
                        <a:lnSpc>
                          <a:spcPct val="107000"/>
                        </a:lnSpc>
                        <a:spcAft>
                          <a:spcPts val="800"/>
                        </a:spcAft>
                      </a:pPr>
                      <a:r>
                        <a:rPr lang="en-US" sz="900" kern="0">
                          <a:effectLst/>
                        </a:rPr>
                        <a:t>Range</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ctr">
                        <a:lnSpc>
                          <a:spcPct val="107000"/>
                        </a:lnSpc>
                        <a:spcAft>
                          <a:spcPts val="800"/>
                        </a:spcAft>
                      </a:pPr>
                      <a:r>
                        <a:rPr lang="en-US" sz="900" kern="0">
                          <a:effectLst/>
                        </a:rPr>
                        <a:t>Required</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ctr">
                        <a:lnSpc>
                          <a:spcPct val="107000"/>
                        </a:lnSpc>
                        <a:spcAft>
                          <a:spcPts val="800"/>
                        </a:spcAft>
                      </a:pPr>
                      <a:r>
                        <a:rPr lang="en-US" sz="900" kern="0">
                          <a:effectLst/>
                        </a:rPr>
                        <a:t>PK or FK</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ctr">
                        <a:lnSpc>
                          <a:spcPct val="107000"/>
                        </a:lnSpc>
                        <a:spcAft>
                          <a:spcPts val="800"/>
                        </a:spcAft>
                      </a:pPr>
                      <a:r>
                        <a:rPr lang="en-US" sz="900" kern="0">
                          <a:effectLst/>
                        </a:rPr>
                        <a:t>FK Reference</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ctr">
                        <a:lnSpc>
                          <a:spcPct val="107000"/>
                        </a:lnSpc>
                        <a:spcAft>
                          <a:spcPts val="800"/>
                        </a:spcAft>
                      </a:pPr>
                      <a:r>
                        <a:rPr lang="en-US" sz="900" kern="0">
                          <a:effectLst/>
                        </a:rPr>
                        <a:t>Sample Data</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extLst>
                  <a:ext uri="{0D108BD9-81ED-4DB2-BD59-A6C34878D82A}">
                    <a16:rowId xmlns:a16="http://schemas.microsoft.com/office/drawing/2014/main" val="2267473854"/>
                  </a:ext>
                </a:extLst>
              </a:tr>
              <a:tr h="1028757">
                <a:tc>
                  <a:txBody>
                    <a:bodyPr/>
                    <a:lstStyle/>
                    <a:p>
                      <a:pPr marL="0" marR="0">
                        <a:lnSpc>
                          <a:spcPct val="107000"/>
                        </a:lnSpc>
                        <a:spcAft>
                          <a:spcPts val="800"/>
                        </a:spcAft>
                      </a:pPr>
                      <a:r>
                        <a:rPr lang="en-US" sz="900" kern="0">
                          <a:effectLst/>
                        </a:rPr>
                        <a:t>roleID</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nSpc>
                          <a:spcPct val="107000"/>
                        </a:lnSpc>
                        <a:spcAft>
                          <a:spcPts val="800"/>
                        </a:spcAft>
                      </a:pPr>
                      <a:r>
                        <a:rPr lang="en-US" sz="900" kern="0" dirty="0">
                          <a:effectLst/>
                        </a:rPr>
                        <a:t>Unique identifier for the role</a:t>
                      </a:r>
                      <a:endParaRPr lang="en-US" sz="1100" kern="100" dirty="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nSpc>
                          <a:spcPct val="107000"/>
                        </a:lnSpc>
                        <a:spcAft>
                          <a:spcPts val="800"/>
                        </a:spcAft>
                      </a:pPr>
                      <a:r>
                        <a:rPr lang="en-US" sz="900" kern="0">
                          <a:effectLst/>
                        </a:rPr>
                        <a:t>INT</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nSpc>
                          <a:spcPct val="107000"/>
                        </a:lnSpc>
                        <a:spcAft>
                          <a:spcPts val="800"/>
                        </a:spcAft>
                      </a:pPr>
                      <a:r>
                        <a:rPr lang="en-US" sz="900" kern="0">
                          <a:effectLst/>
                        </a:rPr>
                        <a:t>N/A</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nSpc>
                          <a:spcPct val="107000"/>
                        </a:lnSpc>
                        <a:spcAft>
                          <a:spcPts val="800"/>
                        </a:spcAft>
                      </a:pPr>
                      <a:r>
                        <a:rPr lang="en-US" sz="900" kern="0">
                          <a:effectLst/>
                        </a:rPr>
                        <a:t>N/A</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nSpc>
                          <a:spcPct val="107000"/>
                        </a:lnSpc>
                        <a:spcAft>
                          <a:spcPts val="800"/>
                        </a:spcAft>
                      </a:pPr>
                      <a:r>
                        <a:rPr lang="en-US" sz="900" kern="0">
                          <a:effectLst/>
                        </a:rPr>
                        <a:t>Y</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nSpc>
                          <a:spcPct val="107000"/>
                        </a:lnSpc>
                        <a:spcAft>
                          <a:spcPts val="800"/>
                        </a:spcAft>
                      </a:pPr>
                      <a:r>
                        <a:rPr lang="en-US" sz="900" kern="0">
                          <a:effectLst/>
                        </a:rPr>
                        <a:t>PK</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nSpc>
                          <a:spcPct val="107000"/>
                        </a:lnSpc>
                        <a:spcAft>
                          <a:spcPts val="800"/>
                        </a:spcAft>
                      </a:pPr>
                      <a:r>
                        <a:rPr lang="en-US" sz="900" kern="0">
                          <a:effectLst/>
                        </a:rPr>
                        <a:t>N/A</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nSpc>
                          <a:spcPct val="107000"/>
                        </a:lnSpc>
                        <a:spcAft>
                          <a:spcPts val="800"/>
                        </a:spcAft>
                      </a:pPr>
                      <a:r>
                        <a:rPr lang="en-US" sz="900" kern="0">
                          <a:effectLst/>
                        </a:rPr>
                        <a:t>1</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extLst>
                  <a:ext uri="{0D108BD9-81ED-4DB2-BD59-A6C34878D82A}">
                    <a16:rowId xmlns:a16="http://schemas.microsoft.com/office/drawing/2014/main" val="3538747379"/>
                  </a:ext>
                </a:extLst>
              </a:tr>
              <a:tr h="536631">
                <a:tc>
                  <a:txBody>
                    <a:bodyPr/>
                    <a:lstStyle/>
                    <a:p>
                      <a:pPr marL="0" marR="0">
                        <a:lnSpc>
                          <a:spcPct val="107000"/>
                        </a:lnSpc>
                        <a:spcAft>
                          <a:spcPts val="800"/>
                        </a:spcAft>
                      </a:pPr>
                      <a:r>
                        <a:rPr lang="en-US" sz="900" kern="0">
                          <a:effectLst/>
                        </a:rPr>
                        <a:t>roleName</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nSpc>
                          <a:spcPct val="107000"/>
                        </a:lnSpc>
                        <a:spcAft>
                          <a:spcPts val="800"/>
                        </a:spcAft>
                      </a:pPr>
                      <a:r>
                        <a:rPr lang="en-US" sz="900" kern="0">
                          <a:effectLst/>
                        </a:rPr>
                        <a:t>Name of the role</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nSpc>
                          <a:spcPct val="107000"/>
                        </a:lnSpc>
                        <a:spcAft>
                          <a:spcPts val="800"/>
                        </a:spcAft>
                      </a:pPr>
                      <a:r>
                        <a:rPr lang="en-US" sz="900" kern="0">
                          <a:effectLst/>
                        </a:rPr>
                        <a:t>VARCHAR(45)</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nSpc>
                          <a:spcPct val="107000"/>
                        </a:lnSpc>
                        <a:spcAft>
                          <a:spcPts val="800"/>
                        </a:spcAft>
                      </a:pPr>
                      <a:r>
                        <a:rPr lang="en-US" sz="900" kern="0">
                          <a:effectLst/>
                        </a:rPr>
                        <a:t>Xxxxxxxxxxx</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nSpc>
                          <a:spcPct val="107000"/>
                        </a:lnSpc>
                        <a:spcAft>
                          <a:spcPts val="800"/>
                        </a:spcAft>
                      </a:pPr>
                      <a:r>
                        <a:rPr lang="en-US" sz="900" kern="0">
                          <a:effectLst/>
                        </a:rPr>
                        <a:t>N/A</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nSpc>
                          <a:spcPct val="107000"/>
                        </a:lnSpc>
                        <a:spcAft>
                          <a:spcPts val="800"/>
                        </a:spcAft>
                      </a:pPr>
                      <a:r>
                        <a:rPr lang="en-US" sz="900" kern="0">
                          <a:effectLst/>
                        </a:rPr>
                        <a:t>Y</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nSpc>
                          <a:spcPct val="107000"/>
                        </a:lnSpc>
                        <a:spcAft>
                          <a:spcPts val="800"/>
                        </a:spcAft>
                      </a:pPr>
                      <a:r>
                        <a:rPr lang="en-US" sz="900" kern="0">
                          <a:effectLst/>
                        </a:rPr>
                        <a:t>N/A</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nSpc>
                          <a:spcPct val="107000"/>
                        </a:lnSpc>
                        <a:spcAft>
                          <a:spcPts val="800"/>
                        </a:spcAft>
                      </a:pPr>
                      <a:r>
                        <a:rPr lang="en-US" sz="900" kern="0">
                          <a:effectLst/>
                        </a:rPr>
                        <a:t>N/A</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nSpc>
                          <a:spcPct val="107000"/>
                        </a:lnSpc>
                        <a:spcAft>
                          <a:spcPts val="800"/>
                        </a:spcAft>
                      </a:pPr>
                      <a:r>
                        <a:rPr lang="en-US" sz="900" kern="0">
                          <a:effectLst/>
                        </a:rPr>
                        <a:t>Manager</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extLst>
                  <a:ext uri="{0D108BD9-81ED-4DB2-BD59-A6C34878D82A}">
                    <a16:rowId xmlns:a16="http://schemas.microsoft.com/office/drawing/2014/main" val="3163218486"/>
                  </a:ext>
                </a:extLst>
              </a:tr>
              <a:tr h="536631">
                <a:tc>
                  <a:txBody>
                    <a:bodyPr/>
                    <a:lstStyle/>
                    <a:p>
                      <a:pPr marL="0" marR="0">
                        <a:lnSpc>
                          <a:spcPct val="107000"/>
                        </a:lnSpc>
                        <a:spcAft>
                          <a:spcPts val="800"/>
                        </a:spcAft>
                      </a:pPr>
                      <a:r>
                        <a:rPr lang="en-US" sz="900" kern="0">
                          <a:effectLst/>
                        </a:rPr>
                        <a:t>canAssignEvents</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nSpc>
                          <a:spcPct val="107000"/>
                        </a:lnSpc>
                        <a:spcAft>
                          <a:spcPts val="800"/>
                        </a:spcAft>
                      </a:pPr>
                      <a:r>
                        <a:rPr lang="en-US" sz="900" kern="0">
                          <a:effectLst/>
                        </a:rPr>
                        <a:t>Can assign events</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nSpc>
                          <a:spcPct val="107000"/>
                        </a:lnSpc>
                        <a:spcAft>
                          <a:spcPts val="800"/>
                        </a:spcAft>
                      </a:pPr>
                      <a:r>
                        <a:rPr lang="en-US" sz="900" kern="0">
                          <a:effectLst/>
                        </a:rPr>
                        <a:t>BOOLEAN</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nSpc>
                          <a:spcPct val="107000"/>
                        </a:lnSpc>
                        <a:spcAft>
                          <a:spcPts val="800"/>
                        </a:spcAft>
                      </a:pPr>
                      <a:r>
                        <a:rPr lang="en-US" sz="900" kern="0">
                          <a:effectLst/>
                        </a:rPr>
                        <a:t>TRUE/FALSE</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nSpc>
                          <a:spcPct val="107000"/>
                        </a:lnSpc>
                        <a:spcAft>
                          <a:spcPts val="800"/>
                        </a:spcAft>
                      </a:pPr>
                      <a:r>
                        <a:rPr lang="en-US" sz="900" kern="0" dirty="0">
                          <a:effectLst/>
                        </a:rPr>
                        <a:t>N/A</a:t>
                      </a:r>
                      <a:endParaRPr lang="en-US" sz="1100" kern="100" dirty="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nSpc>
                          <a:spcPct val="107000"/>
                        </a:lnSpc>
                        <a:spcAft>
                          <a:spcPts val="800"/>
                        </a:spcAft>
                      </a:pPr>
                      <a:r>
                        <a:rPr lang="en-US" sz="900" kern="0">
                          <a:effectLst/>
                        </a:rPr>
                        <a:t>Y</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nSpc>
                          <a:spcPct val="107000"/>
                        </a:lnSpc>
                        <a:spcAft>
                          <a:spcPts val="800"/>
                        </a:spcAft>
                      </a:pPr>
                      <a:r>
                        <a:rPr lang="en-US" sz="900" kern="0">
                          <a:effectLst/>
                        </a:rPr>
                        <a:t>N/A</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nSpc>
                          <a:spcPct val="107000"/>
                        </a:lnSpc>
                        <a:spcAft>
                          <a:spcPts val="800"/>
                        </a:spcAft>
                      </a:pPr>
                      <a:r>
                        <a:rPr lang="en-US" sz="900" kern="0">
                          <a:effectLst/>
                        </a:rPr>
                        <a:t>N/A</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nSpc>
                          <a:spcPct val="107000"/>
                        </a:lnSpc>
                        <a:spcAft>
                          <a:spcPts val="800"/>
                        </a:spcAft>
                      </a:pPr>
                      <a:r>
                        <a:rPr lang="en-US" sz="900" kern="0">
                          <a:effectLst/>
                        </a:rPr>
                        <a:t>TRUE</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extLst>
                  <a:ext uri="{0D108BD9-81ED-4DB2-BD59-A6C34878D82A}">
                    <a16:rowId xmlns:a16="http://schemas.microsoft.com/office/drawing/2014/main" val="2997161778"/>
                  </a:ext>
                </a:extLst>
              </a:tr>
              <a:tr h="1028757">
                <a:tc>
                  <a:txBody>
                    <a:bodyPr/>
                    <a:lstStyle/>
                    <a:p>
                      <a:pPr marL="0" marR="0">
                        <a:lnSpc>
                          <a:spcPct val="107000"/>
                        </a:lnSpc>
                        <a:spcAft>
                          <a:spcPts val="800"/>
                        </a:spcAft>
                      </a:pPr>
                      <a:r>
                        <a:rPr lang="en-US" sz="900" kern="0">
                          <a:effectLst/>
                        </a:rPr>
                        <a:t>canDistributeCoupons</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nSpc>
                          <a:spcPct val="107000"/>
                        </a:lnSpc>
                        <a:spcAft>
                          <a:spcPts val="800"/>
                        </a:spcAft>
                      </a:pPr>
                      <a:r>
                        <a:rPr lang="en-US" sz="900" kern="0">
                          <a:effectLst/>
                        </a:rPr>
                        <a:t>Can distribute coupons</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nSpc>
                          <a:spcPct val="107000"/>
                        </a:lnSpc>
                        <a:spcAft>
                          <a:spcPts val="800"/>
                        </a:spcAft>
                      </a:pPr>
                      <a:r>
                        <a:rPr lang="en-US" sz="900" kern="0">
                          <a:effectLst/>
                        </a:rPr>
                        <a:t>BOOLEAN</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nSpc>
                          <a:spcPct val="107000"/>
                        </a:lnSpc>
                        <a:spcAft>
                          <a:spcPts val="800"/>
                        </a:spcAft>
                      </a:pPr>
                      <a:r>
                        <a:rPr lang="en-US" sz="900" kern="0">
                          <a:effectLst/>
                        </a:rPr>
                        <a:t>TRUE/FALSE</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nSpc>
                          <a:spcPct val="107000"/>
                        </a:lnSpc>
                        <a:spcAft>
                          <a:spcPts val="800"/>
                        </a:spcAft>
                      </a:pPr>
                      <a:r>
                        <a:rPr lang="en-US" sz="900" kern="0">
                          <a:effectLst/>
                        </a:rPr>
                        <a:t>N/A</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nSpc>
                          <a:spcPct val="107000"/>
                        </a:lnSpc>
                        <a:spcAft>
                          <a:spcPts val="800"/>
                        </a:spcAft>
                      </a:pPr>
                      <a:r>
                        <a:rPr lang="en-US" sz="900" kern="0">
                          <a:effectLst/>
                        </a:rPr>
                        <a:t>Y</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nSpc>
                          <a:spcPct val="107000"/>
                        </a:lnSpc>
                        <a:spcAft>
                          <a:spcPts val="800"/>
                        </a:spcAft>
                      </a:pPr>
                      <a:r>
                        <a:rPr lang="en-US" sz="900" kern="0">
                          <a:effectLst/>
                        </a:rPr>
                        <a:t>N/A</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nSpc>
                          <a:spcPct val="107000"/>
                        </a:lnSpc>
                        <a:spcAft>
                          <a:spcPts val="800"/>
                        </a:spcAft>
                      </a:pPr>
                      <a:r>
                        <a:rPr lang="en-US" sz="900" kern="0">
                          <a:effectLst/>
                        </a:rPr>
                        <a:t>N/A</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nSpc>
                          <a:spcPct val="107000"/>
                        </a:lnSpc>
                        <a:spcAft>
                          <a:spcPts val="800"/>
                        </a:spcAft>
                      </a:pPr>
                      <a:r>
                        <a:rPr lang="en-US" sz="900" kern="0">
                          <a:effectLst/>
                        </a:rPr>
                        <a:t>TRUE</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extLst>
                  <a:ext uri="{0D108BD9-81ED-4DB2-BD59-A6C34878D82A}">
                    <a16:rowId xmlns:a16="http://schemas.microsoft.com/office/drawing/2014/main" val="1600749104"/>
                  </a:ext>
                </a:extLst>
              </a:tr>
              <a:tr h="536631">
                <a:tc>
                  <a:txBody>
                    <a:bodyPr/>
                    <a:lstStyle/>
                    <a:p>
                      <a:pPr marL="0" marR="0">
                        <a:lnSpc>
                          <a:spcPct val="107000"/>
                        </a:lnSpc>
                        <a:spcAft>
                          <a:spcPts val="800"/>
                        </a:spcAft>
                      </a:pPr>
                      <a:r>
                        <a:rPr lang="en-US" sz="900" kern="0">
                          <a:effectLst/>
                        </a:rPr>
                        <a:t>canViewSalaries</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nSpc>
                          <a:spcPct val="107000"/>
                        </a:lnSpc>
                        <a:spcAft>
                          <a:spcPts val="800"/>
                        </a:spcAft>
                      </a:pPr>
                      <a:r>
                        <a:rPr lang="en-US" sz="900" kern="0">
                          <a:effectLst/>
                        </a:rPr>
                        <a:t>Can view salaries</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nSpc>
                          <a:spcPct val="107000"/>
                        </a:lnSpc>
                        <a:spcAft>
                          <a:spcPts val="800"/>
                        </a:spcAft>
                      </a:pPr>
                      <a:r>
                        <a:rPr lang="en-US" sz="900" kern="0">
                          <a:effectLst/>
                        </a:rPr>
                        <a:t>BOOLEAN</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nSpc>
                          <a:spcPct val="107000"/>
                        </a:lnSpc>
                        <a:spcAft>
                          <a:spcPts val="800"/>
                        </a:spcAft>
                      </a:pPr>
                      <a:r>
                        <a:rPr lang="en-US" sz="900" kern="0">
                          <a:effectLst/>
                        </a:rPr>
                        <a:t>TRUE/FALSE</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nSpc>
                          <a:spcPct val="107000"/>
                        </a:lnSpc>
                        <a:spcAft>
                          <a:spcPts val="800"/>
                        </a:spcAft>
                      </a:pPr>
                      <a:r>
                        <a:rPr lang="en-US" sz="900" kern="0">
                          <a:effectLst/>
                        </a:rPr>
                        <a:t>N/A</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nSpc>
                          <a:spcPct val="107000"/>
                        </a:lnSpc>
                        <a:spcAft>
                          <a:spcPts val="800"/>
                        </a:spcAft>
                      </a:pPr>
                      <a:r>
                        <a:rPr lang="en-US" sz="900" kern="0">
                          <a:effectLst/>
                        </a:rPr>
                        <a:t>Y</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nSpc>
                          <a:spcPct val="107000"/>
                        </a:lnSpc>
                        <a:spcAft>
                          <a:spcPts val="800"/>
                        </a:spcAft>
                      </a:pPr>
                      <a:r>
                        <a:rPr lang="en-US" sz="900" kern="0">
                          <a:effectLst/>
                        </a:rPr>
                        <a:t>N/A</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nSpc>
                          <a:spcPct val="107000"/>
                        </a:lnSpc>
                        <a:spcAft>
                          <a:spcPts val="800"/>
                        </a:spcAft>
                      </a:pPr>
                      <a:r>
                        <a:rPr lang="en-US" sz="900" kern="0">
                          <a:effectLst/>
                        </a:rPr>
                        <a:t>N/A</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nSpc>
                          <a:spcPct val="107000"/>
                        </a:lnSpc>
                        <a:spcAft>
                          <a:spcPts val="800"/>
                        </a:spcAft>
                      </a:pPr>
                      <a:r>
                        <a:rPr lang="en-US" sz="900" kern="0">
                          <a:effectLst/>
                        </a:rPr>
                        <a:t>TRUE</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extLst>
                  <a:ext uri="{0D108BD9-81ED-4DB2-BD59-A6C34878D82A}">
                    <a16:rowId xmlns:a16="http://schemas.microsoft.com/office/drawing/2014/main" val="1291058799"/>
                  </a:ext>
                </a:extLst>
              </a:tr>
              <a:tr h="1028757">
                <a:tc>
                  <a:txBody>
                    <a:bodyPr/>
                    <a:lstStyle/>
                    <a:p>
                      <a:pPr marL="0" marR="0">
                        <a:lnSpc>
                          <a:spcPct val="107000"/>
                        </a:lnSpc>
                        <a:spcAft>
                          <a:spcPts val="800"/>
                        </a:spcAft>
                      </a:pPr>
                      <a:r>
                        <a:rPr lang="en-US" sz="900" kern="0">
                          <a:effectLst/>
                        </a:rPr>
                        <a:t>canManageInventory</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nSpc>
                          <a:spcPct val="107000"/>
                        </a:lnSpc>
                        <a:spcAft>
                          <a:spcPts val="800"/>
                        </a:spcAft>
                      </a:pPr>
                      <a:r>
                        <a:rPr lang="en-US" sz="900" kern="0">
                          <a:effectLst/>
                        </a:rPr>
                        <a:t>Can manage inventory</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nSpc>
                          <a:spcPct val="107000"/>
                        </a:lnSpc>
                        <a:spcAft>
                          <a:spcPts val="800"/>
                        </a:spcAft>
                      </a:pPr>
                      <a:r>
                        <a:rPr lang="en-US" sz="900" kern="0">
                          <a:effectLst/>
                        </a:rPr>
                        <a:t>BOOLEAN</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nSpc>
                          <a:spcPct val="107000"/>
                        </a:lnSpc>
                        <a:spcAft>
                          <a:spcPts val="800"/>
                        </a:spcAft>
                      </a:pPr>
                      <a:r>
                        <a:rPr lang="en-US" sz="900" kern="0">
                          <a:effectLst/>
                        </a:rPr>
                        <a:t>TRUE/FALSE</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nSpc>
                          <a:spcPct val="107000"/>
                        </a:lnSpc>
                        <a:spcAft>
                          <a:spcPts val="800"/>
                        </a:spcAft>
                      </a:pPr>
                      <a:r>
                        <a:rPr lang="en-US" sz="900" kern="0">
                          <a:effectLst/>
                        </a:rPr>
                        <a:t>N/A</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nSpc>
                          <a:spcPct val="107000"/>
                        </a:lnSpc>
                        <a:spcAft>
                          <a:spcPts val="800"/>
                        </a:spcAft>
                      </a:pPr>
                      <a:r>
                        <a:rPr lang="en-US" sz="900" kern="0">
                          <a:effectLst/>
                        </a:rPr>
                        <a:t>Y</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nSpc>
                          <a:spcPct val="107000"/>
                        </a:lnSpc>
                        <a:spcAft>
                          <a:spcPts val="800"/>
                        </a:spcAft>
                      </a:pPr>
                      <a:r>
                        <a:rPr lang="en-US" sz="900" kern="0">
                          <a:effectLst/>
                        </a:rPr>
                        <a:t>N/A</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nSpc>
                          <a:spcPct val="107000"/>
                        </a:lnSpc>
                        <a:spcAft>
                          <a:spcPts val="800"/>
                        </a:spcAft>
                      </a:pPr>
                      <a:r>
                        <a:rPr lang="en-US" sz="900" kern="0">
                          <a:effectLst/>
                        </a:rPr>
                        <a:t>N/A</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nSpc>
                          <a:spcPct val="107000"/>
                        </a:lnSpc>
                        <a:spcAft>
                          <a:spcPts val="800"/>
                        </a:spcAft>
                      </a:pPr>
                      <a:r>
                        <a:rPr lang="en-US" sz="900" kern="0">
                          <a:effectLst/>
                        </a:rPr>
                        <a:t>TRUE</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extLst>
                  <a:ext uri="{0D108BD9-81ED-4DB2-BD59-A6C34878D82A}">
                    <a16:rowId xmlns:a16="http://schemas.microsoft.com/office/drawing/2014/main" val="3690306927"/>
                  </a:ext>
                </a:extLst>
              </a:tr>
              <a:tr h="536631">
                <a:tc>
                  <a:txBody>
                    <a:bodyPr/>
                    <a:lstStyle/>
                    <a:p>
                      <a:pPr marL="0" marR="0">
                        <a:lnSpc>
                          <a:spcPct val="107000"/>
                        </a:lnSpc>
                        <a:spcAft>
                          <a:spcPts val="800"/>
                        </a:spcAft>
                      </a:pPr>
                      <a:r>
                        <a:rPr lang="en-US" sz="900" kern="0" dirty="0" err="1">
                          <a:effectLst/>
                        </a:rPr>
                        <a:t>canScheduleEvents</a:t>
                      </a:r>
                      <a:endParaRPr lang="en-US" sz="1100" kern="100" dirty="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nSpc>
                          <a:spcPct val="107000"/>
                        </a:lnSpc>
                        <a:spcAft>
                          <a:spcPts val="800"/>
                        </a:spcAft>
                      </a:pPr>
                      <a:r>
                        <a:rPr lang="en-US" sz="900" kern="0">
                          <a:effectLst/>
                        </a:rPr>
                        <a:t>Can schedule events</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nSpc>
                          <a:spcPct val="107000"/>
                        </a:lnSpc>
                        <a:spcAft>
                          <a:spcPts val="800"/>
                        </a:spcAft>
                      </a:pPr>
                      <a:r>
                        <a:rPr lang="en-US" sz="900" kern="0" dirty="0">
                          <a:effectLst/>
                        </a:rPr>
                        <a:t>BOOLEAN</a:t>
                      </a:r>
                      <a:endParaRPr lang="en-US" sz="1100" kern="100" dirty="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nSpc>
                          <a:spcPct val="107000"/>
                        </a:lnSpc>
                        <a:spcAft>
                          <a:spcPts val="800"/>
                        </a:spcAft>
                      </a:pPr>
                      <a:r>
                        <a:rPr lang="en-US" sz="900" kern="0">
                          <a:effectLst/>
                        </a:rPr>
                        <a:t>TRUE/FALSE</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nSpc>
                          <a:spcPct val="107000"/>
                        </a:lnSpc>
                        <a:spcAft>
                          <a:spcPts val="800"/>
                        </a:spcAft>
                      </a:pPr>
                      <a:r>
                        <a:rPr lang="en-US" sz="900" kern="0">
                          <a:effectLst/>
                        </a:rPr>
                        <a:t>N/A</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nSpc>
                          <a:spcPct val="107000"/>
                        </a:lnSpc>
                        <a:spcAft>
                          <a:spcPts val="800"/>
                        </a:spcAft>
                      </a:pPr>
                      <a:r>
                        <a:rPr lang="en-US" sz="900" kern="0">
                          <a:effectLst/>
                        </a:rPr>
                        <a:t>Y</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nSpc>
                          <a:spcPct val="107000"/>
                        </a:lnSpc>
                        <a:spcAft>
                          <a:spcPts val="800"/>
                        </a:spcAft>
                      </a:pPr>
                      <a:r>
                        <a:rPr lang="en-US" sz="900" kern="0">
                          <a:effectLst/>
                        </a:rPr>
                        <a:t>N/A</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nSpc>
                          <a:spcPct val="107000"/>
                        </a:lnSpc>
                        <a:spcAft>
                          <a:spcPts val="800"/>
                        </a:spcAft>
                      </a:pPr>
                      <a:r>
                        <a:rPr lang="en-US" sz="900" kern="0">
                          <a:effectLst/>
                        </a:rPr>
                        <a:t>N/A</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nSpc>
                          <a:spcPct val="107000"/>
                        </a:lnSpc>
                        <a:spcAft>
                          <a:spcPts val="800"/>
                        </a:spcAft>
                      </a:pPr>
                      <a:r>
                        <a:rPr lang="en-US" sz="900" kern="0" dirty="0">
                          <a:effectLst/>
                        </a:rPr>
                        <a:t>TRUE</a:t>
                      </a:r>
                      <a:endParaRPr lang="en-US" sz="1100" kern="100" dirty="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extLst>
                  <a:ext uri="{0D108BD9-81ED-4DB2-BD59-A6C34878D82A}">
                    <a16:rowId xmlns:a16="http://schemas.microsoft.com/office/drawing/2014/main" val="2250963404"/>
                  </a:ext>
                </a:extLst>
              </a:tr>
            </a:tbl>
          </a:graphicData>
        </a:graphic>
      </p:graphicFrame>
    </p:spTree>
    <p:extLst>
      <p:ext uri="{BB962C8B-B14F-4D97-AF65-F5344CB8AC3E}">
        <p14:creationId xmlns:p14="http://schemas.microsoft.com/office/powerpoint/2010/main" val="141151800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D40BD3A-187E-C649-56E0-07C1D2A85B37}"/>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B0F1487-4F23-6FB6-F34C-52390ADDC1CE}"/>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6397B47-7CC2-EED7-EF64-80AB4973BD48}"/>
              </a:ext>
            </a:extLst>
          </p:cNvPr>
          <p:cNvSpPr>
            <a:spLocks noGrp="1"/>
          </p:cNvSpPr>
          <p:nvPr>
            <p:ph type="title"/>
          </p:nvPr>
        </p:nvSpPr>
        <p:spPr>
          <a:xfrm>
            <a:off x="149290" y="111966"/>
            <a:ext cx="10366310" cy="699021"/>
          </a:xfrm>
        </p:spPr>
        <p:txBody>
          <a:bodyPr anchor="ctr">
            <a:normAutofit/>
          </a:bodyPr>
          <a:lstStyle/>
          <a:p>
            <a:r>
              <a:rPr lang="en-US" sz="4000" dirty="0">
                <a:gradFill flip="none" rotWithShape="1">
                  <a:gsLst>
                    <a:gs pos="0">
                      <a:schemeClr val="accent5">
                        <a:alpha val="70000"/>
                      </a:schemeClr>
                    </a:gs>
                    <a:gs pos="100000">
                      <a:schemeClr val="accent1">
                        <a:alpha val="70000"/>
                      </a:schemeClr>
                    </a:gs>
                  </a:gsLst>
                  <a:lin ang="0" scaled="1"/>
                  <a:tileRect/>
                </a:gradFill>
                <a:latin typeface="Times New Roman" panose="02020603050405020304" pitchFamily="18" charset="0"/>
                <a:cs typeface="Times New Roman" panose="02020603050405020304" pitchFamily="18" charset="0"/>
              </a:rPr>
              <a:t>Data Dictionary – Events Table</a:t>
            </a:r>
          </a:p>
        </p:txBody>
      </p:sp>
      <p:graphicFrame>
        <p:nvGraphicFramePr>
          <p:cNvPr id="6" name="Table 5">
            <a:extLst>
              <a:ext uri="{FF2B5EF4-FFF2-40B4-BE49-F238E27FC236}">
                <a16:creationId xmlns:a16="http://schemas.microsoft.com/office/drawing/2014/main" id="{035AC6F1-F78C-C1BF-DAFF-79448F8495A0}"/>
              </a:ext>
            </a:extLst>
          </p:cNvPr>
          <p:cNvGraphicFramePr>
            <a:graphicFrameLocks noGrp="1"/>
          </p:cNvGraphicFramePr>
          <p:nvPr>
            <p:extLst>
              <p:ext uri="{D42A27DB-BD31-4B8C-83A1-F6EECF244321}">
                <p14:modId xmlns:p14="http://schemas.microsoft.com/office/powerpoint/2010/main" val="449696938"/>
              </p:ext>
            </p:extLst>
          </p:nvPr>
        </p:nvGraphicFramePr>
        <p:xfrm>
          <a:off x="58347" y="810987"/>
          <a:ext cx="12072258" cy="5921826"/>
        </p:xfrm>
        <a:graphic>
          <a:graphicData uri="http://schemas.openxmlformats.org/drawingml/2006/table">
            <a:tbl>
              <a:tblPr firstRow="1" firstCol="1" bandRow="1">
                <a:tableStyleId>{5C22544A-7EE6-4342-B048-85BDC9FD1C3A}</a:tableStyleId>
              </a:tblPr>
              <a:tblGrid>
                <a:gridCol w="1449671">
                  <a:extLst>
                    <a:ext uri="{9D8B030D-6E8A-4147-A177-3AD203B41FA5}">
                      <a16:colId xmlns:a16="http://schemas.microsoft.com/office/drawing/2014/main" val="1470539810"/>
                    </a:ext>
                  </a:extLst>
                </a:gridCol>
                <a:gridCol w="1233053">
                  <a:extLst>
                    <a:ext uri="{9D8B030D-6E8A-4147-A177-3AD203B41FA5}">
                      <a16:colId xmlns:a16="http://schemas.microsoft.com/office/drawing/2014/main" val="3673040364"/>
                    </a:ext>
                  </a:extLst>
                </a:gridCol>
                <a:gridCol w="1341362">
                  <a:extLst>
                    <a:ext uri="{9D8B030D-6E8A-4147-A177-3AD203B41FA5}">
                      <a16:colId xmlns:a16="http://schemas.microsoft.com/office/drawing/2014/main" val="2240503717"/>
                    </a:ext>
                  </a:extLst>
                </a:gridCol>
                <a:gridCol w="1341362">
                  <a:extLst>
                    <a:ext uri="{9D8B030D-6E8A-4147-A177-3AD203B41FA5}">
                      <a16:colId xmlns:a16="http://schemas.microsoft.com/office/drawing/2014/main" val="3587125463"/>
                    </a:ext>
                  </a:extLst>
                </a:gridCol>
                <a:gridCol w="1341362">
                  <a:extLst>
                    <a:ext uri="{9D8B030D-6E8A-4147-A177-3AD203B41FA5}">
                      <a16:colId xmlns:a16="http://schemas.microsoft.com/office/drawing/2014/main" val="1908067095"/>
                    </a:ext>
                  </a:extLst>
                </a:gridCol>
                <a:gridCol w="1341362">
                  <a:extLst>
                    <a:ext uri="{9D8B030D-6E8A-4147-A177-3AD203B41FA5}">
                      <a16:colId xmlns:a16="http://schemas.microsoft.com/office/drawing/2014/main" val="3971104014"/>
                    </a:ext>
                  </a:extLst>
                </a:gridCol>
                <a:gridCol w="1341362">
                  <a:extLst>
                    <a:ext uri="{9D8B030D-6E8A-4147-A177-3AD203B41FA5}">
                      <a16:colId xmlns:a16="http://schemas.microsoft.com/office/drawing/2014/main" val="3089857651"/>
                    </a:ext>
                  </a:extLst>
                </a:gridCol>
                <a:gridCol w="1341362">
                  <a:extLst>
                    <a:ext uri="{9D8B030D-6E8A-4147-A177-3AD203B41FA5}">
                      <a16:colId xmlns:a16="http://schemas.microsoft.com/office/drawing/2014/main" val="4043592638"/>
                    </a:ext>
                  </a:extLst>
                </a:gridCol>
                <a:gridCol w="1341362">
                  <a:extLst>
                    <a:ext uri="{9D8B030D-6E8A-4147-A177-3AD203B41FA5}">
                      <a16:colId xmlns:a16="http://schemas.microsoft.com/office/drawing/2014/main" val="1441748476"/>
                    </a:ext>
                  </a:extLst>
                </a:gridCol>
              </a:tblGrid>
              <a:tr h="408334">
                <a:tc>
                  <a:txBody>
                    <a:bodyPr/>
                    <a:lstStyle/>
                    <a:p>
                      <a:pPr marL="0" marR="0" algn="ctr">
                        <a:lnSpc>
                          <a:spcPct val="107000"/>
                        </a:lnSpc>
                        <a:spcAft>
                          <a:spcPts val="800"/>
                        </a:spcAft>
                      </a:pPr>
                      <a:r>
                        <a:rPr lang="en-US" sz="900" kern="0">
                          <a:effectLst/>
                        </a:rPr>
                        <a:t>Attribute Name</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ctr">
                        <a:lnSpc>
                          <a:spcPct val="107000"/>
                        </a:lnSpc>
                        <a:spcAft>
                          <a:spcPts val="800"/>
                        </a:spcAft>
                      </a:pPr>
                      <a:r>
                        <a:rPr lang="en-US" sz="900" kern="0">
                          <a:effectLst/>
                        </a:rPr>
                        <a:t>Contents</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ctr">
                        <a:lnSpc>
                          <a:spcPct val="107000"/>
                        </a:lnSpc>
                        <a:spcAft>
                          <a:spcPts val="800"/>
                        </a:spcAft>
                      </a:pPr>
                      <a:r>
                        <a:rPr lang="en-US" sz="900" kern="0">
                          <a:effectLst/>
                        </a:rPr>
                        <a:t>Data Type</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ctr">
                        <a:lnSpc>
                          <a:spcPct val="107000"/>
                        </a:lnSpc>
                        <a:spcAft>
                          <a:spcPts val="800"/>
                        </a:spcAft>
                      </a:pPr>
                      <a:r>
                        <a:rPr lang="en-US" sz="900" kern="0">
                          <a:effectLst/>
                        </a:rPr>
                        <a:t>Format</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ctr">
                        <a:lnSpc>
                          <a:spcPct val="107000"/>
                        </a:lnSpc>
                        <a:spcAft>
                          <a:spcPts val="800"/>
                        </a:spcAft>
                      </a:pPr>
                      <a:r>
                        <a:rPr lang="en-US" sz="900" kern="0">
                          <a:effectLst/>
                        </a:rPr>
                        <a:t>Range</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ctr">
                        <a:lnSpc>
                          <a:spcPct val="107000"/>
                        </a:lnSpc>
                        <a:spcAft>
                          <a:spcPts val="800"/>
                        </a:spcAft>
                      </a:pPr>
                      <a:r>
                        <a:rPr lang="en-US" sz="900" kern="0">
                          <a:effectLst/>
                        </a:rPr>
                        <a:t>Required</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ctr">
                        <a:lnSpc>
                          <a:spcPct val="107000"/>
                        </a:lnSpc>
                        <a:spcAft>
                          <a:spcPts val="800"/>
                        </a:spcAft>
                      </a:pPr>
                      <a:r>
                        <a:rPr lang="en-US" sz="900" kern="0" dirty="0">
                          <a:effectLst/>
                        </a:rPr>
                        <a:t>PK or FK</a:t>
                      </a:r>
                      <a:endParaRPr lang="en-US" sz="1100" kern="100" dirty="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ctr">
                        <a:lnSpc>
                          <a:spcPct val="107000"/>
                        </a:lnSpc>
                        <a:spcAft>
                          <a:spcPts val="800"/>
                        </a:spcAft>
                      </a:pPr>
                      <a:r>
                        <a:rPr lang="en-US" sz="900" kern="0">
                          <a:effectLst/>
                        </a:rPr>
                        <a:t>FK Reference</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ctr">
                        <a:lnSpc>
                          <a:spcPct val="107000"/>
                        </a:lnSpc>
                        <a:spcAft>
                          <a:spcPts val="800"/>
                        </a:spcAft>
                      </a:pPr>
                      <a:r>
                        <a:rPr lang="en-US" sz="900" kern="0">
                          <a:effectLst/>
                        </a:rPr>
                        <a:t>Sample Data</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extLst>
                  <a:ext uri="{0D108BD9-81ED-4DB2-BD59-A6C34878D82A}">
                    <a16:rowId xmlns:a16="http://schemas.microsoft.com/office/drawing/2014/main" val="1122982003"/>
                  </a:ext>
                </a:extLst>
              </a:tr>
              <a:tr h="782804">
                <a:tc>
                  <a:txBody>
                    <a:bodyPr/>
                    <a:lstStyle/>
                    <a:p>
                      <a:pPr marL="0" marR="0">
                        <a:lnSpc>
                          <a:spcPct val="107000"/>
                        </a:lnSpc>
                        <a:spcAft>
                          <a:spcPts val="800"/>
                        </a:spcAft>
                      </a:pPr>
                      <a:r>
                        <a:rPr lang="en-US" sz="900" kern="0" dirty="0" err="1">
                          <a:effectLst/>
                        </a:rPr>
                        <a:t>eventID</a:t>
                      </a:r>
                      <a:endParaRPr lang="en-US" sz="1100" kern="100" dirty="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nSpc>
                          <a:spcPct val="107000"/>
                        </a:lnSpc>
                        <a:spcAft>
                          <a:spcPts val="800"/>
                        </a:spcAft>
                      </a:pPr>
                      <a:r>
                        <a:rPr lang="en-US" sz="900" kern="0">
                          <a:effectLst/>
                        </a:rPr>
                        <a:t>Unique identifier for the event</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nSpc>
                          <a:spcPct val="107000"/>
                        </a:lnSpc>
                        <a:spcAft>
                          <a:spcPts val="800"/>
                        </a:spcAft>
                      </a:pPr>
                      <a:r>
                        <a:rPr lang="en-US" sz="900" kern="0">
                          <a:effectLst/>
                        </a:rPr>
                        <a:t>INT</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nSpc>
                          <a:spcPct val="107000"/>
                        </a:lnSpc>
                        <a:spcAft>
                          <a:spcPts val="800"/>
                        </a:spcAft>
                      </a:pPr>
                      <a:r>
                        <a:rPr lang="en-US" sz="900" kern="0">
                          <a:effectLst/>
                        </a:rPr>
                        <a:t>N/A</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nSpc>
                          <a:spcPct val="107000"/>
                        </a:lnSpc>
                        <a:spcAft>
                          <a:spcPts val="800"/>
                        </a:spcAft>
                      </a:pPr>
                      <a:r>
                        <a:rPr lang="en-US" sz="900" kern="0">
                          <a:effectLst/>
                        </a:rPr>
                        <a:t>N/A</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nSpc>
                          <a:spcPct val="107000"/>
                        </a:lnSpc>
                        <a:spcAft>
                          <a:spcPts val="800"/>
                        </a:spcAft>
                      </a:pPr>
                      <a:r>
                        <a:rPr lang="en-US" sz="900" kern="0">
                          <a:effectLst/>
                        </a:rPr>
                        <a:t>Y</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nSpc>
                          <a:spcPct val="107000"/>
                        </a:lnSpc>
                        <a:spcAft>
                          <a:spcPts val="800"/>
                        </a:spcAft>
                      </a:pPr>
                      <a:r>
                        <a:rPr lang="en-US" sz="900" kern="0">
                          <a:effectLst/>
                        </a:rPr>
                        <a:t>PK</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nSpc>
                          <a:spcPct val="107000"/>
                        </a:lnSpc>
                        <a:spcAft>
                          <a:spcPts val="800"/>
                        </a:spcAft>
                      </a:pPr>
                      <a:r>
                        <a:rPr lang="en-US" sz="900" kern="0">
                          <a:effectLst/>
                        </a:rPr>
                        <a:t>N/A</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nSpc>
                          <a:spcPct val="107000"/>
                        </a:lnSpc>
                        <a:spcAft>
                          <a:spcPts val="800"/>
                        </a:spcAft>
                      </a:pPr>
                      <a:r>
                        <a:rPr lang="en-US" sz="900" kern="0">
                          <a:effectLst/>
                        </a:rPr>
                        <a:t>101</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extLst>
                  <a:ext uri="{0D108BD9-81ED-4DB2-BD59-A6C34878D82A}">
                    <a16:rowId xmlns:a16="http://schemas.microsoft.com/office/drawing/2014/main" val="1321479321"/>
                  </a:ext>
                </a:extLst>
              </a:tr>
              <a:tr h="408334">
                <a:tc>
                  <a:txBody>
                    <a:bodyPr/>
                    <a:lstStyle/>
                    <a:p>
                      <a:pPr marL="0" marR="0">
                        <a:lnSpc>
                          <a:spcPct val="107000"/>
                        </a:lnSpc>
                        <a:spcAft>
                          <a:spcPts val="800"/>
                        </a:spcAft>
                      </a:pPr>
                      <a:r>
                        <a:rPr lang="en-US" sz="900" kern="0">
                          <a:effectLst/>
                        </a:rPr>
                        <a:t>eventName</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nSpc>
                          <a:spcPct val="107000"/>
                        </a:lnSpc>
                        <a:spcAft>
                          <a:spcPts val="800"/>
                        </a:spcAft>
                      </a:pPr>
                      <a:r>
                        <a:rPr lang="en-US" sz="900" kern="0">
                          <a:effectLst/>
                        </a:rPr>
                        <a:t>Name of the event</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nSpc>
                          <a:spcPct val="107000"/>
                        </a:lnSpc>
                        <a:spcAft>
                          <a:spcPts val="800"/>
                        </a:spcAft>
                      </a:pPr>
                      <a:r>
                        <a:rPr lang="en-US" sz="900" kern="0">
                          <a:effectLst/>
                        </a:rPr>
                        <a:t>VARCHAR(100)</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nSpc>
                          <a:spcPct val="107000"/>
                        </a:lnSpc>
                        <a:spcAft>
                          <a:spcPts val="800"/>
                        </a:spcAft>
                      </a:pPr>
                      <a:r>
                        <a:rPr lang="en-US" sz="900" kern="0">
                          <a:effectLst/>
                        </a:rPr>
                        <a:t>Xxxxxxxxxxx</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nSpc>
                          <a:spcPct val="107000"/>
                        </a:lnSpc>
                        <a:spcAft>
                          <a:spcPts val="800"/>
                        </a:spcAft>
                      </a:pPr>
                      <a:r>
                        <a:rPr lang="en-US" sz="900" kern="0">
                          <a:effectLst/>
                        </a:rPr>
                        <a:t>N/A</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nSpc>
                          <a:spcPct val="107000"/>
                        </a:lnSpc>
                        <a:spcAft>
                          <a:spcPts val="800"/>
                        </a:spcAft>
                      </a:pPr>
                      <a:r>
                        <a:rPr lang="en-US" sz="900" kern="0">
                          <a:effectLst/>
                        </a:rPr>
                        <a:t>Y</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nSpc>
                          <a:spcPct val="107000"/>
                        </a:lnSpc>
                        <a:spcAft>
                          <a:spcPts val="800"/>
                        </a:spcAft>
                      </a:pPr>
                      <a:r>
                        <a:rPr lang="en-US" sz="900" kern="0">
                          <a:effectLst/>
                        </a:rPr>
                        <a:t>N/A</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nSpc>
                          <a:spcPct val="107000"/>
                        </a:lnSpc>
                        <a:spcAft>
                          <a:spcPts val="800"/>
                        </a:spcAft>
                      </a:pPr>
                      <a:r>
                        <a:rPr lang="en-US" sz="900" kern="0">
                          <a:effectLst/>
                        </a:rPr>
                        <a:t>N/A</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nSpc>
                          <a:spcPct val="107000"/>
                        </a:lnSpc>
                        <a:spcAft>
                          <a:spcPts val="800"/>
                        </a:spcAft>
                      </a:pPr>
                      <a:r>
                        <a:rPr lang="en-US" sz="900" kern="0">
                          <a:effectLst/>
                        </a:rPr>
                        <a:t>Annual Gala</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extLst>
                  <a:ext uri="{0D108BD9-81ED-4DB2-BD59-A6C34878D82A}">
                    <a16:rowId xmlns:a16="http://schemas.microsoft.com/office/drawing/2014/main" val="1525476844"/>
                  </a:ext>
                </a:extLst>
              </a:tr>
              <a:tr h="408334">
                <a:tc>
                  <a:txBody>
                    <a:bodyPr/>
                    <a:lstStyle/>
                    <a:p>
                      <a:pPr marL="0" marR="0">
                        <a:lnSpc>
                          <a:spcPct val="107000"/>
                        </a:lnSpc>
                        <a:spcAft>
                          <a:spcPts val="800"/>
                        </a:spcAft>
                      </a:pPr>
                      <a:r>
                        <a:rPr lang="en-US" sz="900" kern="0">
                          <a:effectLst/>
                        </a:rPr>
                        <a:t>locationID</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nSpc>
                          <a:spcPct val="107000"/>
                        </a:lnSpc>
                        <a:spcAft>
                          <a:spcPts val="800"/>
                        </a:spcAft>
                      </a:pPr>
                      <a:r>
                        <a:rPr lang="en-US" sz="900" kern="0">
                          <a:effectLst/>
                        </a:rPr>
                        <a:t>Location of the event</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nSpc>
                          <a:spcPct val="107000"/>
                        </a:lnSpc>
                        <a:spcAft>
                          <a:spcPts val="800"/>
                        </a:spcAft>
                      </a:pPr>
                      <a:r>
                        <a:rPr lang="en-US" sz="900" kern="0">
                          <a:effectLst/>
                        </a:rPr>
                        <a:t>INT</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nSpc>
                          <a:spcPct val="107000"/>
                        </a:lnSpc>
                        <a:spcAft>
                          <a:spcPts val="800"/>
                        </a:spcAft>
                      </a:pPr>
                      <a:r>
                        <a:rPr lang="en-US" sz="900" kern="0">
                          <a:effectLst/>
                        </a:rPr>
                        <a:t>N/A</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nSpc>
                          <a:spcPct val="107000"/>
                        </a:lnSpc>
                        <a:spcAft>
                          <a:spcPts val="800"/>
                        </a:spcAft>
                      </a:pPr>
                      <a:r>
                        <a:rPr lang="en-US" sz="900" kern="0">
                          <a:effectLst/>
                        </a:rPr>
                        <a:t>N/A</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nSpc>
                          <a:spcPct val="107000"/>
                        </a:lnSpc>
                        <a:spcAft>
                          <a:spcPts val="800"/>
                        </a:spcAft>
                      </a:pPr>
                      <a:r>
                        <a:rPr lang="en-US" sz="900" kern="0">
                          <a:effectLst/>
                        </a:rPr>
                        <a:t>Y</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nSpc>
                          <a:spcPct val="107000"/>
                        </a:lnSpc>
                        <a:spcAft>
                          <a:spcPts val="800"/>
                        </a:spcAft>
                      </a:pPr>
                      <a:r>
                        <a:rPr lang="en-US" sz="900" kern="0">
                          <a:effectLst/>
                        </a:rPr>
                        <a:t>FK</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nSpc>
                          <a:spcPct val="107000"/>
                        </a:lnSpc>
                        <a:spcAft>
                          <a:spcPts val="800"/>
                        </a:spcAft>
                      </a:pPr>
                      <a:r>
                        <a:rPr lang="en-US" sz="900" kern="0">
                          <a:effectLst/>
                        </a:rPr>
                        <a:t>Location(locationID)</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nSpc>
                          <a:spcPct val="107000"/>
                        </a:lnSpc>
                        <a:spcAft>
                          <a:spcPts val="800"/>
                        </a:spcAft>
                      </a:pPr>
                      <a:r>
                        <a:rPr lang="en-US" sz="900" kern="0">
                          <a:effectLst/>
                        </a:rPr>
                        <a:t>1</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extLst>
                  <a:ext uri="{0D108BD9-81ED-4DB2-BD59-A6C34878D82A}">
                    <a16:rowId xmlns:a16="http://schemas.microsoft.com/office/drawing/2014/main" val="3984710750"/>
                  </a:ext>
                </a:extLst>
              </a:tr>
              <a:tr h="782804">
                <a:tc>
                  <a:txBody>
                    <a:bodyPr/>
                    <a:lstStyle/>
                    <a:p>
                      <a:pPr marL="0" marR="0">
                        <a:lnSpc>
                          <a:spcPct val="107000"/>
                        </a:lnSpc>
                        <a:spcAft>
                          <a:spcPts val="800"/>
                        </a:spcAft>
                      </a:pPr>
                      <a:r>
                        <a:rPr lang="en-US" sz="900" kern="0">
                          <a:effectLst/>
                        </a:rPr>
                        <a:t>eventTime</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nSpc>
                          <a:spcPct val="107000"/>
                        </a:lnSpc>
                        <a:spcAft>
                          <a:spcPts val="800"/>
                        </a:spcAft>
                      </a:pPr>
                      <a:r>
                        <a:rPr lang="en-US" sz="900" kern="0">
                          <a:effectLst/>
                        </a:rPr>
                        <a:t>Date and time of the event</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nSpc>
                          <a:spcPct val="107000"/>
                        </a:lnSpc>
                        <a:spcAft>
                          <a:spcPts val="800"/>
                        </a:spcAft>
                      </a:pPr>
                      <a:r>
                        <a:rPr lang="en-US" sz="900" kern="0">
                          <a:effectLst/>
                        </a:rPr>
                        <a:t>DATETIME</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nSpc>
                          <a:spcPct val="107000"/>
                        </a:lnSpc>
                        <a:spcAft>
                          <a:spcPts val="800"/>
                        </a:spcAft>
                      </a:pPr>
                      <a:r>
                        <a:rPr lang="en-US" sz="900" kern="0">
                          <a:effectLst/>
                        </a:rPr>
                        <a:t>YYYY-MM-DD HH:MM</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nSpc>
                          <a:spcPct val="107000"/>
                        </a:lnSpc>
                        <a:spcAft>
                          <a:spcPts val="800"/>
                        </a:spcAft>
                      </a:pPr>
                      <a:r>
                        <a:rPr lang="en-US" sz="900" kern="0">
                          <a:effectLst/>
                        </a:rPr>
                        <a:t>N/A</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nSpc>
                          <a:spcPct val="107000"/>
                        </a:lnSpc>
                        <a:spcAft>
                          <a:spcPts val="800"/>
                        </a:spcAft>
                      </a:pPr>
                      <a:r>
                        <a:rPr lang="en-US" sz="900" kern="0">
                          <a:effectLst/>
                        </a:rPr>
                        <a:t>Y</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nSpc>
                          <a:spcPct val="107000"/>
                        </a:lnSpc>
                        <a:spcAft>
                          <a:spcPts val="800"/>
                        </a:spcAft>
                      </a:pPr>
                      <a:r>
                        <a:rPr lang="en-US" sz="900" kern="0">
                          <a:effectLst/>
                        </a:rPr>
                        <a:t>N/A</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nSpc>
                          <a:spcPct val="107000"/>
                        </a:lnSpc>
                        <a:spcAft>
                          <a:spcPts val="800"/>
                        </a:spcAft>
                      </a:pPr>
                      <a:r>
                        <a:rPr lang="en-US" sz="900" kern="0">
                          <a:effectLst/>
                        </a:rPr>
                        <a:t>N/A</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nSpc>
                          <a:spcPct val="107000"/>
                        </a:lnSpc>
                        <a:spcAft>
                          <a:spcPts val="800"/>
                        </a:spcAft>
                      </a:pPr>
                      <a:r>
                        <a:rPr lang="en-US" sz="900" kern="0">
                          <a:effectLst/>
                        </a:rPr>
                        <a:t>2024-12-01 18:00</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extLst>
                  <a:ext uri="{0D108BD9-81ED-4DB2-BD59-A6C34878D82A}">
                    <a16:rowId xmlns:a16="http://schemas.microsoft.com/office/drawing/2014/main" val="3041997985"/>
                  </a:ext>
                </a:extLst>
              </a:tr>
              <a:tr h="782804">
                <a:tc>
                  <a:txBody>
                    <a:bodyPr/>
                    <a:lstStyle/>
                    <a:p>
                      <a:pPr marL="0" marR="0">
                        <a:lnSpc>
                          <a:spcPct val="107000"/>
                        </a:lnSpc>
                        <a:spcAft>
                          <a:spcPts val="800"/>
                        </a:spcAft>
                      </a:pPr>
                      <a:r>
                        <a:rPr lang="en-US" sz="900" kern="0">
                          <a:effectLst/>
                        </a:rPr>
                        <a:t>eventHours</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nSpc>
                          <a:spcPct val="107000"/>
                        </a:lnSpc>
                        <a:spcAft>
                          <a:spcPts val="800"/>
                        </a:spcAft>
                      </a:pPr>
                      <a:r>
                        <a:rPr lang="en-US" sz="900" kern="0">
                          <a:effectLst/>
                        </a:rPr>
                        <a:t>Total time of the event in hours</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nSpc>
                          <a:spcPct val="107000"/>
                        </a:lnSpc>
                        <a:spcAft>
                          <a:spcPts val="800"/>
                        </a:spcAft>
                      </a:pPr>
                      <a:r>
                        <a:rPr lang="en-US" sz="900" kern="0">
                          <a:effectLst/>
                        </a:rPr>
                        <a:t>INT</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nSpc>
                          <a:spcPct val="107000"/>
                        </a:lnSpc>
                        <a:spcAft>
                          <a:spcPts val="800"/>
                        </a:spcAft>
                      </a:pPr>
                      <a:r>
                        <a:rPr lang="en-US" sz="900" kern="0">
                          <a:effectLst/>
                        </a:rPr>
                        <a:t>N/A</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nSpc>
                          <a:spcPct val="107000"/>
                        </a:lnSpc>
                        <a:spcAft>
                          <a:spcPts val="800"/>
                        </a:spcAft>
                      </a:pPr>
                      <a:r>
                        <a:rPr lang="en-US" sz="900" kern="0">
                          <a:effectLst/>
                        </a:rPr>
                        <a:t>0 - 8</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nSpc>
                          <a:spcPct val="107000"/>
                        </a:lnSpc>
                        <a:spcAft>
                          <a:spcPts val="800"/>
                        </a:spcAft>
                      </a:pPr>
                      <a:r>
                        <a:rPr lang="en-US" sz="900" kern="0">
                          <a:effectLst/>
                        </a:rPr>
                        <a:t>Y</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nSpc>
                          <a:spcPct val="107000"/>
                        </a:lnSpc>
                        <a:spcAft>
                          <a:spcPts val="800"/>
                        </a:spcAft>
                      </a:pPr>
                      <a:r>
                        <a:rPr lang="en-US" sz="900" kern="0">
                          <a:effectLst/>
                        </a:rPr>
                        <a:t>N/A</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nSpc>
                          <a:spcPct val="107000"/>
                        </a:lnSpc>
                        <a:spcAft>
                          <a:spcPts val="800"/>
                        </a:spcAft>
                      </a:pPr>
                      <a:r>
                        <a:rPr lang="en-US" sz="900" kern="0">
                          <a:effectLst/>
                        </a:rPr>
                        <a:t>N/A</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nSpc>
                          <a:spcPct val="107000"/>
                        </a:lnSpc>
                        <a:spcAft>
                          <a:spcPts val="800"/>
                        </a:spcAft>
                      </a:pPr>
                      <a:r>
                        <a:rPr lang="en-US" sz="900" kern="0">
                          <a:effectLst/>
                        </a:rPr>
                        <a:t>5</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extLst>
                  <a:ext uri="{0D108BD9-81ED-4DB2-BD59-A6C34878D82A}">
                    <a16:rowId xmlns:a16="http://schemas.microsoft.com/office/drawing/2014/main" val="998264984"/>
                  </a:ext>
                </a:extLst>
              </a:tr>
              <a:tr h="782804">
                <a:tc>
                  <a:txBody>
                    <a:bodyPr/>
                    <a:lstStyle/>
                    <a:p>
                      <a:pPr marL="0" marR="0">
                        <a:lnSpc>
                          <a:spcPct val="107000"/>
                        </a:lnSpc>
                        <a:spcAft>
                          <a:spcPts val="800"/>
                        </a:spcAft>
                      </a:pPr>
                      <a:r>
                        <a:rPr lang="en-US" sz="900" kern="0">
                          <a:effectLst/>
                        </a:rPr>
                        <a:t>handledByManagerID</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nSpc>
                          <a:spcPct val="107000"/>
                        </a:lnSpc>
                        <a:spcAft>
                          <a:spcPts val="800"/>
                        </a:spcAft>
                      </a:pPr>
                      <a:r>
                        <a:rPr lang="en-US" sz="900" kern="0">
                          <a:effectLst/>
                        </a:rPr>
                        <a:t>Manager handling the event</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nSpc>
                          <a:spcPct val="107000"/>
                        </a:lnSpc>
                        <a:spcAft>
                          <a:spcPts val="800"/>
                        </a:spcAft>
                      </a:pPr>
                      <a:r>
                        <a:rPr lang="en-US" sz="900" kern="0">
                          <a:effectLst/>
                        </a:rPr>
                        <a:t>INT</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nSpc>
                          <a:spcPct val="107000"/>
                        </a:lnSpc>
                        <a:spcAft>
                          <a:spcPts val="800"/>
                        </a:spcAft>
                      </a:pPr>
                      <a:r>
                        <a:rPr lang="en-US" sz="900" kern="0">
                          <a:effectLst/>
                        </a:rPr>
                        <a:t>N/A</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nSpc>
                          <a:spcPct val="107000"/>
                        </a:lnSpc>
                        <a:spcAft>
                          <a:spcPts val="800"/>
                        </a:spcAft>
                      </a:pPr>
                      <a:r>
                        <a:rPr lang="en-US" sz="900" kern="0">
                          <a:effectLst/>
                        </a:rPr>
                        <a:t>N/A</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nSpc>
                          <a:spcPct val="107000"/>
                        </a:lnSpc>
                        <a:spcAft>
                          <a:spcPts val="800"/>
                        </a:spcAft>
                      </a:pPr>
                      <a:r>
                        <a:rPr lang="en-US" sz="900" kern="0">
                          <a:effectLst/>
                        </a:rPr>
                        <a:t>N</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nSpc>
                          <a:spcPct val="107000"/>
                        </a:lnSpc>
                        <a:spcAft>
                          <a:spcPts val="800"/>
                        </a:spcAft>
                      </a:pPr>
                      <a:r>
                        <a:rPr lang="en-US" sz="900" kern="0">
                          <a:effectLst/>
                        </a:rPr>
                        <a:t>FK</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nSpc>
                          <a:spcPct val="107000"/>
                        </a:lnSpc>
                        <a:spcAft>
                          <a:spcPts val="800"/>
                        </a:spcAft>
                      </a:pPr>
                      <a:r>
                        <a:rPr lang="en-US" sz="900" kern="0">
                          <a:effectLst/>
                        </a:rPr>
                        <a:t>Employee(employeeID)</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nSpc>
                          <a:spcPct val="107000"/>
                        </a:lnSpc>
                        <a:spcAft>
                          <a:spcPts val="800"/>
                        </a:spcAft>
                      </a:pPr>
                      <a:r>
                        <a:rPr lang="en-US" sz="900" kern="0">
                          <a:effectLst/>
                        </a:rPr>
                        <a:t>1</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extLst>
                  <a:ext uri="{0D108BD9-81ED-4DB2-BD59-A6C34878D82A}">
                    <a16:rowId xmlns:a16="http://schemas.microsoft.com/office/drawing/2014/main" val="3450966696"/>
                  </a:ext>
                </a:extLst>
              </a:tr>
              <a:tr h="782804">
                <a:tc>
                  <a:txBody>
                    <a:bodyPr/>
                    <a:lstStyle/>
                    <a:p>
                      <a:pPr marL="0" marR="0">
                        <a:lnSpc>
                          <a:spcPct val="107000"/>
                        </a:lnSpc>
                        <a:spcAft>
                          <a:spcPts val="800"/>
                        </a:spcAft>
                      </a:pPr>
                      <a:r>
                        <a:rPr lang="en-US" sz="900" kern="0">
                          <a:effectLst/>
                        </a:rPr>
                        <a:t>supervisorID</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nSpc>
                          <a:spcPct val="107000"/>
                        </a:lnSpc>
                        <a:spcAft>
                          <a:spcPts val="800"/>
                        </a:spcAft>
                      </a:pPr>
                      <a:r>
                        <a:rPr lang="en-US" sz="900" kern="0">
                          <a:effectLst/>
                        </a:rPr>
                        <a:t>Supervisor of the event</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nSpc>
                          <a:spcPct val="107000"/>
                        </a:lnSpc>
                        <a:spcAft>
                          <a:spcPts val="800"/>
                        </a:spcAft>
                      </a:pPr>
                      <a:r>
                        <a:rPr lang="en-US" sz="900" kern="0">
                          <a:effectLst/>
                        </a:rPr>
                        <a:t>INT</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nSpc>
                          <a:spcPct val="107000"/>
                        </a:lnSpc>
                        <a:spcAft>
                          <a:spcPts val="800"/>
                        </a:spcAft>
                      </a:pPr>
                      <a:r>
                        <a:rPr lang="en-US" sz="900" kern="0">
                          <a:effectLst/>
                        </a:rPr>
                        <a:t>N/A</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nSpc>
                          <a:spcPct val="107000"/>
                        </a:lnSpc>
                        <a:spcAft>
                          <a:spcPts val="800"/>
                        </a:spcAft>
                      </a:pPr>
                      <a:r>
                        <a:rPr lang="en-US" sz="900" kern="0">
                          <a:effectLst/>
                        </a:rPr>
                        <a:t>N/A</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nSpc>
                          <a:spcPct val="107000"/>
                        </a:lnSpc>
                        <a:spcAft>
                          <a:spcPts val="800"/>
                        </a:spcAft>
                      </a:pPr>
                      <a:r>
                        <a:rPr lang="en-US" sz="900" kern="0">
                          <a:effectLst/>
                        </a:rPr>
                        <a:t>N</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nSpc>
                          <a:spcPct val="107000"/>
                        </a:lnSpc>
                        <a:spcAft>
                          <a:spcPts val="800"/>
                        </a:spcAft>
                      </a:pPr>
                      <a:r>
                        <a:rPr lang="en-US" sz="900" kern="0">
                          <a:effectLst/>
                        </a:rPr>
                        <a:t>FK</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nSpc>
                          <a:spcPct val="107000"/>
                        </a:lnSpc>
                        <a:spcAft>
                          <a:spcPts val="800"/>
                        </a:spcAft>
                      </a:pPr>
                      <a:r>
                        <a:rPr lang="en-US" sz="900" kern="0">
                          <a:effectLst/>
                        </a:rPr>
                        <a:t>Employee(employeeID)</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nSpc>
                          <a:spcPct val="107000"/>
                        </a:lnSpc>
                        <a:spcAft>
                          <a:spcPts val="800"/>
                        </a:spcAft>
                      </a:pPr>
                      <a:r>
                        <a:rPr lang="en-US" sz="900" kern="0">
                          <a:effectLst/>
                        </a:rPr>
                        <a:t>2</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extLst>
                  <a:ext uri="{0D108BD9-81ED-4DB2-BD59-A6C34878D82A}">
                    <a16:rowId xmlns:a16="http://schemas.microsoft.com/office/drawing/2014/main" val="3230326485"/>
                  </a:ext>
                </a:extLst>
              </a:tr>
              <a:tr h="782804">
                <a:tc>
                  <a:txBody>
                    <a:bodyPr/>
                    <a:lstStyle/>
                    <a:p>
                      <a:pPr marL="0" marR="0">
                        <a:lnSpc>
                          <a:spcPct val="107000"/>
                        </a:lnSpc>
                        <a:spcAft>
                          <a:spcPts val="800"/>
                        </a:spcAft>
                      </a:pPr>
                      <a:r>
                        <a:rPr lang="en-US" sz="900" kern="0">
                          <a:effectLst/>
                        </a:rPr>
                        <a:t>approved</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nSpc>
                          <a:spcPct val="107000"/>
                        </a:lnSpc>
                        <a:spcAft>
                          <a:spcPts val="800"/>
                        </a:spcAft>
                      </a:pPr>
                      <a:r>
                        <a:rPr lang="en-US" sz="900" kern="0">
                          <a:effectLst/>
                        </a:rPr>
                        <a:t>Approval status of the event</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nSpc>
                          <a:spcPct val="107000"/>
                        </a:lnSpc>
                        <a:spcAft>
                          <a:spcPts val="800"/>
                        </a:spcAft>
                      </a:pPr>
                      <a:r>
                        <a:rPr lang="en-US" sz="900" kern="0">
                          <a:effectLst/>
                        </a:rPr>
                        <a:t>VARCHAR(10)</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nSpc>
                          <a:spcPct val="107000"/>
                        </a:lnSpc>
                        <a:spcAft>
                          <a:spcPts val="800"/>
                        </a:spcAft>
                      </a:pPr>
                      <a:r>
                        <a:rPr lang="en-US" sz="900" kern="0">
                          <a:effectLst/>
                        </a:rPr>
                        <a:t>Yes/No</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nSpc>
                          <a:spcPct val="107000"/>
                        </a:lnSpc>
                        <a:spcAft>
                          <a:spcPts val="800"/>
                        </a:spcAft>
                      </a:pPr>
                      <a:r>
                        <a:rPr lang="en-US" sz="900" kern="0">
                          <a:effectLst/>
                        </a:rPr>
                        <a:t>N/A</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nSpc>
                          <a:spcPct val="107000"/>
                        </a:lnSpc>
                        <a:spcAft>
                          <a:spcPts val="800"/>
                        </a:spcAft>
                      </a:pPr>
                      <a:r>
                        <a:rPr lang="en-US" sz="900" kern="0">
                          <a:effectLst/>
                        </a:rPr>
                        <a:t>Y</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nSpc>
                          <a:spcPct val="107000"/>
                        </a:lnSpc>
                        <a:spcAft>
                          <a:spcPts val="800"/>
                        </a:spcAft>
                      </a:pPr>
                      <a:r>
                        <a:rPr lang="en-US" sz="900" kern="0">
                          <a:effectLst/>
                        </a:rPr>
                        <a:t>N/A</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nSpc>
                          <a:spcPct val="107000"/>
                        </a:lnSpc>
                        <a:spcAft>
                          <a:spcPts val="800"/>
                        </a:spcAft>
                      </a:pPr>
                      <a:r>
                        <a:rPr lang="en-US" sz="900" kern="0">
                          <a:effectLst/>
                        </a:rPr>
                        <a:t>N/A</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nSpc>
                          <a:spcPct val="107000"/>
                        </a:lnSpc>
                        <a:spcAft>
                          <a:spcPts val="800"/>
                        </a:spcAft>
                      </a:pPr>
                      <a:r>
                        <a:rPr lang="en-US" sz="900" kern="0" dirty="0">
                          <a:effectLst/>
                        </a:rPr>
                        <a:t>Yes</a:t>
                      </a:r>
                      <a:endParaRPr lang="en-US" sz="1100" kern="100" dirty="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extLst>
                  <a:ext uri="{0D108BD9-81ED-4DB2-BD59-A6C34878D82A}">
                    <a16:rowId xmlns:a16="http://schemas.microsoft.com/office/drawing/2014/main" val="743431783"/>
                  </a:ext>
                </a:extLst>
              </a:tr>
            </a:tbl>
          </a:graphicData>
        </a:graphic>
      </p:graphicFrame>
    </p:spTree>
    <p:extLst>
      <p:ext uri="{BB962C8B-B14F-4D97-AF65-F5344CB8AC3E}">
        <p14:creationId xmlns:p14="http://schemas.microsoft.com/office/powerpoint/2010/main" val="26508184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3734A03-F017-666C-872C-A4CCA3DA9D55}"/>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620A6D8-A234-F3B1-33AB-68E3F0F12476}"/>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246CD4F-639F-1403-62BB-1B745557D338}"/>
              </a:ext>
            </a:extLst>
          </p:cNvPr>
          <p:cNvSpPr>
            <a:spLocks noGrp="1"/>
          </p:cNvSpPr>
          <p:nvPr>
            <p:ph type="title"/>
          </p:nvPr>
        </p:nvSpPr>
        <p:spPr>
          <a:xfrm>
            <a:off x="119742" y="0"/>
            <a:ext cx="10395857" cy="685800"/>
          </a:xfrm>
        </p:spPr>
        <p:txBody>
          <a:bodyPr anchor="ctr">
            <a:normAutofit fontScale="90000"/>
          </a:bodyPr>
          <a:lstStyle/>
          <a:p>
            <a:r>
              <a:rPr lang="en-US" sz="4400" dirty="0">
                <a:gradFill flip="none" rotWithShape="1">
                  <a:gsLst>
                    <a:gs pos="0">
                      <a:schemeClr val="accent5">
                        <a:alpha val="70000"/>
                      </a:schemeClr>
                    </a:gs>
                    <a:gs pos="100000">
                      <a:schemeClr val="accent1">
                        <a:alpha val="70000"/>
                      </a:schemeClr>
                    </a:gs>
                  </a:gsLst>
                  <a:lin ang="0" scaled="1"/>
                  <a:tileRect/>
                </a:gradFill>
                <a:latin typeface="Times New Roman" panose="02020603050405020304" pitchFamily="18" charset="0"/>
                <a:cs typeface="Times New Roman" panose="02020603050405020304" pitchFamily="18" charset="0"/>
              </a:rPr>
              <a:t>Data Dictionary – Location Table</a:t>
            </a:r>
          </a:p>
        </p:txBody>
      </p:sp>
      <p:graphicFrame>
        <p:nvGraphicFramePr>
          <p:cNvPr id="3" name="Table 2">
            <a:extLst>
              <a:ext uri="{FF2B5EF4-FFF2-40B4-BE49-F238E27FC236}">
                <a16:creationId xmlns:a16="http://schemas.microsoft.com/office/drawing/2014/main" id="{C5BA86ED-0217-FD7C-FE38-D1BAD894B194}"/>
              </a:ext>
            </a:extLst>
          </p:cNvPr>
          <p:cNvGraphicFramePr>
            <a:graphicFrameLocks noGrp="1"/>
          </p:cNvGraphicFramePr>
          <p:nvPr>
            <p:extLst>
              <p:ext uri="{D42A27DB-BD31-4B8C-83A1-F6EECF244321}">
                <p14:modId xmlns:p14="http://schemas.microsoft.com/office/powerpoint/2010/main" val="4247269344"/>
              </p:ext>
            </p:extLst>
          </p:nvPr>
        </p:nvGraphicFramePr>
        <p:xfrm>
          <a:off x="119743" y="685799"/>
          <a:ext cx="11789226" cy="5921826"/>
        </p:xfrm>
        <a:graphic>
          <a:graphicData uri="http://schemas.openxmlformats.org/drawingml/2006/table">
            <a:tbl>
              <a:tblPr firstRow="1" firstCol="1" bandRow="1">
                <a:tableStyleId>{5C22544A-7EE6-4342-B048-85BDC9FD1C3A}</a:tableStyleId>
              </a:tblPr>
              <a:tblGrid>
                <a:gridCol w="1309914">
                  <a:extLst>
                    <a:ext uri="{9D8B030D-6E8A-4147-A177-3AD203B41FA5}">
                      <a16:colId xmlns:a16="http://schemas.microsoft.com/office/drawing/2014/main" val="1386529299"/>
                    </a:ext>
                  </a:extLst>
                </a:gridCol>
                <a:gridCol w="1309914">
                  <a:extLst>
                    <a:ext uri="{9D8B030D-6E8A-4147-A177-3AD203B41FA5}">
                      <a16:colId xmlns:a16="http://schemas.microsoft.com/office/drawing/2014/main" val="2002261019"/>
                    </a:ext>
                  </a:extLst>
                </a:gridCol>
                <a:gridCol w="1309914">
                  <a:extLst>
                    <a:ext uri="{9D8B030D-6E8A-4147-A177-3AD203B41FA5}">
                      <a16:colId xmlns:a16="http://schemas.microsoft.com/office/drawing/2014/main" val="3764931632"/>
                    </a:ext>
                  </a:extLst>
                </a:gridCol>
                <a:gridCol w="1309914">
                  <a:extLst>
                    <a:ext uri="{9D8B030D-6E8A-4147-A177-3AD203B41FA5}">
                      <a16:colId xmlns:a16="http://schemas.microsoft.com/office/drawing/2014/main" val="956523581"/>
                    </a:ext>
                  </a:extLst>
                </a:gridCol>
                <a:gridCol w="1309914">
                  <a:extLst>
                    <a:ext uri="{9D8B030D-6E8A-4147-A177-3AD203B41FA5}">
                      <a16:colId xmlns:a16="http://schemas.microsoft.com/office/drawing/2014/main" val="1516398173"/>
                    </a:ext>
                  </a:extLst>
                </a:gridCol>
                <a:gridCol w="1309914">
                  <a:extLst>
                    <a:ext uri="{9D8B030D-6E8A-4147-A177-3AD203B41FA5}">
                      <a16:colId xmlns:a16="http://schemas.microsoft.com/office/drawing/2014/main" val="3131459195"/>
                    </a:ext>
                  </a:extLst>
                </a:gridCol>
                <a:gridCol w="1309914">
                  <a:extLst>
                    <a:ext uri="{9D8B030D-6E8A-4147-A177-3AD203B41FA5}">
                      <a16:colId xmlns:a16="http://schemas.microsoft.com/office/drawing/2014/main" val="2433743714"/>
                    </a:ext>
                  </a:extLst>
                </a:gridCol>
                <a:gridCol w="1309914">
                  <a:extLst>
                    <a:ext uri="{9D8B030D-6E8A-4147-A177-3AD203B41FA5}">
                      <a16:colId xmlns:a16="http://schemas.microsoft.com/office/drawing/2014/main" val="84568015"/>
                    </a:ext>
                  </a:extLst>
                </a:gridCol>
                <a:gridCol w="1309914">
                  <a:extLst>
                    <a:ext uri="{9D8B030D-6E8A-4147-A177-3AD203B41FA5}">
                      <a16:colId xmlns:a16="http://schemas.microsoft.com/office/drawing/2014/main" val="2475199637"/>
                    </a:ext>
                  </a:extLst>
                </a:gridCol>
              </a:tblGrid>
              <a:tr h="460119">
                <a:tc>
                  <a:txBody>
                    <a:bodyPr/>
                    <a:lstStyle/>
                    <a:p>
                      <a:pPr marL="0" marR="0" algn="ctr">
                        <a:lnSpc>
                          <a:spcPct val="107000"/>
                        </a:lnSpc>
                        <a:spcAft>
                          <a:spcPts val="800"/>
                        </a:spcAft>
                      </a:pPr>
                      <a:r>
                        <a:rPr lang="en-US" sz="900" kern="0">
                          <a:effectLst/>
                        </a:rPr>
                        <a:t>Attribute Name</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ctr">
                        <a:lnSpc>
                          <a:spcPct val="107000"/>
                        </a:lnSpc>
                        <a:spcAft>
                          <a:spcPts val="800"/>
                        </a:spcAft>
                      </a:pPr>
                      <a:r>
                        <a:rPr lang="en-US" sz="900" kern="0">
                          <a:effectLst/>
                        </a:rPr>
                        <a:t>Contents</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ctr">
                        <a:lnSpc>
                          <a:spcPct val="107000"/>
                        </a:lnSpc>
                        <a:spcAft>
                          <a:spcPts val="800"/>
                        </a:spcAft>
                      </a:pPr>
                      <a:r>
                        <a:rPr lang="en-US" sz="900" kern="0">
                          <a:effectLst/>
                        </a:rPr>
                        <a:t>Data Type</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ctr">
                        <a:lnSpc>
                          <a:spcPct val="107000"/>
                        </a:lnSpc>
                        <a:spcAft>
                          <a:spcPts val="800"/>
                        </a:spcAft>
                      </a:pPr>
                      <a:r>
                        <a:rPr lang="en-US" sz="900" kern="0" dirty="0">
                          <a:effectLst/>
                        </a:rPr>
                        <a:t>Format</a:t>
                      </a:r>
                      <a:endParaRPr lang="en-US" sz="1100" kern="100" dirty="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ctr">
                        <a:lnSpc>
                          <a:spcPct val="107000"/>
                        </a:lnSpc>
                        <a:spcAft>
                          <a:spcPts val="800"/>
                        </a:spcAft>
                      </a:pPr>
                      <a:r>
                        <a:rPr lang="en-US" sz="900" kern="0">
                          <a:effectLst/>
                        </a:rPr>
                        <a:t>Range</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ctr">
                        <a:lnSpc>
                          <a:spcPct val="107000"/>
                        </a:lnSpc>
                        <a:spcAft>
                          <a:spcPts val="800"/>
                        </a:spcAft>
                      </a:pPr>
                      <a:r>
                        <a:rPr lang="en-US" sz="900" kern="0">
                          <a:effectLst/>
                        </a:rPr>
                        <a:t>Required</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ctr">
                        <a:lnSpc>
                          <a:spcPct val="107000"/>
                        </a:lnSpc>
                        <a:spcAft>
                          <a:spcPts val="800"/>
                        </a:spcAft>
                      </a:pPr>
                      <a:r>
                        <a:rPr lang="en-US" sz="900" kern="0">
                          <a:effectLst/>
                        </a:rPr>
                        <a:t>PK or FK</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ctr">
                        <a:lnSpc>
                          <a:spcPct val="107000"/>
                        </a:lnSpc>
                        <a:spcAft>
                          <a:spcPts val="800"/>
                        </a:spcAft>
                      </a:pPr>
                      <a:r>
                        <a:rPr lang="en-US" sz="900" kern="0">
                          <a:effectLst/>
                        </a:rPr>
                        <a:t>FK Reference</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ctr">
                        <a:lnSpc>
                          <a:spcPct val="107000"/>
                        </a:lnSpc>
                        <a:spcAft>
                          <a:spcPts val="800"/>
                        </a:spcAft>
                      </a:pPr>
                      <a:r>
                        <a:rPr lang="en-US" sz="900" kern="0">
                          <a:effectLst/>
                        </a:rPr>
                        <a:t>Sample Data</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extLst>
                  <a:ext uri="{0D108BD9-81ED-4DB2-BD59-A6C34878D82A}">
                    <a16:rowId xmlns:a16="http://schemas.microsoft.com/office/drawing/2014/main" val="3920815069"/>
                  </a:ext>
                </a:extLst>
              </a:tr>
              <a:tr h="680225">
                <a:tc>
                  <a:txBody>
                    <a:bodyPr/>
                    <a:lstStyle/>
                    <a:p>
                      <a:pPr marL="0" marR="0">
                        <a:lnSpc>
                          <a:spcPct val="107000"/>
                        </a:lnSpc>
                        <a:spcAft>
                          <a:spcPts val="800"/>
                        </a:spcAft>
                      </a:pPr>
                      <a:r>
                        <a:rPr lang="en-US" sz="900" kern="0">
                          <a:effectLst/>
                        </a:rPr>
                        <a:t>locationID</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nSpc>
                          <a:spcPct val="107000"/>
                        </a:lnSpc>
                        <a:spcAft>
                          <a:spcPts val="800"/>
                        </a:spcAft>
                      </a:pPr>
                      <a:r>
                        <a:rPr lang="en-US" sz="900" kern="0">
                          <a:effectLst/>
                        </a:rPr>
                        <a:t>Unique identifier for the location</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nSpc>
                          <a:spcPct val="107000"/>
                        </a:lnSpc>
                        <a:spcAft>
                          <a:spcPts val="800"/>
                        </a:spcAft>
                      </a:pPr>
                      <a:r>
                        <a:rPr lang="en-US" sz="900" kern="0">
                          <a:effectLst/>
                        </a:rPr>
                        <a:t>INT</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nSpc>
                          <a:spcPct val="107000"/>
                        </a:lnSpc>
                        <a:spcAft>
                          <a:spcPts val="800"/>
                        </a:spcAft>
                      </a:pPr>
                      <a:r>
                        <a:rPr lang="en-US" sz="900" kern="0">
                          <a:effectLst/>
                        </a:rPr>
                        <a:t>N/A</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nSpc>
                          <a:spcPct val="107000"/>
                        </a:lnSpc>
                        <a:spcAft>
                          <a:spcPts val="800"/>
                        </a:spcAft>
                      </a:pPr>
                      <a:r>
                        <a:rPr lang="en-US" sz="900" kern="0">
                          <a:effectLst/>
                        </a:rPr>
                        <a:t>N/A</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nSpc>
                          <a:spcPct val="107000"/>
                        </a:lnSpc>
                        <a:spcAft>
                          <a:spcPts val="800"/>
                        </a:spcAft>
                      </a:pPr>
                      <a:r>
                        <a:rPr lang="en-US" sz="900" kern="0">
                          <a:effectLst/>
                        </a:rPr>
                        <a:t>Y</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nSpc>
                          <a:spcPct val="107000"/>
                        </a:lnSpc>
                        <a:spcAft>
                          <a:spcPts val="800"/>
                        </a:spcAft>
                      </a:pPr>
                      <a:r>
                        <a:rPr lang="en-US" sz="900" kern="0">
                          <a:effectLst/>
                        </a:rPr>
                        <a:t>PK</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nSpc>
                          <a:spcPct val="107000"/>
                        </a:lnSpc>
                        <a:spcAft>
                          <a:spcPts val="800"/>
                        </a:spcAft>
                      </a:pPr>
                      <a:r>
                        <a:rPr lang="en-US" sz="900" kern="0">
                          <a:effectLst/>
                        </a:rPr>
                        <a:t>N/A</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nSpc>
                          <a:spcPct val="107000"/>
                        </a:lnSpc>
                        <a:spcAft>
                          <a:spcPts val="800"/>
                        </a:spcAft>
                      </a:pPr>
                      <a:r>
                        <a:rPr lang="en-US" sz="900" kern="0">
                          <a:effectLst/>
                        </a:rPr>
                        <a:t>1</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extLst>
                  <a:ext uri="{0D108BD9-81ED-4DB2-BD59-A6C34878D82A}">
                    <a16:rowId xmlns:a16="http://schemas.microsoft.com/office/drawing/2014/main" val="3094805680"/>
                  </a:ext>
                </a:extLst>
              </a:tr>
              <a:tr h="460119">
                <a:tc>
                  <a:txBody>
                    <a:bodyPr/>
                    <a:lstStyle/>
                    <a:p>
                      <a:pPr marL="0" marR="0">
                        <a:lnSpc>
                          <a:spcPct val="107000"/>
                        </a:lnSpc>
                        <a:spcAft>
                          <a:spcPts val="800"/>
                        </a:spcAft>
                      </a:pPr>
                      <a:r>
                        <a:rPr lang="en-US" sz="900" kern="0">
                          <a:effectLst/>
                        </a:rPr>
                        <a:t>locationName</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nSpc>
                          <a:spcPct val="107000"/>
                        </a:lnSpc>
                        <a:spcAft>
                          <a:spcPts val="800"/>
                        </a:spcAft>
                      </a:pPr>
                      <a:r>
                        <a:rPr lang="en-US" sz="900" kern="0">
                          <a:effectLst/>
                        </a:rPr>
                        <a:t>Name of the location</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nSpc>
                          <a:spcPct val="107000"/>
                        </a:lnSpc>
                        <a:spcAft>
                          <a:spcPts val="800"/>
                        </a:spcAft>
                      </a:pPr>
                      <a:r>
                        <a:rPr lang="en-US" sz="900" kern="0">
                          <a:effectLst/>
                        </a:rPr>
                        <a:t>VARCHAR(45)</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nSpc>
                          <a:spcPct val="107000"/>
                        </a:lnSpc>
                        <a:spcAft>
                          <a:spcPts val="800"/>
                        </a:spcAft>
                      </a:pPr>
                      <a:r>
                        <a:rPr lang="en-US" sz="900" kern="0">
                          <a:effectLst/>
                        </a:rPr>
                        <a:t>Xxxxxxxxxxx</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nSpc>
                          <a:spcPct val="107000"/>
                        </a:lnSpc>
                        <a:spcAft>
                          <a:spcPts val="800"/>
                        </a:spcAft>
                      </a:pPr>
                      <a:r>
                        <a:rPr lang="en-US" sz="900" kern="0">
                          <a:effectLst/>
                        </a:rPr>
                        <a:t>N/A</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nSpc>
                          <a:spcPct val="107000"/>
                        </a:lnSpc>
                        <a:spcAft>
                          <a:spcPts val="800"/>
                        </a:spcAft>
                      </a:pPr>
                      <a:r>
                        <a:rPr lang="en-US" sz="900" kern="0">
                          <a:effectLst/>
                        </a:rPr>
                        <a:t>Y</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nSpc>
                          <a:spcPct val="107000"/>
                        </a:lnSpc>
                        <a:spcAft>
                          <a:spcPts val="800"/>
                        </a:spcAft>
                      </a:pPr>
                      <a:r>
                        <a:rPr lang="en-US" sz="900" kern="0">
                          <a:effectLst/>
                        </a:rPr>
                        <a:t>N/A</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nSpc>
                          <a:spcPct val="107000"/>
                        </a:lnSpc>
                        <a:spcAft>
                          <a:spcPts val="800"/>
                        </a:spcAft>
                      </a:pPr>
                      <a:r>
                        <a:rPr lang="en-US" sz="900" kern="0">
                          <a:effectLst/>
                        </a:rPr>
                        <a:t>N/A</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nSpc>
                          <a:spcPct val="107000"/>
                        </a:lnSpc>
                        <a:spcAft>
                          <a:spcPts val="800"/>
                        </a:spcAft>
                      </a:pPr>
                      <a:r>
                        <a:rPr lang="en-US" sz="900" kern="0">
                          <a:effectLst/>
                        </a:rPr>
                        <a:t>Main Hall</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extLst>
                  <a:ext uri="{0D108BD9-81ED-4DB2-BD59-A6C34878D82A}">
                    <a16:rowId xmlns:a16="http://schemas.microsoft.com/office/drawing/2014/main" val="1754907793"/>
                  </a:ext>
                </a:extLst>
              </a:tr>
              <a:tr h="680225">
                <a:tc>
                  <a:txBody>
                    <a:bodyPr/>
                    <a:lstStyle/>
                    <a:p>
                      <a:pPr marL="0" marR="0">
                        <a:lnSpc>
                          <a:spcPct val="107000"/>
                        </a:lnSpc>
                        <a:spcAft>
                          <a:spcPts val="800"/>
                        </a:spcAft>
                      </a:pPr>
                      <a:r>
                        <a:rPr lang="en-US" sz="900" kern="0">
                          <a:effectLst/>
                        </a:rPr>
                        <a:t>streetName</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nSpc>
                          <a:spcPct val="107000"/>
                        </a:lnSpc>
                        <a:spcAft>
                          <a:spcPts val="800"/>
                        </a:spcAft>
                      </a:pPr>
                      <a:r>
                        <a:rPr lang="en-US" sz="900" kern="0">
                          <a:effectLst/>
                        </a:rPr>
                        <a:t>Street name of the location</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nSpc>
                          <a:spcPct val="107000"/>
                        </a:lnSpc>
                        <a:spcAft>
                          <a:spcPts val="800"/>
                        </a:spcAft>
                      </a:pPr>
                      <a:r>
                        <a:rPr lang="en-US" sz="900" kern="0">
                          <a:effectLst/>
                        </a:rPr>
                        <a:t>VARCHAR(45)</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nSpc>
                          <a:spcPct val="107000"/>
                        </a:lnSpc>
                        <a:spcAft>
                          <a:spcPts val="800"/>
                        </a:spcAft>
                      </a:pPr>
                      <a:r>
                        <a:rPr lang="en-US" sz="900" kern="0">
                          <a:effectLst/>
                        </a:rPr>
                        <a:t>Xxxxxxxxxxx</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nSpc>
                          <a:spcPct val="107000"/>
                        </a:lnSpc>
                        <a:spcAft>
                          <a:spcPts val="800"/>
                        </a:spcAft>
                      </a:pPr>
                      <a:r>
                        <a:rPr lang="en-US" sz="900" kern="0">
                          <a:effectLst/>
                        </a:rPr>
                        <a:t>N/A</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nSpc>
                          <a:spcPct val="107000"/>
                        </a:lnSpc>
                        <a:spcAft>
                          <a:spcPts val="800"/>
                        </a:spcAft>
                      </a:pPr>
                      <a:r>
                        <a:rPr lang="en-US" sz="900" kern="0">
                          <a:effectLst/>
                        </a:rPr>
                        <a:t>Y</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nSpc>
                          <a:spcPct val="107000"/>
                        </a:lnSpc>
                        <a:spcAft>
                          <a:spcPts val="800"/>
                        </a:spcAft>
                      </a:pPr>
                      <a:r>
                        <a:rPr lang="en-US" sz="900" kern="0">
                          <a:effectLst/>
                        </a:rPr>
                        <a:t>N/A</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nSpc>
                          <a:spcPct val="107000"/>
                        </a:lnSpc>
                        <a:spcAft>
                          <a:spcPts val="800"/>
                        </a:spcAft>
                      </a:pPr>
                      <a:r>
                        <a:rPr lang="en-US" sz="900" kern="0">
                          <a:effectLst/>
                        </a:rPr>
                        <a:t>N/A</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nSpc>
                          <a:spcPct val="107000"/>
                        </a:lnSpc>
                        <a:spcAft>
                          <a:spcPts val="800"/>
                        </a:spcAft>
                      </a:pPr>
                      <a:r>
                        <a:rPr lang="en-US" sz="900" kern="0">
                          <a:effectLst/>
                        </a:rPr>
                        <a:t>First Ave</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extLst>
                  <a:ext uri="{0D108BD9-81ED-4DB2-BD59-A6C34878D82A}">
                    <a16:rowId xmlns:a16="http://schemas.microsoft.com/office/drawing/2014/main" val="261614809"/>
                  </a:ext>
                </a:extLst>
              </a:tr>
              <a:tr h="680225">
                <a:tc>
                  <a:txBody>
                    <a:bodyPr/>
                    <a:lstStyle/>
                    <a:p>
                      <a:pPr marL="0" marR="0">
                        <a:lnSpc>
                          <a:spcPct val="107000"/>
                        </a:lnSpc>
                        <a:spcAft>
                          <a:spcPts val="800"/>
                        </a:spcAft>
                      </a:pPr>
                      <a:r>
                        <a:rPr lang="en-US" sz="900" kern="0">
                          <a:effectLst/>
                        </a:rPr>
                        <a:t>city</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nSpc>
                          <a:spcPct val="107000"/>
                        </a:lnSpc>
                        <a:spcAft>
                          <a:spcPts val="800"/>
                        </a:spcAft>
                      </a:pPr>
                      <a:r>
                        <a:rPr lang="en-US" sz="900" kern="0">
                          <a:effectLst/>
                        </a:rPr>
                        <a:t>City where the location is situated</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nSpc>
                          <a:spcPct val="107000"/>
                        </a:lnSpc>
                        <a:spcAft>
                          <a:spcPts val="800"/>
                        </a:spcAft>
                      </a:pPr>
                      <a:r>
                        <a:rPr lang="en-US" sz="900" kern="0">
                          <a:effectLst/>
                        </a:rPr>
                        <a:t>VARCHAR(30)</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nSpc>
                          <a:spcPct val="107000"/>
                        </a:lnSpc>
                        <a:spcAft>
                          <a:spcPts val="800"/>
                        </a:spcAft>
                      </a:pPr>
                      <a:r>
                        <a:rPr lang="en-US" sz="900" kern="0">
                          <a:effectLst/>
                        </a:rPr>
                        <a:t>Xxxxxxxxxxx</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nSpc>
                          <a:spcPct val="107000"/>
                        </a:lnSpc>
                        <a:spcAft>
                          <a:spcPts val="800"/>
                        </a:spcAft>
                      </a:pPr>
                      <a:r>
                        <a:rPr lang="en-US" sz="900" kern="0">
                          <a:effectLst/>
                        </a:rPr>
                        <a:t>N/A</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nSpc>
                          <a:spcPct val="107000"/>
                        </a:lnSpc>
                        <a:spcAft>
                          <a:spcPts val="800"/>
                        </a:spcAft>
                      </a:pPr>
                      <a:r>
                        <a:rPr lang="en-US" sz="900" kern="0">
                          <a:effectLst/>
                        </a:rPr>
                        <a:t>Y</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nSpc>
                          <a:spcPct val="107000"/>
                        </a:lnSpc>
                        <a:spcAft>
                          <a:spcPts val="800"/>
                        </a:spcAft>
                      </a:pPr>
                      <a:r>
                        <a:rPr lang="en-US" sz="900" kern="0">
                          <a:effectLst/>
                        </a:rPr>
                        <a:t>N/A</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nSpc>
                          <a:spcPct val="107000"/>
                        </a:lnSpc>
                        <a:spcAft>
                          <a:spcPts val="800"/>
                        </a:spcAft>
                      </a:pPr>
                      <a:r>
                        <a:rPr lang="en-US" sz="900" kern="0">
                          <a:effectLst/>
                        </a:rPr>
                        <a:t>N/A</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nSpc>
                          <a:spcPct val="107000"/>
                        </a:lnSpc>
                        <a:spcAft>
                          <a:spcPts val="800"/>
                        </a:spcAft>
                      </a:pPr>
                      <a:r>
                        <a:rPr lang="en-US" sz="900" kern="0">
                          <a:effectLst/>
                        </a:rPr>
                        <a:t>CityA</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extLst>
                  <a:ext uri="{0D108BD9-81ED-4DB2-BD59-A6C34878D82A}">
                    <a16:rowId xmlns:a16="http://schemas.microsoft.com/office/drawing/2014/main" val="1854023057"/>
                  </a:ext>
                </a:extLst>
              </a:tr>
              <a:tr h="680225">
                <a:tc>
                  <a:txBody>
                    <a:bodyPr/>
                    <a:lstStyle/>
                    <a:p>
                      <a:pPr marL="0" marR="0">
                        <a:lnSpc>
                          <a:spcPct val="107000"/>
                        </a:lnSpc>
                        <a:spcAft>
                          <a:spcPts val="800"/>
                        </a:spcAft>
                      </a:pPr>
                      <a:r>
                        <a:rPr lang="en-US" sz="900" kern="0">
                          <a:effectLst/>
                        </a:rPr>
                        <a:t>state</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nSpc>
                          <a:spcPct val="107000"/>
                        </a:lnSpc>
                        <a:spcAft>
                          <a:spcPts val="800"/>
                        </a:spcAft>
                      </a:pPr>
                      <a:r>
                        <a:rPr lang="en-US" sz="900" kern="0">
                          <a:effectLst/>
                        </a:rPr>
                        <a:t>State where the location is situated</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nSpc>
                          <a:spcPct val="107000"/>
                        </a:lnSpc>
                        <a:spcAft>
                          <a:spcPts val="800"/>
                        </a:spcAft>
                      </a:pPr>
                      <a:r>
                        <a:rPr lang="en-US" sz="900" kern="0">
                          <a:effectLst/>
                        </a:rPr>
                        <a:t>VARCHAR(30)</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nSpc>
                          <a:spcPct val="107000"/>
                        </a:lnSpc>
                        <a:spcAft>
                          <a:spcPts val="800"/>
                        </a:spcAft>
                      </a:pPr>
                      <a:r>
                        <a:rPr lang="en-US" sz="900" kern="0">
                          <a:effectLst/>
                        </a:rPr>
                        <a:t>Xxxxxxxxxxx</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nSpc>
                          <a:spcPct val="107000"/>
                        </a:lnSpc>
                        <a:spcAft>
                          <a:spcPts val="800"/>
                        </a:spcAft>
                      </a:pPr>
                      <a:r>
                        <a:rPr lang="en-US" sz="900" kern="0">
                          <a:effectLst/>
                        </a:rPr>
                        <a:t>N/A</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nSpc>
                          <a:spcPct val="107000"/>
                        </a:lnSpc>
                        <a:spcAft>
                          <a:spcPts val="800"/>
                        </a:spcAft>
                      </a:pPr>
                      <a:r>
                        <a:rPr lang="en-US" sz="900" kern="0">
                          <a:effectLst/>
                        </a:rPr>
                        <a:t>Y</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nSpc>
                          <a:spcPct val="107000"/>
                        </a:lnSpc>
                        <a:spcAft>
                          <a:spcPts val="800"/>
                        </a:spcAft>
                      </a:pPr>
                      <a:r>
                        <a:rPr lang="en-US" sz="900" kern="0">
                          <a:effectLst/>
                        </a:rPr>
                        <a:t>N/A</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nSpc>
                          <a:spcPct val="107000"/>
                        </a:lnSpc>
                        <a:spcAft>
                          <a:spcPts val="800"/>
                        </a:spcAft>
                      </a:pPr>
                      <a:r>
                        <a:rPr lang="en-US" sz="900" kern="0">
                          <a:effectLst/>
                        </a:rPr>
                        <a:t>N/A</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nSpc>
                          <a:spcPct val="107000"/>
                        </a:lnSpc>
                        <a:spcAft>
                          <a:spcPts val="800"/>
                        </a:spcAft>
                      </a:pPr>
                      <a:r>
                        <a:rPr lang="en-US" sz="900" kern="0">
                          <a:effectLst/>
                        </a:rPr>
                        <a:t>StateA</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extLst>
                  <a:ext uri="{0D108BD9-81ED-4DB2-BD59-A6C34878D82A}">
                    <a16:rowId xmlns:a16="http://schemas.microsoft.com/office/drawing/2014/main" val="1672497862"/>
                  </a:ext>
                </a:extLst>
              </a:tr>
              <a:tr h="680225">
                <a:tc>
                  <a:txBody>
                    <a:bodyPr/>
                    <a:lstStyle/>
                    <a:p>
                      <a:pPr marL="0" marR="0">
                        <a:lnSpc>
                          <a:spcPct val="107000"/>
                        </a:lnSpc>
                        <a:spcAft>
                          <a:spcPts val="800"/>
                        </a:spcAft>
                      </a:pPr>
                      <a:r>
                        <a:rPr lang="en-US" sz="900" kern="0">
                          <a:effectLst/>
                        </a:rPr>
                        <a:t>pincode</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nSpc>
                          <a:spcPct val="107000"/>
                        </a:lnSpc>
                        <a:spcAft>
                          <a:spcPts val="800"/>
                        </a:spcAft>
                      </a:pPr>
                      <a:r>
                        <a:rPr lang="en-US" sz="900" kern="0">
                          <a:effectLst/>
                        </a:rPr>
                        <a:t>Postal code of the location</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nSpc>
                          <a:spcPct val="107000"/>
                        </a:lnSpc>
                        <a:spcAft>
                          <a:spcPts val="800"/>
                        </a:spcAft>
                      </a:pPr>
                      <a:r>
                        <a:rPr lang="en-US" sz="900" kern="0">
                          <a:effectLst/>
                        </a:rPr>
                        <a:t>INT</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nSpc>
                          <a:spcPct val="107000"/>
                        </a:lnSpc>
                        <a:spcAft>
                          <a:spcPts val="800"/>
                        </a:spcAft>
                      </a:pPr>
                      <a:r>
                        <a:rPr lang="en-US" sz="900" kern="0">
                          <a:effectLst/>
                        </a:rPr>
                        <a:t>Xxxxx</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nSpc>
                          <a:spcPct val="107000"/>
                        </a:lnSpc>
                        <a:spcAft>
                          <a:spcPts val="800"/>
                        </a:spcAft>
                      </a:pPr>
                      <a:r>
                        <a:rPr lang="en-US" sz="900" kern="0">
                          <a:effectLst/>
                        </a:rPr>
                        <a:t>N/A</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nSpc>
                          <a:spcPct val="107000"/>
                        </a:lnSpc>
                        <a:spcAft>
                          <a:spcPts val="800"/>
                        </a:spcAft>
                      </a:pPr>
                      <a:r>
                        <a:rPr lang="en-US" sz="900" kern="0">
                          <a:effectLst/>
                        </a:rPr>
                        <a:t>Y</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nSpc>
                          <a:spcPct val="107000"/>
                        </a:lnSpc>
                        <a:spcAft>
                          <a:spcPts val="800"/>
                        </a:spcAft>
                      </a:pPr>
                      <a:r>
                        <a:rPr lang="en-US" sz="900" kern="0">
                          <a:effectLst/>
                        </a:rPr>
                        <a:t>N/A</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nSpc>
                          <a:spcPct val="107000"/>
                        </a:lnSpc>
                        <a:spcAft>
                          <a:spcPts val="800"/>
                        </a:spcAft>
                      </a:pPr>
                      <a:r>
                        <a:rPr lang="en-US" sz="900" kern="0">
                          <a:effectLst/>
                        </a:rPr>
                        <a:t>N/A</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nSpc>
                          <a:spcPct val="107000"/>
                        </a:lnSpc>
                        <a:spcAft>
                          <a:spcPts val="800"/>
                        </a:spcAft>
                      </a:pPr>
                      <a:r>
                        <a:rPr lang="en-US" sz="900" kern="0">
                          <a:effectLst/>
                        </a:rPr>
                        <a:t>12345</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extLst>
                  <a:ext uri="{0D108BD9-81ED-4DB2-BD59-A6C34878D82A}">
                    <a16:rowId xmlns:a16="http://schemas.microsoft.com/office/drawing/2014/main" val="195392528"/>
                  </a:ext>
                </a:extLst>
              </a:tr>
              <a:tr h="460119">
                <a:tc>
                  <a:txBody>
                    <a:bodyPr/>
                    <a:lstStyle/>
                    <a:p>
                      <a:pPr marL="0" marR="0">
                        <a:lnSpc>
                          <a:spcPct val="107000"/>
                        </a:lnSpc>
                        <a:spcAft>
                          <a:spcPts val="800"/>
                        </a:spcAft>
                      </a:pPr>
                      <a:r>
                        <a:rPr lang="en-US" sz="900" kern="0">
                          <a:effectLst/>
                        </a:rPr>
                        <a:t>capacity</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nSpc>
                          <a:spcPct val="107000"/>
                        </a:lnSpc>
                        <a:spcAft>
                          <a:spcPts val="800"/>
                        </a:spcAft>
                      </a:pPr>
                      <a:r>
                        <a:rPr lang="en-US" sz="900" kern="0">
                          <a:effectLst/>
                        </a:rPr>
                        <a:t>Capacity of the location</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nSpc>
                          <a:spcPct val="107000"/>
                        </a:lnSpc>
                        <a:spcAft>
                          <a:spcPts val="800"/>
                        </a:spcAft>
                      </a:pPr>
                      <a:r>
                        <a:rPr lang="en-US" sz="900" kern="0">
                          <a:effectLst/>
                        </a:rPr>
                        <a:t>INT</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nSpc>
                          <a:spcPct val="107000"/>
                        </a:lnSpc>
                        <a:spcAft>
                          <a:spcPts val="800"/>
                        </a:spcAft>
                      </a:pPr>
                      <a:r>
                        <a:rPr lang="en-US" sz="900" kern="0">
                          <a:effectLst/>
                        </a:rPr>
                        <a:t>N/A</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nSpc>
                          <a:spcPct val="107000"/>
                        </a:lnSpc>
                        <a:spcAft>
                          <a:spcPts val="800"/>
                        </a:spcAft>
                      </a:pPr>
                      <a:r>
                        <a:rPr lang="en-US" sz="900" kern="0">
                          <a:effectLst/>
                        </a:rPr>
                        <a:t>N/A</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nSpc>
                          <a:spcPct val="107000"/>
                        </a:lnSpc>
                        <a:spcAft>
                          <a:spcPts val="800"/>
                        </a:spcAft>
                      </a:pPr>
                      <a:r>
                        <a:rPr lang="en-US" sz="900" kern="0">
                          <a:effectLst/>
                        </a:rPr>
                        <a:t>Y</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nSpc>
                          <a:spcPct val="107000"/>
                        </a:lnSpc>
                        <a:spcAft>
                          <a:spcPts val="800"/>
                        </a:spcAft>
                      </a:pPr>
                      <a:r>
                        <a:rPr lang="en-US" sz="900" kern="0">
                          <a:effectLst/>
                        </a:rPr>
                        <a:t>N/A</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nSpc>
                          <a:spcPct val="107000"/>
                        </a:lnSpc>
                        <a:spcAft>
                          <a:spcPts val="800"/>
                        </a:spcAft>
                      </a:pPr>
                      <a:r>
                        <a:rPr lang="en-US" sz="900" kern="0">
                          <a:effectLst/>
                        </a:rPr>
                        <a:t>N/A</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nSpc>
                          <a:spcPct val="107000"/>
                        </a:lnSpc>
                        <a:spcAft>
                          <a:spcPts val="800"/>
                        </a:spcAft>
                      </a:pPr>
                      <a:r>
                        <a:rPr lang="en-US" sz="900" kern="0">
                          <a:effectLst/>
                        </a:rPr>
                        <a:t>500</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extLst>
                  <a:ext uri="{0D108BD9-81ED-4DB2-BD59-A6C34878D82A}">
                    <a16:rowId xmlns:a16="http://schemas.microsoft.com/office/drawing/2014/main" val="2547189870"/>
                  </a:ext>
                </a:extLst>
              </a:tr>
              <a:tr h="460119">
                <a:tc>
                  <a:txBody>
                    <a:bodyPr/>
                    <a:lstStyle/>
                    <a:p>
                      <a:pPr marL="0" marR="0">
                        <a:lnSpc>
                          <a:spcPct val="107000"/>
                        </a:lnSpc>
                        <a:spcAft>
                          <a:spcPts val="800"/>
                        </a:spcAft>
                      </a:pPr>
                      <a:r>
                        <a:rPr lang="en-US" sz="900" kern="0">
                          <a:effectLst/>
                        </a:rPr>
                        <a:t>isAvailable</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nSpc>
                          <a:spcPct val="107000"/>
                        </a:lnSpc>
                        <a:spcAft>
                          <a:spcPts val="800"/>
                        </a:spcAft>
                      </a:pPr>
                      <a:r>
                        <a:rPr lang="en-US" sz="900" kern="0">
                          <a:effectLst/>
                        </a:rPr>
                        <a:t>Availability status</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nSpc>
                          <a:spcPct val="107000"/>
                        </a:lnSpc>
                        <a:spcAft>
                          <a:spcPts val="800"/>
                        </a:spcAft>
                      </a:pPr>
                      <a:r>
                        <a:rPr lang="en-US" sz="900" kern="0">
                          <a:effectLst/>
                        </a:rPr>
                        <a:t>VARCHAR(10)</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nSpc>
                          <a:spcPct val="107000"/>
                        </a:lnSpc>
                        <a:spcAft>
                          <a:spcPts val="800"/>
                        </a:spcAft>
                      </a:pPr>
                      <a:r>
                        <a:rPr lang="en-US" sz="900" kern="0">
                          <a:effectLst/>
                        </a:rPr>
                        <a:t>TRUE/FALSE</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nSpc>
                          <a:spcPct val="107000"/>
                        </a:lnSpc>
                        <a:spcAft>
                          <a:spcPts val="800"/>
                        </a:spcAft>
                      </a:pPr>
                      <a:r>
                        <a:rPr lang="en-US" sz="900" kern="0">
                          <a:effectLst/>
                        </a:rPr>
                        <a:t>N/A</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nSpc>
                          <a:spcPct val="107000"/>
                        </a:lnSpc>
                        <a:spcAft>
                          <a:spcPts val="800"/>
                        </a:spcAft>
                      </a:pPr>
                      <a:r>
                        <a:rPr lang="en-US" sz="900" kern="0">
                          <a:effectLst/>
                        </a:rPr>
                        <a:t>Y</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nSpc>
                          <a:spcPct val="107000"/>
                        </a:lnSpc>
                        <a:spcAft>
                          <a:spcPts val="800"/>
                        </a:spcAft>
                      </a:pPr>
                      <a:r>
                        <a:rPr lang="en-US" sz="900" kern="0">
                          <a:effectLst/>
                        </a:rPr>
                        <a:t>N/A</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nSpc>
                          <a:spcPct val="107000"/>
                        </a:lnSpc>
                        <a:spcAft>
                          <a:spcPts val="800"/>
                        </a:spcAft>
                      </a:pPr>
                      <a:r>
                        <a:rPr lang="en-US" sz="900" kern="0">
                          <a:effectLst/>
                        </a:rPr>
                        <a:t>N/A</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nSpc>
                          <a:spcPct val="107000"/>
                        </a:lnSpc>
                        <a:spcAft>
                          <a:spcPts val="800"/>
                        </a:spcAft>
                      </a:pPr>
                      <a:r>
                        <a:rPr lang="en-US" sz="900" kern="0">
                          <a:effectLst/>
                        </a:rPr>
                        <a:t>TRUE</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extLst>
                  <a:ext uri="{0D108BD9-81ED-4DB2-BD59-A6C34878D82A}">
                    <a16:rowId xmlns:a16="http://schemas.microsoft.com/office/drawing/2014/main" val="777946504"/>
                  </a:ext>
                </a:extLst>
              </a:tr>
              <a:tr h="680225">
                <a:tc>
                  <a:txBody>
                    <a:bodyPr/>
                    <a:lstStyle/>
                    <a:p>
                      <a:pPr marL="0" marR="0">
                        <a:lnSpc>
                          <a:spcPct val="107000"/>
                        </a:lnSpc>
                        <a:spcAft>
                          <a:spcPts val="800"/>
                        </a:spcAft>
                      </a:pPr>
                      <a:r>
                        <a:rPr lang="en-US" sz="900" kern="0">
                          <a:effectLst/>
                        </a:rPr>
                        <a:t>availabilityNotes</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nSpc>
                          <a:spcPct val="107000"/>
                        </a:lnSpc>
                        <a:spcAft>
                          <a:spcPts val="800"/>
                        </a:spcAft>
                      </a:pPr>
                      <a:r>
                        <a:rPr lang="en-US" sz="900" kern="0">
                          <a:effectLst/>
                        </a:rPr>
                        <a:t>Notes regarding availability</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nSpc>
                          <a:spcPct val="107000"/>
                        </a:lnSpc>
                        <a:spcAft>
                          <a:spcPts val="800"/>
                        </a:spcAft>
                      </a:pPr>
                      <a:r>
                        <a:rPr lang="en-US" sz="900" kern="0">
                          <a:effectLst/>
                        </a:rPr>
                        <a:t>VARCHAR(100)</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nSpc>
                          <a:spcPct val="107000"/>
                        </a:lnSpc>
                        <a:spcAft>
                          <a:spcPts val="800"/>
                        </a:spcAft>
                      </a:pPr>
                      <a:r>
                        <a:rPr lang="en-US" sz="900" kern="0" dirty="0" err="1">
                          <a:effectLst/>
                        </a:rPr>
                        <a:t>Xxxxxxxxxxx</a:t>
                      </a:r>
                      <a:endParaRPr lang="en-US" sz="1100" kern="100" dirty="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nSpc>
                          <a:spcPct val="107000"/>
                        </a:lnSpc>
                        <a:spcAft>
                          <a:spcPts val="800"/>
                        </a:spcAft>
                      </a:pPr>
                      <a:r>
                        <a:rPr lang="en-US" sz="900" kern="0">
                          <a:effectLst/>
                        </a:rPr>
                        <a:t>N/A</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nSpc>
                          <a:spcPct val="107000"/>
                        </a:lnSpc>
                        <a:spcAft>
                          <a:spcPts val="800"/>
                        </a:spcAft>
                      </a:pPr>
                      <a:r>
                        <a:rPr lang="en-US" sz="900" kern="0">
                          <a:effectLst/>
                        </a:rPr>
                        <a:t>N</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nSpc>
                          <a:spcPct val="107000"/>
                        </a:lnSpc>
                        <a:spcAft>
                          <a:spcPts val="800"/>
                        </a:spcAft>
                      </a:pPr>
                      <a:r>
                        <a:rPr lang="en-US" sz="900" kern="0">
                          <a:effectLst/>
                        </a:rPr>
                        <a:t>N/A</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nSpc>
                          <a:spcPct val="107000"/>
                        </a:lnSpc>
                        <a:spcAft>
                          <a:spcPts val="800"/>
                        </a:spcAft>
                      </a:pPr>
                      <a:r>
                        <a:rPr lang="en-US" sz="900" kern="0">
                          <a:effectLst/>
                        </a:rPr>
                        <a:t>N/A</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nSpc>
                          <a:spcPct val="107000"/>
                        </a:lnSpc>
                        <a:spcAft>
                          <a:spcPts val="800"/>
                        </a:spcAft>
                      </a:pPr>
                      <a:r>
                        <a:rPr lang="en-US" sz="900" kern="0" dirty="0">
                          <a:effectLst/>
                        </a:rPr>
                        <a:t>Available for all events</a:t>
                      </a:r>
                      <a:endParaRPr lang="en-US" sz="1100" kern="100" dirty="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extLst>
                  <a:ext uri="{0D108BD9-81ED-4DB2-BD59-A6C34878D82A}">
                    <a16:rowId xmlns:a16="http://schemas.microsoft.com/office/drawing/2014/main" val="1529191794"/>
                  </a:ext>
                </a:extLst>
              </a:tr>
            </a:tbl>
          </a:graphicData>
        </a:graphic>
      </p:graphicFrame>
    </p:spTree>
    <p:extLst>
      <p:ext uri="{BB962C8B-B14F-4D97-AF65-F5344CB8AC3E}">
        <p14:creationId xmlns:p14="http://schemas.microsoft.com/office/powerpoint/2010/main" val="29912431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2092398-6FE8-C06B-C1AE-62C7C00B991F}"/>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9C4A1A4-CAB2-2153-2610-272A8E131D8E}"/>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2A4778E-C78D-9684-F61D-189C2231CD85}"/>
              </a:ext>
            </a:extLst>
          </p:cNvPr>
          <p:cNvSpPr>
            <a:spLocks noGrp="1"/>
          </p:cNvSpPr>
          <p:nvPr>
            <p:ph type="title"/>
          </p:nvPr>
        </p:nvSpPr>
        <p:spPr>
          <a:xfrm>
            <a:off x="228600" y="233264"/>
            <a:ext cx="10287000" cy="783773"/>
          </a:xfrm>
        </p:spPr>
        <p:txBody>
          <a:bodyPr anchor="ctr">
            <a:normAutofit/>
          </a:bodyPr>
          <a:lstStyle/>
          <a:p>
            <a:r>
              <a:rPr lang="en-US" sz="4000" dirty="0">
                <a:gradFill flip="none" rotWithShape="1">
                  <a:gsLst>
                    <a:gs pos="0">
                      <a:schemeClr val="accent5">
                        <a:alpha val="70000"/>
                      </a:schemeClr>
                    </a:gs>
                    <a:gs pos="100000">
                      <a:schemeClr val="accent1">
                        <a:alpha val="70000"/>
                      </a:schemeClr>
                    </a:gs>
                  </a:gsLst>
                  <a:lin ang="0" scaled="1"/>
                  <a:tileRect/>
                </a:gradFill>
                <a:latin typeface="Times New Roman" panose="02020603050405020304" pitchFamily="18" charset="0"/>
                <a:cs typeface="Times New Roman" panose="02020603050405020304" pitchFamily="18" charset="0"/>
              </a:rPr>
              <a:t>Data Dictionary – Coupons Table</a:t>
            </a:r>
          </a:p>
        </p:txBody>
      </p:sp>
      <p:graphicFrame>
        <p:nvGraphicFramePr>
          <p:cNvPr id="4" name="Table 3">
            <a:extLst>
              <a:ext uri="{FF2B5EF4-FFF2-40B4-BE49-F238E27FC236}">
                <a16:creationId xmlns:a16="http://schemas.microsoft.com/office/drawing/2014/main" id="{8D12C9E1-6CC4-38EC-5DCA-0411D7B16D64}"/>
              </a:ext>
            </a:extLst>
          </p:cNvPr>
          <p:cNvGraphicFramePr>
            <a:graphicFrameLocks noGrp="1"/>
          </p:cNvGraphicFramePr>
          <p:nvPr>
            <p:extLst>
              <p:ext uri="{D42A27DB-BD31-4B8C-83A1-F6EECF244321}">
                <p14:modId xmlns:p14="http://schemas.microsoft.com/office/powerpoint/2010/main" val="3791599614"/>
              </p:ext>
            </p:extLst>
          </p:nvPr>
        </p:nvGraphicFramePr>
        <p:xfrm>
          <a:off x="228600" y="1360714"/>
          <a:ext cx="11103426" cy="3893276"/>
        </p:xfrm>
        <a:graphic>
          <a:graphicData uri="http://schemas.openxmlformats.org/drawingml/2006/table">
            <a:tbl>
              <a:tblPr firstRow="1" firstCol="1" bandRow="1">
                <a:tableStyleId>{5C22544A-7EE6-4342-B048-85BDC9FD1C3A}</a:tableStyleId>
              </a:tblPr>
              <a:tblGrid>
                <a:gridCol w="1233714">
                  <a:extLst>
                    <a:ext uri="{9D8B030D-6E8A-4147-A177-3AD203B41FA5}">
                      <a16:colId xmlns:a16="http://schemas.microsoft.com/office/drawing/2014/main" val="353837643"/>
                    </a:ext>
                  </a:extLst>
                </a:gridCol>
                <a:gridCol w="1233714">
                  <a:extLst>
                    <a:ext uri="{9D8B030D-6E8A-4147-A177-3AD203B41FA5}">
                      <a16:colId xmlns:a16="http://schemas.microsoft.com/office/drawing/2014/main" val="1513758039"/>
                    </a:ext>
                  </a:extLst>
                </a:gridCol>
                <a:gridCol w="1233714">
                  <a:extLst>
                    <a:ext uri="{9D8B030D-6E8A-4147-A177-3AD203B41FA5}">
                      <a16:colId xmlns:a16="http://schemas.microsoft.com/office/drawing/2014/main" val="917731887"/>
                    </a:ext>
                  </a:extLst>
                </a:gridCol>
                <a:gridCol w="1233714">
                  <a:extLst>
                    <a:ext uri="{9D8B030D-6E8A-4147-A177-3AD203B41FA5}">
                      <a16:colId xmlns:a16="http://schemas.microsoft.com/office/drawing/2014/main" val="3320684853"/>
                    </a:ext>
                  </a:extLst>
                </a:gridCol>
                <a:gridCol w="1233714">
                  <a:extLst>
                    <a:ext uri="{9D8B030D-6E8A-4147-A177-3AD203B41FA5}">
                      <a16:colId xmlns:a16="http://schemas.microsoft.com/office/drawing/2014/main" val="3292873922"/>
                    </a:ext>
                  </a:extLst>
                </a:gridCol>
                <a:gridCol w="1233714">
                  <a:extLst>
                    <a:ext uri="{9D8B030D-6E8A-4147-A177-3AD203B41FA5}">
                      <a16:colId xmlns:a16="http://schemas.microsoft.com/office/drawing/2014/main" val="313077923"/>
                    </a:ext>
                  </a:extLst>
                </a:gridCol>
                <a:gridCol w="1233714">
                  <a:extLst>
                    <a:ext uri="{9D8B030D-6E8A-4147-A177-3AD203B41FA5}">
                      <a16:colId xmlns:a16="http://schemas.microsoft.com/office/drawing/2014/main" val="876841584"/>
                    </a:ext>
                  </a:extLst>
                </a:gridCol>
                <a:gridCol w="1233714">
                  <a:extLst>
                    <a:ext uri="{9D8B030D-6E8A-4147-A177-3AD203B41FA5}">
                      <a16:colId xmlns:a16="http://schemas.microsoft.com/office/drawing/2014/main" val="2868765324"/>
                    </a:ext>
                  </a:extLst>
                </a:gridCol>
                <a:gridCol w="1233714">
                  <a:extLst>
                    <a:ext uri="{9D8B030D-6E8A-4147-A177-3AD203B41FA5}">
                      <a16:colId xmlns:a16="http://schemas.microsoft.com/office/drawing/2014/main" val="2530685409"/>
                    </a:ext>
                  </a:extLst>
                </a:gridCol>
              </a:tblGrid>
              <a:tr h="367799">
                <a:tc>
                  <a:txBody>
                    <a:bodyPr/>
                    <a:lstStyle/>
                    <a:p>
                      <a:pPr marL="0" marR="0" algn="just">
                        <a:lnSpc>
                          <a:spcPct val="107000"/>
                        </a:lnSpc>
                        <a:spcAft>
                          <a:spcPts val="800"/>
                        </a:spcAft>
                      </a:pPr>
                      <a:r>
                        <a:rPr lang="en-US" sz="900" kern="100">
                          <a:effectLst/>
                        </a:rPr>
                        <a:t>Attribute Name</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Contents</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Data Type</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Format</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Range</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Required</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PK or FK</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FK Reference</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Sample Data</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extLst>
                  <a:ext uri="{0D108BD9-81ED-4DB2-BD59-A6C34878D82A}">
                    <a16:rowId xmlns:a16="http://schemas.microsoft.com/office/drawing/2014/main" val="3930143747"/>
                  </a:ext>
                </a:extLst>
              </a:tr>
              <a:tr h="705096">
                <a:tc>
                  <a:txBody>
                    <a:bodyPr/>
                    <a:lstStyle/>
                    <a:p>
                      <a:pPr marL="0" marR="0" algn="just">
                        <a:lnSpc>
                          <a:spcPct val="107000"/>
                        </a:lnSpc>
                        <a:spcAft>
                          <a:spcPts val="800"/>
                        </a:spcAft>
                      </a:pPr>
                      <a:r>
                        <a:rPr lang="en-US" sz="900" kern="100">
                          <a:effectLst/>
                        </a:rPr>
                        <a:t>couponID</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Unique identifier for the coupon</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dirty="0">
                          <a:effectLst/>
                        </a:rPr>
                        <a:t>INT</a:t>
                      </a:r>
                      <a:endParaRPr lang="en-US" sz="1100" kern="100" dirty="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N/A</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N/A</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Y</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PK</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N/A</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301</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extLst>
                  <a:ext uri="{0D108BD9-81ED-4DB2-BD59-A6C34878D82A}">
                    <a16:rowId xmlns:a16="http://schemas.microsoft.com/office/drawing/2014/main" val="4072652745"/>
                  </a:ext>
                </a:extLst>
              </a:tr>
              <a:tr h="705096">
                <a:tc>
                  <a:txBody>
                    <a:bodyPr/>
                    <a:lstStyle/>
                    <a:p>
                      <a:pPr marL="0" marR="0" algn="just">
                        <a:lnSpc>
                          <a:spcPct val="107000"/>
                        </a:lnSpc>
                        <a:spcAft>
                          <a:spcPts val="800"/>
                        </a:spcAft>
                      </a:pPr>
                      <a:r>
                        <a:rPr lang="en-US" sz="900" kern="100">
                          <a:effectLst/>
                        </a:rPr>
                        <a:t>employeeID</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Employee receiving the coupon</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INT</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N/A</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N/A</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Y</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FK</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Employee(employeeID)</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2001</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extLst>
                  <a:ext uri="{0D108BD9-81ED-4DB2-BD59-A6C34878D82A}">
                    <a16:rowId xmlns:a16="http://schemas.microsoft.com/office/drawing/2014/main" val="1539507915"/>
                  </a:ext>
                </a:extLst>
              </a:tr>
              <a:tr h="367799">
                <a:tc>
                  <a:txBody>
                    <a:bodyPr/>
                    <a:lstStyle/>
                    <a:p>
                      <a:pPr marL="0" marR="0" algn="just">
                        <a:lnSpc>
                          <a:spcPct val="107000"/>
                        </a:lnSpc>
                        <a:spcAft>
                          <a:spcPts val="800"/>
                        </a:spcAft>
                      </a:pPr>
                      <a:r>
                        <a:rPr lang="en-US" sz="900" kern="100">
                          <a:effectLst/>
                        </a:rPr>
                        <a:t>couponValue</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Value of the coupon</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INT</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N/A</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N/A</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Y</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N/A</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N/A</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5</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extLst>
                  <a:ext uri="{0D108BD9-81ED-4DB2-BD59-A6C34878D82A}">
                    <a16:rowId xmlns:a16="http://schemas.microsoft.com/office/drawing/2014/main" val="1745861077"/>
                  </a:ext>
                </a:extLst>
              </a:tr>
              <a:tr h="1042390">
                <a:tc>
                  <a:txBody>
                    <a:bodyPr/>
                    <a:lstStyle/>
                    <a:p>
                      <a:pPr marL="0" marR="0" algn="just">
                        <a:lnSpc>
                          <a:spcPct val="107000"/>
                        </a:lnSpc>
                        <a:spcAft>
                          <a:spcPts val="800"/>
                        </a:spcAft>
                      </a:pPr>
                      <a:r>
                        <a:rPr lang="en-US" sz="900" kern="100">
                          <a:effectLst/>
                        </a:rPr>
                        <a:t>redemptionStatus</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Status of coupon (Redeemed/Unredeemed)</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VARCHAR(10)</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Xxxxxxxxx</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N/A</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Y</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N/A</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N/A</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Unredeemed</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extLst>
                  <a:ext uri="{0D108BD9-81ED-4DB2-BD59-A6C34878D82A}">
                    <a16:rowId xmlns:a16="http://schemas.microsoft.com/office/drawing/2014/main" val="4086780860"/>
                  </a:ext>
                </a:extLst>
              </a:tr>
              <a:tr h="705096">
                <a:tc>
                  <a:txBody>
                    <a:bodyPr/>
                    <a:lstStyle/>
                    <a:p>
                      <a:pPr marL="0" marR="0" algn="just">
                        <a:lnSpc>
                          <a:spcPct val="107000"/>
                        </a:lnSpc>
                        <a:spcAft>
                          <a:spcPts val="800"/>
                        </a:spcAft>
                      </a:pPr>
                      <a:r>
                        <a:rPr lang="en-US" sz="900" kern="100">
                          <a:effectLst/>
                        </a:rPr>
                        <a:t>allocatedByEmployeeID</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Employee allocating the coupon</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INT</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dirty="0">
                          <a:effectLst/>
                        </a:rPr>
                        <a:t>N/A</a:t>
                      </a:r>
                      <a:endParaRPr lang="en-US" sz="1100" kern="100" dirty="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N/A</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Y</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FK</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Employee(employeeID)</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dirty="0">
                          <a:effectLst/>
                        </a:rPr>
                        <a:t>2002</a:t>
                      </a:r>
                      <a:endParaRPr lang="en-US" sz="1100" kern="100" dirty="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extLst>
                  <a:ext uri="{0D108BD9-81ED-4DB2-BD59-A6C34878D82A}">
                    <a16:rowId xmlns:a16="http://schemas.microsoft.com/office/drawing/2014/main" val="3386738974"/>
                  </a:ext>
                </a:extLst>
              </a:tr>
            </a:tbl>
          </a:graphicData>
        </a:graphic>
      </p:graphicFrame>
    </p:spTree>
    <p:extLst>
      <p:ext uri="{BB962C8B-B14F-4D97-AF65-F5344CB8AC3E}">
        <p14:creationId xmlns:p14="http://schemas.microsoft.com/office/powerpoint/2010/main" val="6780271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FD56484-D11E-1C6A-6EAA-37B96739DE38}"/>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88DB331-7010-02B5-FB2A-B56C50359C74}"/>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242AC9C-004E-D40F-99A7-A76D107AE746}"/>
              </a:ext>
            </a:extLst>
          </p:cNvPr>
          <p:cNvSpPr>
            <a:spLocks noGrp="1"/>
          </p:cNvSpPr>
          <p:nvPr>
            <p:ph type="title"/>
          </p:nvPr>
        </p:nvSpPr>
        <p:spPr>
          <a:xfrm>
            <a:off x="326570" y="401215"/>
            <a:ext cx="10189029" cy="625151"/>
          </a:xfrm>
        </p:spPr>
        <p:txBody>
          <a:bodyPr anchor="ctr">
            <a:normAutofit fontScale="90000"/>
          </a:bodyPr>
          <a:lstStyle/>
          <a:p>
            <a:r>
              <a:rPr lang="en-US" sz="4400" dirty="0">
                <a:gradFill flip="none" rotWithShape="1">
                  <a:gsLst>
                    <a:gs pos="0">
                      <a:schemeClr val="accent5">
                        <a:alpha val="70000"/>
                      </a:schemeClr>
                    </a:gs>
                    <a:gs pos="100000">
                      <a:schemeClr val="accent1">
                        <a:alpha val="70000"/>
                      </a:schemeClr>
                    </a:gs>
                  </a:gsLst>
                  <a:lin ang="0" scaled="1"/>
                  <a:tileRect/>
                </a:gradFill>
                <a:latin typeface="Times New Roman" panose="02020603050405020304" pitchFamily="18" charset="0"/>
                <a:cs typeface="Times New Roman" panose="02020603050405020304" pitchFamily="18" charset="0"/>
              </a:rPr>
              <a:t>Data Dictionary – Salaries Table</a:t>
            </a:r>
          </a:p>
        </p:txBody>
      </p:sp>
      <p:graphicFrame>
        <p:nvGraphicFramePr>
          <p:cNvPr id="4" name="Table 3">
            <a:extLst>
              <a:ext uri="{FF2B5EF4-FFF2-40B4-BE49-F238E27FC236}">
                <a16:creationId xmlns:a16="http://schemas.microsoft.com/office/drawing/2014/main" id="{5BD3711A-E2BC-AF8A-758B-E5AF775DA30C}"/>
              </a:ext>
            </a:extLst>
          </p:cNvPr>
          <p:cNvGraphicFramePr>
            <a:graphicFrameLocks noGrp="1"/>
          </p:cNvGraphicFramePr>
          <p:nvPr>
            <p:extLst>
              <p:ext uri="{D42A27DB-BD31-4B8C-83A1-F6EECF244321}">
                <p14:modId xmlns:p14="http://schemas.microsoft.com/office/powerpoint/2010/main" val="14870552"/>
              </p:ext>
            </p:extLst>
          </p:nvPr>
        </p:nvGraphicFramePr>
        <p:xfrm>
          <a:off x="326571" y="1567543"/>
          <a:ext cx="11027232" cy="3457849"/>
        </p:xfrm>
        <a:graphic>
          <a:graphicData uri="http://schemas.openxmlformats.org/drawingml/2006/table">
            <a:tbl>
              <a:tblPr firstRow="1" firstCol="1" bandRow="1">
                <a:tableStyleId>{5C22544A-7EE6-4342-B048-85BDC9FD1C3A}</a:tableStyleId>
              </a:tblPr>
              <a:tblGrid>
                <a:gridCol w="1225248">
                  <a:extLst>
                    <a:ext uri="{9D8B030D-6E8A-4147-A177-3AD203B41FA5}">
                      <a16:colId xmlns:a16="http://schemas.microsoft.com/office/drawing/2014/main" val="828650339"/>
                    </a:ext>
                  </a:extLst>
                </a:gridCol>
                <a:gridCol w="1225248">
                  <a:extLst>
                    <a:ext uri="{9D8B030D-6E8A-4147-A177-3AD203B41FA5}">
                      <a16:colId xmlns:a16="http://schemas.microsoft.com/office/drawing/2014/main" val="11755958"/>
                    </a:ext>
                  </a:extLst>
                </a:gridCol>
                <a:gridCol w="1225248">
                  <a:extLst>
                    <a:ext uri="{9D8B030D-6E8A-4147-A177-3AD203B41FA5}">
                      <a16:colId xmlns:a16="http://schemas.microsoft.com/office/drawing/2014/main" val="2275311431"/>
                    </a:ext>
                  </a:extLst>
                </a:gridCol>
                <a:gridCol w="1225248">
                  <a:extLst>
                    <a:ext uri="{9D8B030D-6E8A-4147-A177-3AD203B41FA5}">
                      <a16:colId xmlns:a16="http://schemas.microsoft.com/office/drawing/2014/main" val="524909900"/>
                    </a:ext>
                  </a:extLst>
                </a:gridCol>
                <a:gridCol w="1225248">
                  <a:extLst>
                    <a:ext uri="{9D8B030D-6E8A-4147-A177-3AD203B41FA5}">
                      <a16:colId xmlns:a16="http://schemas.microsoft.com/office/drawing/2014/main" val="396943915"/>
                    </a:ext>
                  </a:extLst>
                </a:gridCol>
                <a:gridCol w="1225248">
                  <a:extLst>
                    <a:ext uri="{9D8B030D-6E8A-4147-A177-3AD203B41FA5}">
                      <a16:colId xmlns:a16="http://schemas.microsoft.com/office/drawing/2014/main" val="600304101"/>
                    </a:ext>
                  </a:extLst>
                </a:gridCol>
                <a:gridCol w="1225248">
                  <a:extLst>
                    <a:ext uri="{9D8B030D-6E8A-4147-A177-3AD203B41FA5}">
                      <a16:colId xmlns:a16="http://schemas.microsoft.com/office/drawing/2014/main" val="392349328"/>
                    </a:ext>
                  </a:extLst>
                </a:gridCol>
                <a:gridCol w="1225248">
                  <a:extLst>
                    <a:ext uri="{9D8B030D-6E8A-4147-A177-3AD203B41FA5}">
                      <a16:colId xmlns:a16="http://schemas.microsoft.com/office/drawing/2014/main" val="3550797748"/>
                    </a:ext>
                  </a:extLst>
                </a:gridCol>
                <a:gridCol w="1225248">
                  <a:extLst>
                    <a:ext uri="{9D8B030D-6E8A-4147-A177-3AD203B41FA5}">
                      <a16:colId xmlns:a16="http://schemas.microsoft.com/office/drawing/2014/main" val="127357128"/>
                    </a:ext>
                  </a:extLst>
                </a:gridCol>
              </a:tblGrid>
              <a:tr h="326664">
                <a:tc>
                  <a:txBody>
                    <a:bodyPr/>
                    <a:lstStyle/>
                    <a:p>
                      <a:pPr marL="0" marR="0" algn="just">
                        <a:lnSpc>
                          <a:spcPct val="107000"/>
                        </a:lnSpc>
                        <a:spcAft>
                          <a:spcPts val="800"/>
                        </a:spcAft>
                      </a:pPr>
                      <a:r>
                        <a:rPr lang="en-US" sz="900" kern="100">
                          <a:effectLst/>
                        </a:rPr>
                        <a:t>Attribute Name</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Contents</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Data Type</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Format</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Range</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Required</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PK or FK</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FK Reference</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Sample Data</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extLst>
                  <a:ext uri="{0D108BD9-81ED-4DB2-BD59-A6C34878D82A}">
                    <a16:rowId xmlns:a16="http://schemas.microsoft.com/office/drawing/2014/main" val="810717759"/>
                  </a:ext>
                </a:extLst>
              </a:tr>
              <a:tr h="626237">
                <a:tc>
                  <a:txBody>
                    <a:bodyPr/>
                    <a:lstStyle/>
                    <a:p>
                      <a:pPr marL="0" marR="0" algn="just">
                        <a:lnSpc>
                          <a:spcPct val="107000"/>
                        </a:lnSpc>
                        <a:spcAft>
                          <a:spcPts val="800"/>
                        </a:spcAft>
                      </a:pPr>
                      <a:r>
                        <a:rPr lang="en-US" sz="900" kern="100">
                          <a:effectLst/>
                        </a:rPr>
                        <a:t>employeeID</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Employee receiving the salary</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INT</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N/A</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N/A</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Y</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PK, FK</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Employee(employeeID)</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2001</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extLst>
                  <a:ext uri="{0D108BD9-81ED-4DB2-BD59-A6C34878D82A}">
                    <a16:rowId xmlns:a16="http://schemas.microsoft.com/office/drawing/2014/main" val="3190857051"/>
                  </a:ext>
                </a:extLst>
              </a:tr>
              <a:tr h="626237">
                <a:tc>
                  <a:txBody>
                    <a:bodyPr/>
                    <a:lstStyle/>
                    <a:p>
                      <a:pPr marL="0" marR="0" algn="just">
                        <a:lnSpc>
                          <a:spcPct val="107000"/>
                        </a:lnSpc>
                        <a:spcAft>
                          <a:spcPts val="800"/>
                        </a:spcAft>
                      </a:pPr>
                      <a:r>
                        <a:rPr lang="en-US" sz="900" kern="100">
                          <a:effectLst/>
                        </a:rPr>
                        <a:t>salaryAmount</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Total salary of the employee</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INT</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N/A</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0-99999</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Y</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N/A</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N/A</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5000</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extLst>
                  <a:ext uri="{0D108BD9-81ED-4DB2-BD59-A6C34878D82A}">
                    <a16:rowId xmlns:a16="http://schemas.microsoft.com/office/drawing/2014/main" val="3134133743"/>
                  </a:ext>
                </a:extLst>
              </a:tr>
              <a:tr h="626237">
                <a:tc>
                  <a:txBody>
                    <a:bodyPr/>
                    <a:lstStyle/>
                    <a:p>
                      <a:pPr marL="0" marR="0" algn="just">
                        <a:lnSpc>
                          <a:spcPct val="107000"/>
                        </a:lnSpc>
                        <a:spcAft>
                          <a:spcPts val="800"/>
                        </a:spcAft>
                      </a:pPr>
                      <a:r>
                        <a:rPr lang="en-US" sz="900" kern="100">
                          <a:effectLst/>
                        </a:rPr>
                        <a:t>hoursWorked</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Number of hours worked (for part-time)</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INT</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N/A</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0-40</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N</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N/A</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N/A</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20</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extLst>
                  <a:ext uri="{0D108BD9-81ED-4DB2-BD59-A6C34878D82A}">
                    <a16:rowId xmlns:a16="http://schemas.microsoft.com/office/drawing/2014/main" val="2515538355"/>
                  </a:ext>
                </a:extLst>
              </a:tr>
              <a:tr h="626237">
                <a:tc>
                  <a:txBody>
                    <a:bodyPr/>
                    <a:lstStyle/>
                    <a:p>
                      <a:pPr marL="0" marR="0" algn="just">
                        <a:lnSpc>
                          <a:spcPct val="107000"/>
                        </a:lnSpc>
                        <a:spcAft>
                          <a:spcPts val="800"/>
                        </a:spcAft>
                      </a:pPr>
                      <a:r>
                        <a:rPr lang="en-US" sz="900" kern="100">
                          <a:effectLst/>
                        </a:rPr>
                        <a:t>hourlyPay</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Hourly pay rate for part-time employees</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INT</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N/A</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0-100</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N</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N/A</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N/A</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25</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extLst>
                  <a:ext uri="{0D108BD9-81ED-4DB2-BD59-A6C34878D82A}">
                    <a16:rowId xmlns:a16="http://schemas.microsoft.com/office/drawing/2014/main" val="1732446726"/>
                  </a:ext>
                </a:extLst>
              </a:tr>
              <a:tr h="626237">
                <a:tc>
                  <a:txBody>
                    <a:bodyPr/>
                    <a:lstStyle/>
                    <a:p>
                      <a:pPr marL="0" marR="0" algn="just">
                        <a:lnSpc>
                          <a:spcPct val="107000"/>
                        </a:lnSpc>
                        <a:spcAft>
                          <a:spcPts val="800"/>
                        </a:spcAft>
                      </a:pPr>
                      <a:r>
                        <a:rPr lang="en-US" sz="900" kern="100">
                          <a:effectLst/>
                        </a:rPr>
                        <a:t>fixedPay</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Fixed salary for full-time employees</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INT</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N/A</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0-99999</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N</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N/A</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N/A</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dirty="0">
                          <a:effectLst/>
                        </a:rPr>
                        <a:t>5000</a:t>
                      </a:r>
                      <a:endParaRPr lang="en-US" sz="1100" kern="100" dirty="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extLst>
                  <a:ext uri="{0D108BD9-81ED-4DB2-BD59-A6C34878D82A}">
                    <a16:rowId xmlns:a16="http://schemas.microsoft.com/office/drawing/2014/main" val="2566248209"/>
                  </a:ext>
                </a:extLst>
              </a:tr>
            </a:tbl>
          </a:graphicData>
        </a:graphic>
      </p:graphicFrame>
    </p:spTree>
    <p:extLst>
      <p:ext uri="{BB962C8B-B14F-4D97-AF65-F5344CB8AC3E}">
        <p14:creationId xmlns:p14="http://schemas.microsoft.com/office/powerpoint/2010/main" val="22015447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018FD32-F7A4-E006-D048-A5FDB2A8BD71}"/>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0B819E0-602F-D13B-657F-86D2B3864628}"/>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C60FE2E-B179-CE8B-8A84-3FCB6B035D9C}"/>
              </a:ext>
            </a:extLst>
          </p:cNvPr>
          <p:cNvSpPr>
            <a:spLocks noGrp="1"/>
          </p:cNvSpPr>
          <p:nvPr>
            <p:ph type="title"/>
          </p:nvPr>
        </p:nvSpPr>
        <p:spPr>
          <a:xfrm>
            <a:off x="335902" y="167950"/>
            <a:ext cx="10179698" cy="653144"/>
          </a:xfrm>
        </p:spPr>
        <p:txBody>
          <a:bodyPr anchor="ctr">
            <a:normAutofit fontScale="90000"/>
          </a:bodyPr>
          <a:lstStyle/>
          <a:p>
            <a:r>
              <a:rPr lang="en-US" sz="4400" dirty="0">
                <a:gradFill flip="none" rotWithShape="1">
                  <a:gsLst>
                    <a:gs pos="0">
                      <a:schemeClr val="accent5">
                        <a:alpha val="70000"/>
                      </a:schemeClr>
                    </a:gs>
                    <a:gs pos="100000">
                      <a:schemeClr val="accent1">
                        <a:alpha val="70000"/>
                      </a:schemeClr>
                    </a:gs>
                  </a:gsLst>
                  <a:lin ang="0" scaled="1"/>
                  <a:tileRect/>
                </a:gradFill>
                <a:latin typeface="Times New Roman" panose="02020603050405020304" pitchFamily="18" charset="0"/>
                <a:cs typeface="Times New Roman" panose="02020603050405020304" pitchFamily="18" charset="0"/>
              </a:rPr>
              <a:t>Data Dictionary – Vendor Table</a:t>
            </a:r>
          </a:p>
        </p:txBody>
      </p:sp>
      <p:graphicFrame>
        <p:nvGraphicFramePr>
          <p:cNvPr id="4" name="Table 3">
            <a:extLst>
              <a:ext uri="{FF2B5EF4-FFF2-40B4-BE49-F238E27FC236}">
                <a16:creationId xmlns:a16="http://schemas.microsoft.com/office/drawing/2014/main" id="{426575A1-8AAE-7F6D-07BF-7AB4ED615E5B}"/>
              </a:ext>
            </a:extLst>
          </p:cNvPr>
          <p:cNvGraphicFramePr>
            <a:graphicFrameLocks noGrp="1"/>
          </p:cNvGraphicFramePr>
          <p:nvPr>
            <p:extLst>
              <p:ext uri="{D42A27DB-BD31-4B8C-83A1-F6EECF244321}">
                <p14:modId xmlns:p14="http://schemas.microsoft.com/office/powerpoint/2010/main" val="3758479232"/>
              </p:ext>
            </p:extLst>
          </p:nvPr>
        </p:nvGraphicFramePr>
        <p:xfrm>
          <a:off x="261258" y="892629"/>
          <a:ext cx="11092545" cy="5346329"/>
        </p:xfrm>
        <a:graphic>
          <a:graphicData uri="http://schemas.openxmlformats.org/drawingml/2006/table">
            <a:tbl>
              <a:tblPr firstRow="1" firstCol="1" bandRow="1">
                <a:tableStyleId>{5C22544A-7EE6-4342-B048-85BDC9FD1C3A}</a:tableStyleId>
              </a:tblPr>
              <a:tblGrid>
                <a:gridCol w="1232505">
                  <a:extLst>
                    <a:ext uri="{9D8B030D-6E8A-4147-A177-3AD203B41FA5}">
                      <a16:colId xmlns:a16="http://schemas.microsoft.com/office/drawing/2014/main" val="4142997622"/>
                    </a:ext>
                  </a:extLst>
                </a:gridCol>
                <a:gridCol w="1232505">
                  <a:extLst>
                    <a:ext uri="{9D8B030D-6E8A-4147-A177-3AD203B41FA5}">
                      <a16:colId xmlns:a16="http://schemas.microsoft.com/office/drawing/2014/main" val="2925824493"/>
                    </a:ext>
                  </a:extLst>
                </a:gridCol>
                <a:gridCol w="1232505">
                  <a:extLst>
                    <a:ext uri="{9D8B030D-6E8A-4147-A177-3AD203B41FA5}">
                      <a16:colId xmlns:a16="http://schemas.microsoft.com/office/drawing/2014/main" val="1098973415"/>
                    </a:ext>
                  </a:extLst>
                </a:gridCol>
                <a:gridCol w="1232505">
                  <a:extLst>
                    <a:ext uri="{9D8B030D-6E8A-4147-A177-3AD203B41FA5}">
                      <a16:colId xmlns:a16="http://schemas.microsoft.com/office/drawing/2014/main" val="1536856129"/>
                    </a:ext>
                  </a:extLst>
                </a:gridCol>
                <a:gridCol w="1232505">
                  <a:extLst>
                    <a:ext uri="{9D8B030D-6E8A-4147-A177-3AD203B41FA5}">
                      <a16:colId xmlns:a16="http://schemas.microsoft.com/office/drawing/2014/main" val="722313948"/>
                    </a:ext>
                  </a:extLst>
                </a:gridCol>
                <a:gridCol w="1232505">
                  <a:extLst>
                    <a:ext uri="{9D8B030D-6E8A-4147-A177-3AD203B41FA5}">
                      <a16:colId xmlns:a16="http://schemas.microsoft.com/office/drawing/2014/main" val="2423266676"/>
                    </a:ext>
                  </a:extLst>
                </a:gridCol>
                <a:gridCol w="1232505">
                  <a:extLst>
                    <a:ext uri="{9D8B030D-6E8A-4147-A177-3AD203B41FA5}">
                      <a16:colId xmlns:a16="http://schemas.microsoft.com/office/drawing/2014/main" val="2824810502"/>
                    </a:ext>
                  </a:extLst>
                </a:gridCol>
                <a:gridCol w="1232505">
                  <a:extLst>
                    <a:ext uri="{9D8B030D-6E8A-4147-A177-3AD203B41FA5}">
                      <a16:colId xmlns:a16="http://schemas.microsoft.com/office/drawing/2014/main" val="2993334036"/>
                    </a:ext>
                  </a:extLst>
                </a:gridCol>
                <a:gridCol w="1232505">
                  <a:extLst>
                    <a:ext uri="{9D8B030D-6E8A-4147-A177-3AD203B41FA5}">
                      <a16:colId xmlns:a16="http://schemas.microsoft.com/office/drawing/2014/main" val="2889044435"/>
                    </a:ext>
                  </a:extLst>
                </a:gridCol>
              </a:tblGrid>
              <a:tr h="263944">
                <a:tc>
                  <a:txBody>
                    <a:bodyPr/>
                    <a:lstStyle/>
                    <a:p>
                      <a:pPr marL="0" marR="0" algn="just">
                        <a:lnSpc>
                          <a:spcPct val="107000"/>
                        </a:lnSpc>
                        <a:spcAft>
                          <a:spcPts val="800"/>
                        </a:spcAft>
                      </a:pPr>
                      <a:r>
                        <a:rPr lang="en-US" sz="900" kern="100">
                          <a:effectLst/>
                        </a:rPr>
                        <a:t>Attribute Name</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Contents</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Data Type</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Format</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Range</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Required</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PK or FK</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FK Reference</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Sample Data</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extLst>
                  <a:ext uri="{0D108BD9-81ED-4DB2-BD59-A6C34878D82A}">
                    <a16:rowId xmlns:a16="http://schemas.microsoft.com/office/drawing/2014/main" val="1857456474"/>
                  </a:ext>
                </a:extLst>
              </a:tr>
              <a:tr h="505998">
                <a:tc>
                  <a:txBody>
                    <a:bodyPr/>
                    <a:lstStyle/>
                    <a:p>
                      <a:pPr marL="0" marR="0" algn="just">
                        <a:lnSpc>
                          <a:spcPct val="107000"/>
                        </a:lnSpc>
                        <a:spcAft>
                          <a:spcPts val="800"/>
                        </a:spcAft>
                      </a:pPr>
                      <a:r>
                        <a:rPr lang="en-US" sz="900" kern="100">
                          <a:effectLst/>
                        </a:rPr>
                        <a:t>vendorID</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Unique identifier for the vendor</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INT</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N/A</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N/A</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Y</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PK</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N/A</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501</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extLst>
                  <a:ext uri="{0D108BD9-81ED-4DB2-BD59-A6C34878D82A}">
                    <a16:rowId xmlns:a16="http://schemas.microsoft.com/office/drawing/2014/main" val="3516446284"/>
                  </a:ext>
                </a:extLst>
              </a:tr>
              <a:tr h="319114">
                <a:tc>
                  <a:txBody>
                    <a:bodyPr/>
                    <a:lstStyle/>
                    <a:p>
                      <a:pPr marL="0" marR="0" algn="just">
                        <a:lnSpc>
                          <a:spcPct val="107000"/>
                        </a:lnSpc>
                        <a:spcAft>
                          <a:spcPts val="800"/>
                        </a:spcAft>
                      </a:pPr>
                      <a:r>
                        <a:rPr lang="en-US" sz="900" kern="100">
                          <a:effectLst/>
                        </a:rPr>
                        <a:t>firstName</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Vendor's first name</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VARCHAR(45)</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Xxxxxxxxxxx</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N/A</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Y</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N/A</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N/A</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Alice</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extLst>
                  <a:ext uri="{0D108BD9-81ED-4DB2-BD59-A6C34878D82A}">
                    <a16:rowId xmlns:a16="http://schemas.microsoft.com/office/drawing/2014/main" val="4242069900"/>
                  </a:ext>
                </a:extLst>
              </a:tr>
              <a:tr h="505998">
                <a:tc>
                  <a:txBody>
                    <a:bodyPr/>
                    <a:lstStyle/>
                    <a:p>
                      <a:pPr marL="0" marR="0" algn="just">
                        <a:lnSpc>
                          <a:spcPct val="107000"/>
                        </a:lnSpc>
                        <a:spcAft>
                          <a:spcPts val="800"/>
                        </a:spcAft>
                      </a:pPr>
                      <a:r>
                        <a:rPr lang="en-US" sz="900" kern="100">
                          <a:effectLst/>
                        </a:rPr>
                        <a:t>middleName</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Vendor's middle name</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VARCHAR(45)</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Xxxxxxxxxxx</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N/A</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N</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N/A</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N/A</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NULL</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extLst>
                  <a:ext uri="{0D108BD9-81ED-4DB2-BD59-A6C34878D82A}">
                    <a16:rowId xmlns:a16="http://schemas.microsoft.com/office/drawing/2014/main" val="3747396840"/>
                  </a:ext>
                </a:extLst>
              </a:tr>
              <a:tr h="319114">
                <a:tc>
                  <a:txBody>
                    <a:bodyPr/>
                    <a:lstStyle/>
                    <a:p>
                      <a:pPr marL="0" marR="0" algn="just">
                        <a:lnSpc>
                          <a:spcPct val="107000"/>
                        </a:lnSpc>
                        <a:spcAft>
                          <a:spcPts val="800"/>
                        </a:spcAft>
                      </a:pPr>
                      <a:r>
                        <a:rPr lang="en-US" sz="900" kern="100">
                          <a:effectLst/>
                        </a:rPr>
                        <a:t>lastName</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Vendor's last name</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VARCHAR(45)</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Xxxxxxxxxxx</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N/A</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Y</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N/A</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N/A</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Supplier</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extLst>
                  <a:ext uri="{0D108BD9-81ED-4DB2-BD59-A6C34878D82A}">
                    <a16:rowId xmlns:a16="http://schemas.microsoft.com/office/drawing/2014/main" val="264424008"/>
                  </a:ext>
                </a:extLst>
              </a:tr>
              <a:tr h="505998">
                <a:tc>
                  <a:txBody>
                    <a:bodyPr/>
                    <a:lstStyle/>
                    <a:p>
                      <a:pPr marL="0" marR="0" algn="just">
                        <a:lnSpc>
                          <a:spcPct val="107000"/>
                        </a:lnSpc>
                        <a:spcAft>
                          <a:spcPts val="800"/>
                        </a:spcAft>
                      </a:pPr>
                      <a:r>
                        <a:rPr lang="en-US" sz="900" kern="100">
                          <a:effectLst/>
                        </a:rPr>
                        <a:t>phoneNum</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Vendor's phone number</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VARCHAR(15)</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Xxxxxxxxxx</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N/A</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Y</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N/A</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N/A</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1234567890</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extLst>
                  <a:ext uri="{0D108BD9-81ED-4DB2-BD59-A6C34878D82A}">
                    <a16:rowId xmlns:a16="http://schemas.microsoft.com/office/drawing/2014/main" val="3591038422"/>
                  </a:ext>
                </a:extLst>
              </a:tr>
              <a:tr h="505998">
                <a:tc>
                  <a:txBody>
                    <a:bodyPr/>
                    <a:lstStyle/>
                    <a:p>
                      <a:pPr marL="0" marR="0" algn="just">
                        <a:lnSpc>
                          <a:spcPct val="107000"/>
                        </a:lnSpc>
                        <a:spcAft>
                          <a:spcPts val="800"/>
                        </a:spcAft>
                      </a:pPr>
                      <a:r>
                        <a:rPr lang="en-US" sz="900" kern="100">
                          <a:effectLst/>
                        </a:rPr>
                        <a:t>emailID</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Vendor's email address</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VARCHAR(50)</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Xxxxx@xxxx.xx</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N/A</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Y</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N/A</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N/A</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alice.supplier@xyz.com</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extLst>
                  <a:ext uri="{0D108BD9-81ED-4DB2-BD59-A6C34878D82A}">
                    <a16:rowId xmlns:a16="http://schemas.microsoft.com/office/drawing/2014/main" val="409327954"/>
                  </a:ext>
                </a:extLst>
              </a:tr>
              <a:tr h="505998">
                <a:tc>
                  <a:txBody>
                    <a:bodyPr/>
                    <a:lstStyle/>
                    <a:p>
                      <a:pPr marL="0" marR="0" algn="just">
                        <a:lnSpc>
                          <a:spcPct val="107000"/>
                        </a:lnSpc>
                        <a:spcAft>
                          <a:spcPts val="800"/>
                        </a:spcAft>
                      </a:pPr>
                      <a:r>
                        <a:rPr lang="en-US" sz="900" kern="100">
                          <a:effectLst/>
                        </a:rPr>
                        <a:t>aptNum</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Vendor's apartment number</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VARCHAR(15)</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Xxxxxxxxxxx</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N/A</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N</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N/A</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N/A</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12A</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extLst>
                  <a:ext uri="{0D108BD9-81ED-4DB2-BD59-A6C34878D82A}">
                    <a16:rowId xmlns:a16="http://schemas.microsoft.com/office/drawing/2014/main" val="3237545649"/>
                  </a:ext>
                </a:extLst>
              </a:tr>
              <a:tr h="319114">
                <a:tc>
                  <a:txBody>
                    <a:bodyPr/>
                    <a:lstStyle/>
                    <a:p>
                      <a:pPr marL="0" marR="0" algn="just">
                        <a:lnSpc>
                          <a:spcPct val="107000"/>
                        </a:lnSpc>
                        <a:spcAft>
                          <a:spcPts val="800"/>
                        </a:spcAft>
                      </a:pPr>
                      <a:r>
                        <a:rPr lang="en-US" sz="900" kern="100">
                          <a:effectLst/>
                        </a:rPr>
                        <a:t>streetName</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Vendor's street name</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VARCHAR(45)</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Xxxxxxxxxxx</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N/A</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Y</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N/A</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N/A</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Vendor Lane</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extLst>
                  <a:ext uri="{0D108BD9-81ED-4DB2-BD59-A6C34878D82A}">
                    <a16:rowId xmlns:a16="http://schemas.microsoft.com/office/drawing/2014/main" val="2713565931"/>
                  </a:ext>
                </a:extLst>
              </a:tr>
              <a:tr h="263944">
                <a:tc>
                  <a:txBody>
                    <a:bodyPr/>
                    <a:lstStyle/>
                    <a:p>
                      <a:pPr marL="0" marR="0" algn="just">
                        <a:lnSpc>
                          <a:spcPct val="107000"/>
                        </a:lnSpc>
                        <a:spcAft>
                          <a:spcPts val="800"/>
                        </a:spcAft>
                      </a:pPr>
                      <a:r>
                        <a:rPr lang="en-US" sz="900" kern="100">
                          <a:effectLst/>
                        </a:rPr>
                        <a:t>city</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Vendor's city</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VARCHAR(30)</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Xxxxxxxxxxx</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N/A</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Y</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N/A</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N/A</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CityA</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extLst>
                  <a:ext uri="{0D108BD9-81ED-4DB2-BD59-A6C34878D82A}">
                    <a16:rowId xmlns:a16="http://schemas.microsoft.com/office/drawing/2014/main" val="2499367236"/>
                  </a:ext>
                </a:extLst>
              </a:tr>
              <a:tr h="263944">
                <a:tc>
                  <a:txBody>
                    <a:bodyPr/>
                    <a:lstStyle/>
                    <a:p>
                      <a:pPr marL="0" marR="0" algn="just">
                        <a:lnSpc>
                          <a:spcPct val="107000"/>
                        </a:lnSpc>
                        <a:spcAft>
                          <a:spcPts val="800"/>
                        </a:spcAft>
                      </a:pPr>
                      <a:r>
                        <a:rPr lang="en-US" sz="900" kern="100">
                          <a:effectLst/>
                        </a:rPr>
                        <a:t>state</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Vendor's state</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VARCHAR(30)</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Xxxxxxxxxxx</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N/A</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Y</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N/A</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N/A</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StateA</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extLst>
                  <a:ext uri="{0D108BD9-81ED-4DB2-BD59-A6C34878D82A}">
                    <a16:rowId xmlns:a16="http://schemas.microsoft.com/office/drawing/2014/main" val="2203642213"/>
                  </a:ext>
                </a:extLst>
              </a:tr>
              <a:tr h="319114">
                <a:tc>
                  <a:txBody>
                    <a:bodyPr/>
                    <a:lstStyle/>
                    <a:p>
                      <a:pPr marL="0" marR="0" algn="just">
                        <a:lnSpc>
                          <a:spcPct val="107000"/>
                        </a:lnSpc>
                        <a:spcAft>
                          <a:spcPts val="800"/>
                        </a:spcAft>
                      </a:pPr>
                      <a:r>
                        <a:rPr lang="en-US" sz="900" kern="100">
                          <a:effectLst/>
                        </a:rPr>
                        <a:t>pincode</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Vendor's postal code</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INT</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Xxxxx</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N/A</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Y</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N/A</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N/A</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54321</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extLst>
                  <a:ext uri="{0D108BD9-81ED-4DB2-BD59-A6C34878D82A}">
                    <a16:rowId xmlns:a16="http://schemas.microsoft.com/office/drawing/2014/main" val="435753776"/>
                  </a:ext>
                </a:extLst>
              </a:tr>
              <a:tr h="748051">
                <a:tc>
                  <a:txBody>
                    <a:bodyPr/>
                    <a:lstStyle/>
                    <a:p>
                      <a:pPr marL="0" marR="0" algn="just">
                        <a:lnSpc>
                          <a:spcPct val="107000"/>
                        </a:lnSpc>
                        <a:spcAft>
                          <a:spcPts val="800"/>
                        </a:spcAft>
                      </a:pPr>
                      <a:r>
                        <a:rPr lang="en-US" sz="900" kern="100">
                          <a:effectLst/>
                        </a:rPr>
                        <a:t>category</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Type of goods provided by the vendor</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VARCHAR(50)</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Xxxxxxxxxxx</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N/A</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Y</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N/A</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N/A</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dirty="0">
                          <a:effectLst/>
                        </a:rPr>
                        <a:t>Food</a:t>
                      </a:r>
                      <a:endParaRPr lang="en-US" sz="1100" kern="100" dirty="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extLst>
                  <a:ext uri="{0D108BD9-81ED-4DB2-BD59-A6C34878D82A}">
                    <a16:rowId xmlns:a16="http://schemas.microsoft.com/office/drawing/2014/main" val="2781077439"/>
                  </a:ext>
                </a:extLst>
              </a:tr>
            </a:tbl>
          </a:graphicData>
        </a:graphic>
      </p:graphicFrame>
    </p:spTree>
    <p:extLst>
      <p:ext uri="{BB962C8B-B14F-4D97-AF65-F5344CB8AC3E}">
        <p14:creationId xmlns:p14="http://schemas.microsoft.com/office/powerpoint/2010/main" val="6916557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3B2EC51-065F-D220-7D10-956D94D82118}"/>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9E521F2-4609-2E19-ACAE-CEA148AD1F82}"/>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BBE6786-21D4-8BA5-9451-ECB9E56E402D}"/>
              </a:ext>
            </a:extLst>
          </p:cNvPr>
          <p:cNvSpPr>
            <a:spLocks noGrp="1"/>
          </p:cNvSpPr>
          <p:nvPr>
            <p:ph type="title"/>
          </p:nvPr>
        </p:nvSpPr>
        <p:spPr>
          <a:xfrm>
            <a:off x="381000" y="214603"/>
            <a:ext cx="10134600" cy="993711"/>
          </a:xfrm>
        </p:spPr>
        <p:txBody>
          <a:bodyPr anchor="ctr">
            <a:normAutofit/>
          </a:bodyPr>
          <a:lstStyle/>
          <a:p>
            <a:r>
              <a:rPr lang="en-US" sz="4000" dirty="0">
                <a:gradFill flip="none" rotWithShape="1">
                  <a:gsLst>
                    <a:gs pos="0">
                      <a:schemeClr val="accent5">
                        <a:alpha val="70000"/>
                      </a:schemeClr>
                    </a:gs>
                    <a:gs pos="100000">
                      <a:schemeClr val="accent1">
                        <a:alpha val="70000"/>
                      </a:schemeClr>
                    </a:gs>
                  </a:gsLst>
                  <a:lin ang="0" scaled="1"/>
                  <a:tileRect/>
                </a:gradFill>
                <a:latin typeface="Times New Roman" panose="02020603050405020304" pitchFamily="18" charset="0"/>
                <a:cs typeface="Times New Roman" panose="02020603050405020304" pitchFamily="18" charset="0"/>
              </a:rPr>
              <a:t>Data Dictionary – Inventory Table</a:t>
            </a:r>
          </a:p>
        </p:txBody>
      </p:sp>
      <p:graphicFrame>
        <p:nvGraphicFramePr>
          <p:cNvPr id="4" name="Table 3">
            <a:extLst>
              <a:ext uri="{FF2B5EF4-FFF2-40B4-BE49-F238E27FC236}">
                <a16:creationId xmlns:a16="http://schemas.microsoft.com/office/drawing/2014/main" id="{EA6A801C-4CA9-9036-DE52-6F5B08FD7259}"/>
              </a:ext>
            </a:extLst>
          </p:cNvPr>
          <p:cNvGraphicFramePr>
            <a:graphicFrameLocks noGrp="1"/>
          </p:cNvGraphicFramePr>
          <p:nvPr>
            <p:extLst>
              <p:ext uri="{D42A27DB-BD31-4B8C-83A1-F6EECF244321}">
                <p14:modId xmlns:p14="http://schemas.microsoft.com/office/powerpoint/2010/main" val="3801383068"/>
              </p:ext>
            </p:extLst>
          </p:nvPr>
        </p:nvGraphicFramePr>
        <p:xfrm>
          <a:off x="381000" y="1208315"/>
          <a:ext cx="10972800" cy="3989404"/>
        </p:xfrm>
        <a:graphic>
          <a:graphicData uri="http://schemas.openxmlformats.org/drawingml/2006/table">
            <a:tbl>
              <a:tblPr firstRow="1" firstCol="1" bandRow="1">
                <a:tableStyleId>{5C22544A-7EE6-4342-B048-85BDC9FD1C3A}</a:tableStyleId>
              </a:tblPr>
              <a:tblGrid>
                <a:gridCol w="1219200">
                  <a:extLst>
                    <a:ext uri="{9D8B030D-6E8A-4147-A177-3AD203B41FA5}">
                      <a16:colId xmlns:a16="http://schemas.microsoft.com/office/drawing/2014/main" val="421641588"/>
                    </a:ext>
                  </a:extLst>
                </a:gridCol>
                <a:gridCol w="1219200">
                  <a:extLst>
                    <a:ext uri="{9D8B030D-6E8A-4147-A177-3AD203B41FA5}">
                      <a16:colId xmlns:a16="http://schemas.microsoft.com/office/drawing/2014/main" val="2917456729"/>
                    </a:ext>
                  </a:extLst>
                </a:gridCol>
                <a:gridCol w="1219200">
                  <a:extLst>
                    <a:ext uri="{9D8B030D-6E8A-4147-A177-3AD203B41FA5}">
                      <a16:colId xmlns:a16="http://schemas.microsoft.com/office/drawing/2014/main" val="2086162715"/>
                    </a:ext>
                  </a:extLst>
                </a:gridCol>
                <a:gridCol w="1219200">
                  <a:extLst>
                    <a:ext uri="{9D8B030D-6E8A-4147-A177-3AD203B41FA5}">
                      <a16:colId xmlns:a16="http://schemas.microsoft.com/office/drawing/2014/main" val="2500548794"/>
                    </a:ext>
                  </a:extLst>
                </a:gridCol>
                <a:gridCol w="1219200">
                  <a:extLst>
                    <a:ext uri="{9D8B030D-6E8A-4147-A177-3AD203B41FA5}">
                      <a16:colId xmlns:a16="http://schemas.microsoft.com/office/drawing/2014/main" val="80412565"/>
                    </a:ext>
                  </a:extLst>
                </a:gridCol>
                <a:gridCol w="1219200">
                  <a:extLst>
                    <a:ext uri="{9D8B030D-6E8A-4147-A177-3AD203B41FA5}">
                      <a16:colId xmlns:a16="http://schemas.microsoft.com/office/drawing/2014/main" val="1149189505"/>
                    </a:ext>
                  </a:extLst>
                </a:gridCol>
                <a:gridCol w="1219200">
                  <a:extLst>
                    <a:ext uri="{9D8B030D-6E8A-4147-A177-3AD203B41FA5}">
                      <a16:colId xmlns:a16="http://schemas.microsoft.com/office/drawing/2014/main" val="1403322334"/>
                    </a:ext>
                  </a:extLst>
                </a:gridCol>
                <a:gridCol w="1219200">
                  <a:extLst>
                    <a:ext uri="{9D8B030D-6E8A-4147-A177-3AD203B41FA5}">
                      <a16:colId xmlns:a16="http://schemas.microsoft.com/office/drawing/2014/main" val="2552871320"/>
                    </a:ext>
                  </a:extLst>
                </a:gridCol>
                <a:gridCol w="1219200">
                  <a:extLst>
                    <a:ext uri="{9D8B030D-6E8A-4147-A177-3AD203B41FA5}">
                      <a16:colId xmlns:a16="http://schemas.microsoft.com/office/drawing/2014/main" val="2859362436"/>
                    </a:ext>
                  </a:extLst>
                </a:gridCol>
              </a:tblGrid>
              <a:tr h="338140">
                <a:tc>
                  <a:txBody>
                    <a:bodyPr/>
                    <a:lstStyle/>
                    <a:p>
                      <a:pPr marL="0" marR="0" algn="just">
                        <a:lnSpc>
                          <a:spcPct val="107000"/>
                        </a:lnSpc>
                        <a:spcAft>
                          <a:spcPts val="800"/>
                        </a:spcAft>
                      </a:pPr>
                      <a:r>
                        <a:rPr lang="en-US" sz="900" kern="100">
                          <a:effectLst/>
                        </a:rPr>
                        <a:t>Attribute Name</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Contents</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Data Type</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Format</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Range</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Required</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PK or FK</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FK Reference</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Sample Data</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extLst>
                  <a:ext uri="{0D108BD9-81ED-4DB2-BD59-A6C34878D82A}">
                    <a16:rowId xmlns:a16="http://schemas.microsoft.com/office/drawing/2014/main" val="3148264695"/>
                  </a:ext>
                </a:extLst>
              </a:tr>
              <a:tr h="608544">
                <a:tc>
                  <a:txBody>
                    <a:bodyPr/>
                    <a:lstStyle/>
                    <a:p>
                      <a:pPr marL="0" marR="0" algn="just">
                        <a:lnSpc>
                          <a:spcPct val="107000"/>
                        </a:lnSpc>
                        <a:spcAft>
                          <a:spcPts val="800"/>
                        </a:spcAft>
                      </a:pPr>
                      <a:r>
                        <a:rPr lang="en-US" sz="900" kern="100">
                          <a:effectLst/>
                        </a:rPr>
                        <a:t>inventoryID</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Unique identifier for the inventory item</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INT</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N/A</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N/A</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Y</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PK</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N/A</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601</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extLst>
                  <a:ext uri="{0D108BD9-81ED-4DB2-BD59-A6C34878D82A}">
                    <a16:rowId xmlns:a16="http://schemas.microsoft.com/office/drawing/2014/main" val="3315361254"/>
                  </a:ext>
                </a:extLst>
              </a:tr>
              <a:tr h="608544">
                <a:tc>
                  <a:txBody>
                    <a:bodyPr/>
                    <a:lstStyle/>
                    <a:p>
                      <a:pPr marL="0" marR="0" algn="just">
                        <a:lnSpc>
                          <a:spcPct val="107000"/>
                        </a:lnSpc>
                        <a:spcAft>
                          <a:spcPts val="800"/>
                        </a:spcAft>
                      </a:pPr>
                      <a:r>
                        <a:rPr lang="en-US" sz="900" kern="100">
                          <a:effectLst/>
                        </a:rPr>
                        <a:t>itemName</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Name of the inventory item</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VARCHAR(100)</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Xxxxxxxxxxx</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N/A</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Y</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N/A</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N/A</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Napkins</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extLst>
                  <a:ext uri="{0D108BD9-81ED-4DB2-BD59-A6C34878D82A}">
                    <a16:rowId xmlns:a16="http://schemas.microsoft.com/office/drawing/2014/main" val="1011244159"/>
                  </a:ext>
                </a:extLst>
              </a:tr>
              <a:tr h="608544">
                <a:tc>
                  <a:txBody>
                    <a:bodyPr/>
                    <a:lstStyle/>
                    <a:p>
                      <a:pPr marL="0" marR="0" algn="just">
                        <a:lnSpc>
                          <a:spcPct val="107000"/>
                        </a:lnSpc>
                        <a:spcAft>
                          <a:spcPts val="800"/>
                        </a:spcAft>
                      </a:pPr>
                      <a:r>
                        <a:rPr lang="en-US" sz="900" kern="100">
                          <a:effectLst/>
                        </a:rPr>
                        <a:t>itemCategory</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Category of the inventory item</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VARCHAR(50)</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Xxxxxxxxxxx</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N/A</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Y</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N/A</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N/A</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Supplies</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extLst>
                  <a:ext uri="{0D108BD9-81ED-4DB2-BD59-A6C34878D82A}">
                    <a16:rowId xmlns:a16="http://schemas.microsoft.com/office/drawing/2014/main" val="228896056"/>
                  </a:ext>
                </a:extLst>
              </a:tr>
              <a:tr h="608544">
                <a:tc>
                  <a:txBody>
                    <a:bodyPr/>
                    <a:lstStyle/>
                    <a:p>
                      <a:pPr marL="0" marR="0" algn="just">
                        <a:lnSpc>
                          <a:spcPct val="107000"/>
                        </a:lnSpc>
                        <a:spcAft>
                          <a:spcPts val="800"/>
                        </a:spcAft>
                      </a:pPr>
                      <a:r>
                        <a:rPr lang="en-US" sz="900" kern="100">
                          <a:effectLst/>
                        </a:rPr>
                        <a:t>quantity</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Quantity of the inventory item</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INT</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N/A</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N/A</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Y</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N/A</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N/A</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1000</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extLst>
                  <a:ext uri="{0D108BD9-81ED-4DB2-BD59-A6C34878D82A}">
                    <a16:rowId xmlns:a16="http://schemas.microsoft.com/office/drawing/2014/main" val="216104056"/>
                  </a:ext>
                </a:extLst>
              </a:tr>
              <a:tr h="608544">
                <a:tc>
                  <a:txBody>
                    <a:bodyPr/>
                    <a:lstStyle/>
                    <a:p>
                      <a:pPr marL="0" marR="0" algn="just">
                        <a:lnSpc>
                          <a:spcPct val="107000"/>
                        </a:lnSpc>
                        <a:spcAft>
                          <a:spcPts val="800"/>
                        </a:spcAft>
                      </a:pPr>
                      <a:r>
                        <a:rPr lang="en-US" sz="900" kern="100">
                          <a:effectLst/>
                        </a:rPr>
                        <a:t>vendorID</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Vendor supplying the inventory item</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INT</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N/A</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N/A</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Y</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FK</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Vendor(vendorID)</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501</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extLst>
                  <a:ext uri="{0D108BD9-81ED-4DB2-BD59-A6C34878D82A}">
                    <a16:rowId xmlns:a16="http://schemas.microsoft.com/office/drawing/2014/main" val="1769602123"/>
                  </a:ext>
                </a:extLst>
              </a:tr>
              <a:tr h="608544">
                <a:tc>
                  <a:txBody>
                    <a:bodyPr/>
                    <a:lstStyle/>
                    <a:p>
                      <a:pPr marL="0" marR="0" algn="just">
                        <a:lnSpc>
                          <a:spcPct val="107000"/>
                        </a:lnSpc>
                        <a:spcAft>
                          <a:spcPts val="800"/>
                        </a:spcAft>
                      </a:pPr>
                      <a:r>
                        <a:rPr lang="en-US" sz="900" kern="100">
                          <a:effectLst/>
                        </a:rPr>
                        <a:t>eventID</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Event using the inventory item</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INT</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N/A</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N/A</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N</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FK</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Events(eventID)</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dirty="0">
                          <a:effectLst/>
                        </a:rPr>
                        <a:t>101</a:t>
                      </a:r>
                      <a:endParaRPr lang="en-US" sz="1100" kern="100" dirty="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extLst>
                  <a:ext uri="{0D108BD9-81ED-4DB2-BD59-A6C34878D82A}">
                    <a16:rowId xmlns:a16="http://schemas.microsoft.com/office/drawing/2014/main" val="1567309479"/>
                  </a:ext>
                </a:extLst>
              </a:tr>
            </a:tbl>
          </a:graphicData>
        </a:graphic>
      </p:graphicFrame>
    </p:spTree>
    <p:extLst>
      <p:ext uri="{BB962C8B-B14F-4D97-AF65-F5344CB8AC3E}">
        <p14:creationId xmlns:p14="http://schemas.microsoft.com/office/powerpoint/2010/main" val="109697610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45F038E-566E-2E49-BC8D-095BA84A0D33}"/>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C260022-4FC1-4A69-00FF-0641B6F1517E}"/>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E50B702-5A89-17CF-7A66-B86D66539383}"/>
              </a:ext>
            </a:extLst>
          </p:cNvPr>
          <p:cNvSpPr>
            <a:spLocks noGrp="1"/>
          </p:cNvSpPr>
          <p:nvPr>
            <p:ph type="title"/>
          </p:nvPr>
        </p:nvSpPr>
        <p:spPr>
          <a:xfrm>
            <a:off x="485188" y="634481"/>
            <a:ext cx="11151640" cy="597159"/>
          </a:xfrm>
        </p:spPr>
        <p:txBody>
          <a:bodyPr anchor="ctr">
            <a:noAutofit/>
          </a:bodyPr>
          <a:lstStyle/>
          <a:p>
            <a:r>
              <a:rPr lang="en-US" sz="4000" dirty="0">
                <a:gradFill flip="none" rotWithShape="1">
                  <a:gsLst>
                    <a:gs pos="0">
                      <a:schemeClr val="accent5">
                        <a:alpha val="70000"/>
                      </a:schemeClr>
                    </a:gs>
                    <a:gs pos="100000">
                      <a:schemeClr val="accent1">
                        <a:alpha val="70000"/>
                      </a:schemeClr>
                    </a:gs>
                  </a:gsLst>
                  <a:lin ang="0" scaled="1"/>
                  <a:tileRect/>
                </a:gradFill>
                <a:latin typeface="Times New Roman" panose="02020603050405020304" pitchFamily="18" charset="0"/>
                <a:cs typeface="Times New Roman" panose="02020603050405020304" pitchFamily="18" charset="0"/>
              </a:rPr>
              <a:t>Data Dictionary – </a:t>
            </a:r>
            <a:r>
              <a:rPr lang="en-US" sz="4000" dirty="0" err="1">
                <a:gradFill flip="none" rotWithShape="1">
                  <a:gsLst>
                    <a:gs pos="0">
                      <a:schemeClr val="accent5">
                        <a:alpha val="70000"/>
                      </a:schemeClr>
                    </a:gs>
                    <a:gs pos="100000">
                      <a:schemeClr val="accent1">
                        <a:alpha val="70000"/>
                      </a:schemeClr>
                    </a:gs>
                  </a:gsLst>
                  <a:lin ang="0" scaled="1"/>
                  <a:tileRect/>
                </a:gradFill>
                <a:latin typeface="Times New Roman" panose="02020603050405020304" pitchFamily="18" charset="0"/>
                <a:cs typeface="Times New Roman" panose="02020603050405020304" pitchFamily="18" charset="0"/>
              </a:rPr>
              <a:t>EmployeeEventAssignments</a:t>
            </a:r>
            <a:r>
              <a:rPr lang="en-US" sz="4000" b="1" dirty="0">
                <a:effectLst/>
                <a:latin typeface="Times New Roman" panose="02020603050405020304" pitchFamily="18" charset="0"/>
                <a:ea typeface="Aptos" panose="020B0004020202020204" pitchFamily="34" charset="0"/>
                <a:cs typeface="Times New Roman" panose="02020603050405020304" pitchFamily="18" charset="0"/>
              </a:rPr>
              <a:t> </a:t>
            </a:r>
            <a:r>
              <a:rPr lang="en-US" sz="4000" dirty="0">
                <a:gradFill flip="none" rotWithShape="1">
                  <a:gsLst>
                    <a:gs pos="0">
                      <a:schemeClr val="accent5">
                        <a:alpha val="70000"/>
                      </a:schemeClr>
                    </a:gs>
                    <a:gs pos="100000">
                      <a:schemeClr val="accent1">
                        <a:alpha val="70000"/>
                      </a:schemeClr>
                    </a:gs>
                  </a:gsLst>
                  <a:lin ang="0" scaled="1"/>
                  <a:tileRect/>
                </a:gradFill>
                <a:latin typeface="Times New Roman" panose="02020603050405020304" pitchFamily="18" charset="0"/>
                <a:cs typeface="Times New Roman" panose="02020603050405020304" pitchFamily="18" charset="0"/>
              </a:rPr>
              <a:t> Table</a:t>
            </a:r>
          </a:p>
        </p:txBody>
      </p:sp>
      <p:graphicFrame>
        <p:nvGraphicFramePr>
          <p:cNvPr id="3" name="Table 2">
            <a:extLst>
              <a:ext uri="{FF2B5EF4-FFF2-40B4-BE49-F238E27FC236}">
                <a16:creationId xmlns:a16="http://schemas.microsoft.com/office/drawing/2014/main" id="{4F69B278-1D0B-D9A5-7CBA-2910B5265AD1}"/>
              </a:ext>
            </a:extLst>
          </p:cNvPr>
          <p:cNvGraphicFramePr>
            <a:graphicFrameLocks noGrp="1"/>
          </p:cNvGraphicFramePr>
          <p:nvPr>
            <p:extLst>
              <p:ext uri="{D42A27DB-BD31-4B8C-83A1-F6EECF244321}">
                <p14:modId xmlns:p14="http://schemas.microsoft.com/office/powerpoint/2010/main" val="1740537234"/>
              </p:ext>
            </p:extLst>
          </p:nvPr>
        </p:nvGraphicFramePr>
        <p:xfrm>
          <a:off x="485188" y="1665512"/>
          <a:ext cx="10804851" cy="3718250"/>
        </p:xfrm>
        <a:graphic>
          <a:graphicData uri="http://schemas.openxmlformats.org/drawingml/2006/table">
            <a:tbl>
              <a:tblPr firstRow="1" firstCol="1" bandRow="1">
                <a:tableStyleId>{5C22544A-7EE6-4342-B048-85BDC9FD1C3A}</a:tableStyleId>
              </a:tblPr>
              <a:tblGrid>
                <a:gridCol w="1200539">
                  <a:extLst>
                    <a:ext uri="{9D8B030D-6E8A-4147-A177-3AD203B41FA5}">
                      <a16:colId xmlns:a16="http://schemas.microsoft.com/office/drawing/2014/main" val="2868110035"/>
                    </a:ext>
                  </a:extLst>
                </a:gridCol>
                <a:gridCol w="1200539">
                  <a:extLst>
                    <a:ext uri="{9D8B030D-6E8A-4147-A177-3AD203B41FA5}">
                      <a16:colId xmlns:a16="http://schemas.microsoft.com/office/drawing/2014/main" val="2205838727"/>
                    </a:ext>
                  </a:extLst>
                </a:gridCol>
                <a:gridCol w="1200539">
                  <a:extLst>
                    <a:ext uri="{9D8B030D-6E8A-4147-A177-3AD203B41FA5}">
                      <a16:colId xmlns:a16="http://schemas.microsoft.com/office/drawing/2014/main" val="717543908"/>
                    </a:ext>
                  </a:extLst>
                </a:gridCol>
                <a:gridCol w="1200539">
                  <a:extLst>
                    <a:ext uri="{9D8B030D-6E8A-4147-A177-3AD203B41FA5}">
                      <a16:colId xmlns:a16="http://schemas.microsoft.com/office/drawing/2014/main" val="1664647832"/>
                    </a:ext>
                  </a:extLst>
                </a:gridCol>
                <a:gridCol w="1200539">
                  <a:extLst>
                    <a:ext uri="{9D8B030D-6E8A-4147-A177-3AD203B41FA5}">
                      <a16:colId xmlns:a16="http://schemas.microsoft.com/office/drawing/2014/main" val="3926061790"/>
                    </a:ext>
                  </a:extLst>
                </a:gridCol>
                <a:gridCol w="1200539">
                  <a:extLst>
                    <a:ext uri="{9D8B030D-6E8A-4147-A177-3AD203B41FA5}">
                      <a16:colId xmlns:a16="http://schemas.microsoft.com/office/drawing/2014/main" val="2871599631"/>
                    </a:ext>
                  </a:extLst>
                </a:gridCol>
                <a:gridCol w="1200539">
                  <a:extLst>
                    <a:ext uri="{9D8B030D-6E8A-4147-A177-3AD203B41FA5}">
                      <a16:colId xmlns:a16="http://schemas.microsoft.com/office/drawing/2014/main" val="2021121393"/>
                    </a:ext>
                  </a:extLst>
                </a:gridCol>
                <a:gridCol w="1200539">
                  <a:extLst>
                    <a:ext uri="{9D8B030D-6E8A-4147-A177-3AD203B41FA5}">
                      <a16:colId xmlns:a16="http://schemas.microsoft.com/office/drawing/2014/main" val="3246489212"/>
                    </a:ext>
                  </a:extLst>
                </a:gridCol>
                <a:gridCol w="1200539">
                  <a:extLst>
                    <a:ext uri="{9D8B030D-6E8A-4147-A177-3AD203B41FA5}">
                      <a16:colId xmlns:a16="http://schemas.microsoft.com/office/drawing/2014/main" val="2927022023"/>
                    </a:ext>
                  </a:extLst>
                </a:gridCol>
              </a:tblGrid>
              <a:tr h="428950">
                <a:tc>
                  <a:txBody>
                    <a:bodyPr/>
                    <a:lstStyle/>
                    <a:p>
                      <a:pPr marL="0" marR="0" algn="just">
                        <a:lnSpc>
                          <a:spcPct val="107000"/>
                        </a:lnSpc>
                        <a:spcAft>
                          <a:spcPts val="800"/>
                        </a:spcAft>
                      </a:pPr>
                      <a:r>
                        <a:rPr lang="en-US" sz="900" kern="100">
                          <a:effectLst/>
                        </a:rPr>
                        <a:t>Attribute Name</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dirty="0">
                          <a:effectLst/>
                        </a:rPr>
                        <a:t>Contents</a:t>
                      </a:r>
                      <a:endParaRPr lang="en-US" sz="1100" kern="100" dirty="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Data Type</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Format</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Range</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Required</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PK or FK</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FK Reference</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Sample Data</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extLst>
                  <a:ext uri="{0D108BD9-81ED-4DB2-BD59-A6C34878D82A}">
                    <a16:rowId xmlns:a16="http://schemas.microsoft.com/office/drawing/2014/main" val="2191181947"/>
                  </a:ext>
                </a:extLst>
              </a:tr>
              <a:tr h="822325">
                <a:tc>
                  <a:txBody>
                    <a:bodyPr/>
                    <a:lstStyle/>
                    <a:p>
                      <a:pPr marL="0" marR="0" algn="just">
                        <a:lnSpc>
                          <a:spcPct val="107000"/>
                        </a:lnSpc>
                        <a:spcAft>
                          <a:spcPts val="800"/>
                        </a:spcAft>
                      </a:pPr>
                      <a:r>
                        <a:rPr lang="en-US" sz="900" kern="100">
                          <a:effectLst/>
                        </a:rPr>
                        <a:t>assignmentID</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Unique identifier for the assignment</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INT</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N/A</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N/A</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Y</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PK</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N/A</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dirty="0">
                          <a:effectLst/>
                        </a:rPr>
                        <a:t>701</a:t>
                      </a:r>
                      <a:endParaRPr lang="en-US" sz="1100" kern="100" dirty="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extLst>
                  <a:ext uri="{0D108BD9-81ED-4DB2-BD59-A6C34878D82A}">
                    <a16:rowId xmlns:a16="http://schemas.microsoft.com/office/drawing/2014/main" val="2644906403"/>
                  </a:ext>
                </a:extLst>
              </a:tr>
              <a:tr h="822325">
                <a:tc>
                  <a:txBody>
                    <a:bodyPr/>
                    <a:lstStyle/>
                    <a:p>
                      <a:pPr marL="0" marR="0" algn="just">
                        <a:lnSpc>
                          <a:spcPct val="107000"/>
                        </a:lnSpc>
                        <a:spcAft>
                          <a:spcPts val="800"/>
                        </a:spcAft>
                      </a:pPr>
                      <a:r>
                        <a:rPr lang="en-US" sz="900" kern="100">
                          <a:effectLst/>
                        </a:rPr>
                        <a:t>employeeID</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Employee assigned to the event</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INT</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dirty="0">
                          <a:effectLst/>
                        </a:rPr>
                        <a:t>N/A</a:t>
                      </a:r>
                      <a:endParaRPr lang="en-US" sz="1100" kern="100" dirty="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N/A</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Y</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FK</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Employee(employeeID)</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2001</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extLst>
                  <a:ext uri="{0D108BD9-81ED-4DB2-BD59-A6C34878D82A}">
                    <a16:rowId xmlns:a16="http://schemas.microsoft.com/office/drawing/2014/main" val="3940338359"/>
                  </a:ext>
                </a:extLst>
              </a:tr>
              <a:tr h="822325">
                <a:tc>
                  <a:txBody>
                    <a:bodyPr/>
                    <a:lstStyle/>
                    <a:p>
                      <a:pPr marL="0" marR="0" algn="just">
                        <a:lnSpc>
                          <a:spcPct val="107000"/>
                        </a:lnSpc>
                        <a:spcAft>
                          <a:spcPts val="800"/>
                        </a:spcAft>
                      </a:pPr>
                      <a:r>
                        <a:rPr lang="en-US" sz="900" kern="100">
                          <a:effectLst/>
                        </a:rPr>
                        <a:t>eventID</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Event to which the employee is assigned</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INT</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N/A</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N/A</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Y</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FK</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Events(eventID)</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101</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extLst>
                  <a:ext uri="{0D108BD9-81ED-4DB2-BD59-A6C34878D82A}">
                    <a16:rowId xmlns:a16="http://schemas.microsoft.com/office/drawing/2014/main" val="2189825401"/>
                  </a:ext>
                </a:extLst>
              </a:tr>
              <a:tr h="822325">
                <a:tc>
                  <a:txBody>
                    <a:bodyPr/>
                    <a:lstStyle/>
                    <a:p>
                      <a:pPr marL="0" marR="0" algn="just">
                        <a:lnSpc>
                          <a:spcPct val="107000"/>
                        </a:lnSpc>
                        <a:spcAft>
                          <a:spcPts val="800"/>
                        </a:spcAft>
                      </a:pPr>
                      <a:r>
                        <a:rPr lang="en-US" sz="900" kern="100">
                          <a:effectLst/>
                        </a:rPr>
                        <a:t>taskDescription</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Description of the assigned task</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VARCHAR(100)</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Xxxxxxxxxxx</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N/A</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N</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N/A</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a:effectLst/>
                        </a:rPr>
                        <a:t>N/A</a:t>
                      </a:r>
                      <a:endParaRPr lang="en-US" sz="1100" kern="10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tc>
                  <a:txBody>
                    <a:bodyPr/>
                    <a:lstStyle/>
                    <a:p>
                      <a:pPr marL="0" marR="0" algn="just">
                        <a:lnSpc>
                          <a:spcPct val="107000"/>
                        </a:lnSpc>
                        <a:spcAft>
                          <a:spcPts val="800"/>
                        </a:spcAft>
                      </a:pPr>
                      <a:r>
                        <a:rPr lang="en-US" sz="900" kern="100" dirty="0">
                          <a:effectLst/>
                        </a:rPr>
                        <a:t>Setup Venue</a:t>
                      </a:r>
                      <a:endParaRPr lang="en-US" sz="1100" kern="100" dirty="0">
                        <a:effectLst/>
                        <a:latin typeface="Aptos" panose="020B0004020202020204" pitchFamily="34" charset="0"/>
                        <a:ea typeface="Aptos" panose="020B0004020202020204" pitchFamily="34" charset="0"/>
                        <a:cs typeface="Gautami" panose="020B0502040204020203" pitchFamily="34" charset="0"/>
                      </a:endParaRPr>
                    </a:p>
                  </a:txBody>
                  <a:tcPr marL="9525" marR="9525" marT="9525" marB="9525" anchor="ctr"/>
                </a:tc>
                <a:extLst>
                  <a:ext uri="{0D108BD9-81ED-4DB2-BD59-A6C34878D82A}">
                    <a16:rowId xmlns:a16="http://schemas.microsoft.com/office/drawing/2014/main" val="3786259695"/>
                  </a:ext>
                </a:extLst>
              </a:tr>
            </a:tbl>
          </a:graphicData>
        </a:graphic>
      </p:graphicFrame>
    </p:spTree>
    <p:extLst>
      <p:ext uri="{BB962C8B-B14F-4D97-AF65-F5344CB8AC3E}">
        <p14:creationId xmlns:p14="http://schemas.microsoft.com/office/powerpoint/2010/main" val="35894347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84988" y="681037"/>
            <a:ext cx="10168812" cy="1325563"/>
          </a:xfrm>
        </p:spPr>
        <p:txBody>
          <a:bodyPr>
            <a:normAutofit/>
          </a:bodyPr>
          <a:lstStyle/>
          <a:p>
            <a:r>
              <a:rPr lang="en-IN" sz="4000" dirty="0" smtClean="0">
                <a:latin typeface="Times New Roman" panose="02020603050405020304" pitchFamily="18" charset="0"/>
                <a:cs typeface="Times New Roman" panose="02020603050405020304" pitchFamily="18" charset="0"/>
              </a:rPr>
              <a:t>5 Queries:</a:t>
            </a:r>
            <a:endParaRPr lang="en-IN" sz="40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r>
              <a:rPr lang="en-IN" sz="2000" dirty="0" smtClean="0">
                <a:latin typeface="Times New Roman" panose="02020603050405020304" pitchFamily="18" charset="0"/>
                <a:cs typeface="Times New Roman" panose="02020603050405020304" pitchFamily="18" charset="0"/>
              </a:rPr>
              <a:t>1. C</a:t>
            </a:r>
            <a:r>
              <a:rPr lang="en-US" sz="2000" dirty="0" err="1" smtClean="0">
                <a:latin typeface="Times New Roman" panose="02020603050405020304" pitchFamily="18" charset="0"/>
                <a:cs typeface="Times New Roman" panose="02020603050405020304" pitchFamily="18" charset="0"/>
              </a:rPr>
              <a:t>alculate</a:t>
            </a:r>
            <a:r>
              <a:rPr lang="en-US" sz="2000" dirty="0" smtClean="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total salary paid by employment type for December </a:t>
            </a:r>
            <a:r>
              <a:rPr lang="en-US" sz="2000" dirty="0" smtClean="0">
                <a:latin typeface="Times New Roman" panose="02020603050405020304" pitchFamily="18" charset="0"/>
                <a:cs typeface="Times New Roman" panose="02020603050405020304" pitchFamily="18" charset="0"/>
              </a:rPr>
              <a:t>2024.</a:t>
            </a:r>
            <a:endParaRPr lang="en-US" sz="2000" dirty="0">
              <a:latin typeface="Times New Roman" panose="02020603050405020304" pitchFamily="18" charset="0"/>
              <a:cs typeface="Times New Roman" panose="02020603050405020304" pitchFamily="18" charset="0"/>
            </a:endParaRPr>
          </a:p>
          <a:p>
            <a:r>
              <a:rPr lang="en-US" sz="2000" dirty="0" smtClean="0">
                <a:latin typeface="Times New Roman" panose="02020603050405020304" pitchFamily="18" charset="0"/>
                <a:cs typeface="Times New Roman" panose="02020603050405020304" pitchFamily="18" charset="0"/>
              </a:rPr>
              <a:t>2. To count </a:t>
            </a:r>
            <a:r>
              <a:rPr lang="en-US" sz="2000" dirty="0">
                <a:latin typeface="Times New Roman" panose="02020603050405020304" pitchFamily="18" charset="0"/>
                <a:cs typeface="Times New Roman" panose="02020603050405020304" pitchFamily="18" charset="0"/>
              </a:rPr>
              <a:t>the number of events hosted at each location and orders the results by the total number of events in descending </a:t>
            </a:r>
            <a:r>
              <a:rPr lang="en-US" sz="2000" dirty="0" smtClean="0">
                <a:latin typeface="Times New Roman" panose="02020603050405020304" pitchFamily="18" charset="0"/>
                <a:cs typeface="Times New Roman" panose="02020603050405020304" pitchFamily="18" charset="0"/>
              </a:rPr>
              <a:t>order.</a:t>
            </a:r>
          </a:p>
          <a:p>
            <a:r>
              <a:rPr lang="en-US" sz="2000" dirty="0" smtClean="0">
                <a:latin typeface="Times New Roman" panose="02020603050405020304" pitchFamily="18" charset="0"/>
                <a:cs typeface="Times New Roman" panose="02020603050405020304" pitchFamily="18" charset="0"/>
              </a:rPr>
              <a:t>3.</a:t>
            </a:r>
            <a:r>
              <a:rPr lang="en-US"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T</a:t>
            </a:r>
            <a:r>
              <a:rPr lang="en-US" sz="2000" dirty="0" smtClean="0">
                <a:latin typeface="Times New Roman" panose="02020603050405020304" pitchFamily="18" charset="0"/>
                <a:cs typeface="Times New Roman" panose="02020603050405020304" pitchFamily="18" charset="0"/>
              </a:rPr>
              <a:t>op </a:t>
            </a:r>
            <a:r>
              <a:rPr lang="en-US" sz="2000" dirty="0">
                <a:latin typeface="Times New Roman" panose="02020603050405020304" pitchFamily="18" charset="0"/>
                <a:cs typeface="Times New Roman" panose="02020603050405020304" pitchFamily="18" charset="0"/>
              </a:rPr>
              <a:t>5 employees who have the highest number of event assignments and lists their first name, last name, and total number of assignments</a:t>
            </a:r>
            <a:r>
              <a:rPr lang="en-US" sz="2000" dirty="0" smtClean="0">
                <a:latin typeface="Times New Roman" panose="02020603050405020304" pitchFamily="18" charset="0"/>
                <a:cs typeface="Times New Roman" panose="02020603050405020304" pitchFamily="18" charset="0"/>
              </a:rPr>
              <a:t>.</a:t>
            </a:r>
          </a:p>
          <a:p>
            <a:r>
              <a:rPr lang="en-US" sz="2000" dirty="0" smtClean="0">
                <a:latin typeface="Times New Roman" panose="02020603050405020304" pitchFamily="18" charset="0"/>
                <a:cs typeface="Times New Roman" panose="02020603050405020304" pitchFamily="18" charset="0"/>
              </a:rPr>
              <a:t>4. </a:t>
            </a:r>
            <a:r>
              <a:rPr lang="en-US" sz="2000" dirty="0">
                <a:latin typeface="Times New Roman" panose="02020603050405020304" pitchFamily="18" charset="0"/>
                <a:cs typeface="Times New Roman" panose="02020603050405020304" pitchFamily="18" charset="0"/>
              </a:rPr>
              <a:t>T</a:t>
            </a:r>
            <a:r>
              <a:rPr lang="en-US" sz="2000" dirty="0" smtClean="0">
                <a:latin typeface="Times New Roman" panose="02020603050405020304" pitchFamily="18" charset="0"/>
                <a:cs typeface="Times New Roman" panose="02020603050405020304" pitchFamily="18" charset="0"/>
              </a:rPr>
              <a:t>otal </a:t>
            </a:r>
            <a:r>
              <a:rPr lang="en-US" sz="2000" dirty="0">
                <a:latin typeface="Times New Roman" panose="02020603050405020304" pitchFamily="18" charset="0"/>
                <a:cs typeface="Times New Roman" panose="02020603050405020304" pitchFamily="18" charset="0"/>
              </a:rPr>
              <a:t>number of coupons issued to each employee and how many of those coupons have been </a:t>
            </a:r>
            <a:r>
              <a:rPr lang="en-US" sz="2000" dirty="0" smtClean="0">
                <a:latin typeface="Times New Roman" panose="02020603050405020304" pitchFamily="18" charset="0"/>
                <a:cs typeface="Times New Roman" panose="02020603050405020304" pitchFamily="18" charset="0"/>
              </a:rPr>
              <a:t>redeemed.</a:t>
            </a:r>
          </a:p>
          <a:p>
            <a:r>
              <a:rPr lang="en-US" sz="2000" dirty="0" smtClean="0">
                <a:latin typeface="Times New Roman" panose="02020603050405020304" pitchFamily="18" charset="0"/>
                <a:cs typeface="Times New Roman" panose="02020603050405020304" pitchFamily="18" charset="0"/>
              </a:rPr>
              <a:t>5.</a:t>
            </a:r>
            <a:r>
              <a:rPr lang="en-US"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F</a:t>
            </a:r>
            <a:r>
              <a:rPr lang="en-US" sz="2000" dirty="0" smtClean="0">
                <a:latin typeface="Times New Roman" panose="02020603050405020304" pitchFamily="18" charset="0"/>
                <a:cs typeface="Times New Roman" panose="02020603050405020304" pitchFamily="18" charset="0"/>
              </a:rPr>
              <a:t>irst </a:t>
            </a:r>
            <a:r>
              <a:rPr lang="en-US" sz="2000" dirty="0">
                <a:latin typeface="Times New Roman" panose="02020603050405020304" pitchFamily="18" charset="0"/>
                <a:cs typeface="Times New Roman" panose="02020603050405020304" pitchFamily="18" charset="0"/>
              </a:rPr>
              <a:t>name and last name of employees who are assigned to events taking place at the location with the maximum capacity.</a:t>
            </a:r>
          </a:p>
          <a:p>
            <a:endParaRPr lang="en-US" sz="2000" dirty="0"/>
          </a:p>
          <a:p>
            <a:endParaRPr lang="en-US" sz="2000" dirty="0"/>
          </a:p>
          <a:p>
            <a:endParaRPr lang="en-US" sz="2000" dirty="0"/>
          </a:p>
          <a:p>
            <a:endParaRPr lang="en-US" sz="2000" dirty="0"/>
          </a:p>
          <a:p>
            <a:endParaRPr lang="en-IN" dirty="0"/>
          </a:p>
        </p:txBody>
      </p:sp>
    </p:spTree>
    <p:extLst>
      <p:ext uri="{BB962C8B-B14F-4D97-AF65-F5344CB8AC3E}">
        <p14:creationId xmlns:p14="http://schemas.microsoft.com/office/powerpoint/2010/main" val="299488877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670179"/>
            <a:ext cx="10515600" cy="2883159"/>
          </a:xfrm>
        </p:spPr>
        <p:txBody>
          <a:bodyPr>
            <a:normAutofit/>
          </a:bodyPr>
          <a:lstStyle/>
          <a:p>
            <a:r>
              <a:rPr lang="en-IN" dirty="0" smtClean="0"/>
              <a:t>                  </a:t>
            </a:r>
            <a:r>
              <a:rPr lang="en-IN" dirty="0" smtClean="0">
                <a:latin typeface="Times New Roman" panose="02020603050405020304" pitchFamily="18" charset="0"/>
                <a:cs typeface="Times New Roman" panose="02020603050405020304" pitchFamily="18" charset="0"/>
              </a:rPr>
              <a:t>Thankyou!!</a:t>
            </a:r>
            <a:br>
              <a:rPr lang="en-IN" dirty="0" smtClean="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a:r>
            <a:br>
              <a:rPr lang="en-IN" dirty="0">
                <a:latin typeface="Times New Roman" panose="02020603050405020304" pitchFamily="18" charset="0"/>
                <a:cs typeface="Times New Roman" panose="02020603050405020304" pitchFamily="18" charset="0"/>
              </a:rPr>
            </a:br>
            <a:r>
              <a:rPr lang="en-IN" dirty="0" smtClean="0">
                <a:latin typeface="Times New Roman" panose="02020603050405020304" pitchFamily="18" charset="0"/>
                <a:cs typeface="Times New Roman" panose="02020603050405020304" pitchFamily="18" charset="0"/>
              </a:rPr>
              <a:t>                 Any Queries?</a:t>
            </a:r>
            <a:endParaRPr lang="en-IN"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r>
              <a:rPr lang="en-IN" dirty="0" smtClean="0"/>
              <a:t>                                </a:t>
            </a:r>
          </a:p>
          <a:p>
            <a:r>
              <a:rPr lang="en-IN" sz="3600" dirty="0"/>
              <a:t> </a:t>
            </a:r>
            <a:r>
              <a:rPr lang="en-IN" sz="3600" dirty="0" smtClean="0"/>
              <a:t>                  </a:t>
            </a:r>
            <a:endParaRPr lang="en-IN" sz="3600" dirty="0"/>
          </a:p>
        </p:txBody>
      </p:sp>
    </p:spTree>
    <p:extLst>
      <p:ext uri="{BB962C8B-B14F-4D97-AF65-F5344CB8AC3E}">
        <p14:creationId xmlns:p14="http://schemas.microsoft.com/office/powerpoint/2010/main" val="2065159722"/>
      </p:ext>
    </p:extLst>
  </p:cSld>
  <p:clrMapOvr>
    <a:masterClrMapping/>
  </p:clrMapOvr>
</p:sld>
</file>

<file path=ppt/theme/theme1.xml><?xml version="1.0" encoding="utf-8"?>
<a:theme xmlns:a="http://schemas.openxmlformats.org/drawingml/2006/main" name="LuminousVTI">
  <a:themeElements>
    <a:clrScheme name="AnalogousFromDarkSeedLeftStep">
      <a:dk1>
        <a:srgbClr val="000000"/>
      </a:dk1>
      <a:lt1>
        <a:srgbClr val="FFFFFF"/>
      </a:lt1>
      <a:dk2>
        <a:srgbClr val="1C2432"/>
      </a:dk2>
      <a:lt2>
        <a:srgbClr val="F2F3F0"/>
      </a:lt2>
      <a:accent1>
        <a:srgbClr val="844BC5"/>
      </a:accent1>
      <a:accent2>
        <a:srgbClr val="4842B7"/>
      </a:accent2>
      <a:accent3>
        <a:srgbClr val="4B78C5"/>
      </a:accent3>
      <a:accent4>
        <a:srgbClr val="3999B3"/>
      </a:accent4>
      <a:accent5>
        <a:srgbClr val="49C0A8"/>
      </a:accent5>
      <a:accent6>
        <a:srgbClr val="39B368"/>
      </a:accent6>
      <a:hlink>
        <a:srgbClr val="339A97"/>
      </a:hlink>
      <a:folHlink>
        <a:srgbClr val="7F7F7F"/>
      </a:folHlink>
    </a:clrScheme>
    <a:fontScheme name="Custom 51">
      <a:majorFont>
        <a:latin typeface="Sabon Next LT"/>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LuminousVTI" id="{3EBF12FF-FD44-415B-AB75-5B4F7E5C3AC4}" vid="{521B7FAE-6A8D-4468-B79A-0706294A0D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21897309-62c5-4773-b0bd-6b8004578407"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F5FF61E81C7A404A8DDB522F33292D49" ma:contentTypeVersion="6" ma:contentTypeDescription="Create a new document." ma:contentTypeScope="" ma:versionID="d2130c8abd67f994a3067b980cfa7d41">
  <xsd:schema xmlns:xsd="http://www.w3.org/2001/XMLSchema" xmlns:xs="http://www.w3.org/2001/XMLSchema" xmlns:p="http://schemas.microsoft.com/office/2006/metadata/properties" xmlns:ns3="21897309-62c5-4773-b0bd-6b8004578407" targetNamespace="http://schemas.microsoft.com/office/2006/metadata/properties" ma:root="true" ma:fieldsID="839a7b6ab1ce3b63ce3e357bf0d53b57" ns3:_="">
    <xsd:import namespace="21897309-62c5-4773-b0bd-6b8004578407"/>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MediaServiceObjectDetectorVersions"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1897309-62c5-4773-b0bd-6b8004578407"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_activity" ma:index="13" nillable="true" ma:displayName="_activity" ma:hidden="true" ma:internalName="_activity">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4B893BC-05F4-4A3F-A92B-465EE7D2BB89}">
  <ds:schemaRefs>
    <ds:schemaRef ds:uri="http://schemas.openxmlformats.org/package/2006/metadata/core-properties"/>
    <ds:schemaRef ds:uri="http://www.w3.org/XML/1998/namespace"/>
    <ds:schemaRef ds:uri="http://schemas.microsoft.com/office/2006/documentManagement/types"/>
    <ds:schemaRef ds:uri="http://purl.org/dc/terms/"/>
    <ds:schemaRef ds:uri="21897309-62c5-4773-b0bd-6b8004578407"/>
    <ds:schemaRef ds:uri="http://purl.org/dc/elements/1.1/"/>
    <ds:schemaRef ds:uri="http://schemas.microsoft.com/office/infopath/2007/PartnerControls"/>
    <ds:schemaRef ds:uri="http://schemas.microsoft.com/office/2006/metadata/properties"/>
    <ds:schemaRef ds:uri="http://purl.org/dc/dcmitype/"/>
  </ds:schemaRefs>
</ds:datastoreItem>
</file>

<file path=customXml/itemProps2.xml><?xml version="1.0" encoding="utf-8"?>
<ds:datastoreItem xmlns:ds="http://schemas.openxmlformats.org/officeDocument/2006/customXml" ds:itemID="{BACB8378-9362-43F9-AEE3-4E641BB92E04}">
  <ds:schemaRefs>
    <ds:schemaRef ds:uri="http://schemas.microsoft.com/sharepoint/v3/contenttype/forms"/>
  </ds:schemaRefs>
</ds:datastoreItem>
</file>

<file path=customXml/itemProps3.xml><?xml version="1.0" encoding="utf-8"?>
<ds:datastoreItem xmlns:ds="http://schemas.openxmlformats.org/officeDocument/2006/customXml" ds:itemID="{A9F653B5-DB4D-44CF-B342-213743D44B3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1897309-62c5-4773-b0bd-6b800457840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37f4b8a2-ad4f-41b5-9a91-284d2cc38f56}" enabled="1" method="Standard" siteId="{70de1992-07c6-480f-a318-a1afcba03983}" removed="0"/>
</clbl:labelList>
</file>

<file path=docProps/app.xml><?xml version="1.0" encoding="utf-8"?>
<Properties xmlns="http://schemas.openxmlformats.org/officeDocument/2006/extended-properties" xmlns:vt="http://schemas.openxmlformats.org/officeDocument/2006/docPropsVTypes">
  <Template>TM04033925[[fn=Droplet]]</Template>
  <TotalTime>3039</TotalTime>
  <Words>1926</Words>
  <Application>Microsoft Office PowerPoint</Application>
  <PresentationFormat>Widescreen</PresentationFormat>
  <Paragraphs>781</Paragraphs>
  <Slides>19</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19</vt:i4>
      </vt:variant>
    </vt:vector>
  </HeadingPairs>
  <TitlesOfParts>
    <vt:vector size="28" baseType="lpstr">
      <vt:lpstr>Angsana New</vt:lpstr>
      <vt:lpstr>Aptos</vt:lpstr>
      <vt:lpstr>Arial</vt:lpstr>
      <vt:lpstr>Avenir Next LT Pro</vt:lpstr>
      <vt:lpstr>Gautami</vt:lpstr>
      <vt:lpstr>Sabon Next LT</vt:lpstr>
      <vt:lpstr>Times New Roman</vt:lpstr>
      <vt:lpstr>Wingdings</vt:lpstr>
      <vt:lpstr>LuminousVTI</vt:lpstr>
      <vt:lpstr>        Catering Services Database   INFO 5707: Data Modelling for Information Professionals                             Team Members Names - Group 12 Naga Moulika Vema (Team Coordinator) Moulya Reddygari Bhupal Venkata Naga Triveni Bottu Tejaswi Gummadi Sushmitha Gangadari </vt:lpstr>
      <vt:lpstr>Contributions of teammates:</vt:lpstr>
      <vt:lpstr>Objective</vt:lpstr>
      <vt:lpstr>Scope</vt:lpstr>
      <vt:lpstr>Key Functionalities</vt:lpstr>
      <vt:lpstr>User Requirements</vt:lpstr>
      <vt:lpstr>Business Rules</vt:lpstr>
      <vt:lpstr>ERD</vt:lpstr>
      <vt:lpstr>Data Dictionary – Employee Table</vt:lpstr>
      <vt:lpstr>Data Dictionary – Role Table</vt:lpstr>
      <vt:lpstr>Data Dictionary – Events Table</vt:lpstr>
      <vt:lpstr>Data Dictionary – Location Table</vt:lpstr>
      <vt:lpstr>Data Dictionary – Coupons Table</vt:lpstr>
      <vt:lpstr>Data Dictionary – Salaries Table</vt:lpstr>
      <vt:lpstr>Data Dictionary – Vendor Table</vt:lpstr>
      <vt:lpstr>Data Dictionary – Inventory Table</vt:lpstr>
      <vt:lpstr>Data Dictionary – EmployeeEventAssignments  Table</vt:lpstr>
      <vt:lpstr>5 Queries:</vt:lpstr>
      <vt:lpstr>                  Thankyou!!                   Any Queries?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Team Members Names - Group 12  Naga Moulika Vema Moulya Reddygari Bhupal Venkata Naga Triveni Bottu Tejaswi Gummadi Sushmitha Gangadari </dc:title>
  <dc:creator>Vema, Naga Moulika</dc:creator>
  <cp:lastModifiedBy>Reddygari Bhupal, Moulya</cp:lastModifiedBy>
  <cp:revision>31</cp:revision>
  <dcterms:created xsi:type="dcterms:W3CDTF">2024-12-01T08:14:08Z</dcterms:created>
  <dcterms:modified xsi:type="dcterms:W3CDTF">2024-12-03T21:42:57Z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0x010100F5FF61E81C7A404A8DDB522F33292D49</vt:lpwstr>
  </property>
</Properties>
</file>